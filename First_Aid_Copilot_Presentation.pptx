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4"/>
  </p:sldMasterIdLst>
  <p:notesMasterIdLst>
    <p:notesMasterId r:id="rId21"/>
  </p:notesMasterIdLst>
  <p:sldIdLst>
    <p:sldId id="257" r:id="rId5"/>
    <p:sldId id="258" r:id="rId6"/>
    <p:sldId id="259" r:id="rId7"/>
    <p:sldId id="260" r:id="rId8"/>
    <p:sldId id="261" r:id="rId9"/>
    <p:sldId id="262" r:id="rId10"/>
    <p:sldId id="263" r:id="rId11"/>
    <p:sldId id="264" r:id="rId12"/>
    <p:sldId id="265" r:id="rId13"/>
    <p:sldId id="274" r:id="rId14"/>
    <p:sldId id="267" r:id="rId15"/>
    <p:sldId id="269" r:id="rId16"/>
    <p:sldId id="275"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09-20T03:33:20.507"/>
    <p1510:client id="{25A19CC5-87D2-37FB-13B6-5EEAF6126D2D}" v="10" dt="2026-09-20T01:50:05.753"/>
    <p1510:client id="{284496B5-7FCB-E91F-CB35-CE556755EF25}" v="4" dt="2026-09-19T16:50:52.955"/>
    <p1510:client id="{756064E6-B4FD-B8EF-DD3B-9700B0DA960E}" v="2" dt="2026-09-20T03:38:52.517"/>
    <p1510:client id="{9B9CE1EC-54F9-414E-A407-69A62D73F7A1}" v="320" dt="2026-09-20T02:37:06.692"/>
    <p1510:client id="{BAED56F3-2AF2-9E45-BC49-BFF47C231306}" v="261" dt="2026-09-20T06:17:46.9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797"/>
    <p:restoredTop sz="96498"/>
  </p:normalViewPr>
  <p:slideViewPr>
    <p:cSldViewPr snapToGrid="0">
      <p:cViewPr varScale="1">
        <p:scale>
          <a:sx n="130" d="100"/>
          <a:sy n="130" d="100"/>
        </p:scale>
        <p:origin x="4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050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dirty="0">
                <a:ea typeface="新細明體"/>
              </a:rPr>
              <a:t>Hello, we’re presenting First Aid Copilot.</a:t>
            </a:r>
            <a:br>
              <a:rPr lang="zh-TW" altLang="zh-TW" dirty="0">
                <a:ea typeface="新細明體"/>
              </a:rPr>
            </a:br>
            <a:r>
              <a:rPr lang="zh-TW" altLang="zh-TW" dirty="0">
                <a:ea typeface="新細明體"/>
              </a:rPr>
              <a:t>It helps bystanders coordinate emergency tasks and prepare information for EMS. </a:t>
            </a:r>
            <a:endParaRPr lang="en-US" altLang="zh-TW" dirty="0">
              <a:ea typeface="新細明體"/>
            </a:endParaRPr>
          </a:p>
          <a:p>
            <a:r>
              <a:rPr lang="zh-TW" altLang="zh-TW" dirty="0">
                <a:ea typeface="新細明體"/>
              </a:rPr>
              <a:t>The 119 dispatcher’s instructions take priority, while our Agent provides support.</a:t>
            </a:r>
            <a:endParaRPr lang="zh-TW" dirty="0">
              <a:ea typeface="新細明體"/>
            </a:endParaRPr>
          </a:p>
          <a:p>
            <a:r>
              <a:rPr lang="zh-TW" altLang="zh-TW" dirty="0">
                <a:ea typeface="新細明體"/>
              </a:rPr>
              <a:t>Let’s start with the problem at the scene.</a:t>
            </a:r>
            <a:endParaRPr lang="zh-TW" dirty="0">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At an emergency scene, someone calls for help, someone retrieves an AED, and someone meets the ambulance. </a:t>
            </a:r>
            <a:endParaRPr lang="en-US" altLang="zh-TW">
              <a:ea typeface="新細明體"/>
            </a:endParaRPr>
          </a:p>
          <a:p>
            <a:r>
              <a:rPr lang="zh-TW" altLang="zh-TW">
                <a:ea typeface="新細明體"/>
              </a:rPr>
              <a:t>But they may not know each other’s progress.</a:t>
            </a:r>
            <a:endParaRPr lang="zh-TW">
              <a:ea typeface="新細明體"/>
            </a:endParaRPr>
          </a:p>
          <a:p>
            <a:r>
              <a:rPr lang="zh-TW" altLang="zh-TW">
                <a:ea typeface="新細明體"/>
              </a:rPr>
              <a:t>Was the AED found?</a:t>
            </a:r>
            <a:endParaRPr lang="zh-TW">
              <a:ea typeface="新細明體"/>
            </a:endParaRPr>
          </a:p>
          <a:p>
            <a:r>
              <a:rPr lang="zh-TW" altLang="zh-TW">
                <a:ea typeface="新細明體"/>
              </a:rPr>
              <a:t>What care was reported?</a:t>
            </a:r>
            <a:endParaRPr lang="zh-TW">
              <a:ea typeface="新細明體"/>
            </a:endParaRPr>
          </a:p>
          <a:p>
            <a:r>
              <a:rPr lang="zh-TW" altLang="zh-TW">
                <a:ea typeface="新細明體"/>
              </a:rPr>
              <a:t> We bring these tasks and records into one workflow, starting with the call.</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First, users can call immediately, without registration or waiting for AI. </a:t>
            </a:r>
            <a:endParaRPr lang="en-US" altLang="zh-TW">
              <a:ea typeface="新細明體"/>
            </a:endParaRPr>
          </a:p>
          <a:p>
            <a:r>
              <a:rPr lang="zh-TW" altLang="zh-TW">
                <a:ea typeface="新細明體"/>
              </a:rPr>
              <a:t>During the call, the Agent stays quiet while the screen provides a call guide and recording buttons.</a:t>
            </a:r>
            <a:endParaRPr lang="zh-TW">
              <a:ea typeface="新細明體"/>
            </a:endParaRPr>
          </a:p>
          <a:p>
            <a:r>
              <a:rPr lang="zh-TW" altLang="zh-TW">
                <a:ea typeface="新細明體"/>
              </a:rPr>
              <a:t>Users can enable voice guidance after the call ends or fails.</a:t>
            </a:r>
            <a:endParaRPr lang="zh-TW">
              <a:ea typeface="新細明體"/>
            </a:endParaRPr>
          </a:p>
          <a:p>
            <a:r>
              <a:rPr lang="zh-TW" altLang="zh-TW">
                <a:ea typeface="新細明體"/>
              </a:rPr>
              <a:t>Redialing immediately stops audio and microphone capture, while keeping the records.</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As information is collected, the system organizes it into one shared scene snapshot for the call guide, ambulance greeter, and handoff page.</a:t>
            </a:r>
            <a:endParaRPr lang="en-US" altLang="zh-TW"/>
          </a:p>
          <a:p>
            <a:r>
              <a:rPr lang="zh-TW" altLang="zh-TW">
                <a:ea typeface="新細明體"/>
              </a:rPr>
              <a:t>Each field shows its source, confirmation status, and update time.</a:t>
            </a:r>
            <a:endParaRPr lang="zh-TW">
              <a:ea typeface="新細明體" panose="02020500000000000000" pitchFamily="18" charset="-120"/>
            </a:endParaRPr>
          </a:p>
          <a:p>
            <a:r>
              <a:rPr lang="zh-TW" altLang="zh-TW">
                <a:ea typeface="新細明體"/>
              </a:rPr>
              <a:t>Unknown details stay marked as unknown, and later corrections preserve the original record.</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Alongside these records, the system coordinates AED tasks.</a:t>
            </a:r>
            <a:endParaRPr lang="en-US" altLang="zh-TW"/>
          </a:p>
          <a:p>
            <a:r>
              <a:rPr lang="zh-TW" altLang="zh-TW">
                <a:ea typeface="新細明體"/>
              </a:rPr>
              <a:t>The user invites a helper and starts an assignment.</a:t>
            </a:r>
            <a:endParaRPr lang="zh-TW">
              <a:ea typeface="新細明體" panose="02020500000000000000" pitchFamily="18" charset="-120"/>
            </a:endParaRPr>
          </a:p>
          <a:p>
            <a:r>
              <a:rPr lang="zh-TW" altLang="zh-TW">
                <a:ea typeface="新細明體"/>
              </a:rPr>
              <a:t>The helper receives a destination, opens navigation, and reports progress.</a:t>
            </a:r>
            <a:endParaRPr lang="zh-TW">
              <a:ea typeface="新細明體"/>
            </a:endParaRPr>
          </a:p>
          <a:p>
            <a:r>
              <a:rPr lang="zh-TW" altLang="zh-TW">
                <a:ea typeface="新細明體"/>
              </a:rPr>
              <a:t>If the AED is inaccessible, the backend selects another candidate or reports that none remains.</a:t>
            </a:r>
            <a:endParaRPr lang="zh-TW">
              <a:ea typeface="新細明體"/>
            </a:endParaRPr>
          </a:p>
          <a:p>
            <a:r>
              <a:rPr lang="zh-TW" altLang="zh-TW">
                <a:ea typeface="新細明體"/>
              </a:rPr>
              <a:t>The helper confirms collection and delivery.</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Then, when EMS arrives, they can scan a QR code to review the scene snapshot, MIST summary, and event timeline collected along the way.</a:t>
            </a:r>
            <a:endParaRPr lang="en-US" altLang="zh-TW"/>
          </a:p>
          <a:p>
            <a:r>
              <a:rPr lang="zh-TW" altLang="zh-TW">
                <a:ea typeface="新細明體"/>
              </a:rPr>
              <a:t>Access depends on the role: runners see their task, greeters see the snapshot, and EMS sees the handoff information.</a:t>
            </a:r>
            <a:endParaRPr lang="zh-TW">
              <a:ea typeface="新細明體" panose="02020500000000000000" pitchFamily="18" charset="-120"/>
            </a:endParaRPr>
          </a:p>
          <a:p>
            <a:r>
              <a:rPr lang="zh-TW" altLang="zh-TW">
                <a:ea typeface="新細明體"/>
              </a:rPr>
              <a:t>Invitations are single-use and expire.</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Within this workflow, Gemini turns spoken reports into observations for the user to check. For example, “They are not responding” requires confirmation before entering the record.</a:t>
            </a:r>
            <a:endParaRPr lang="en-US" altLang="zh-TW"/>
          </a:p>
          <a:p>
            <a:r>
              <a:rPr lang="zh-TW" altLang="zh-TW">
                <a:ea typeface="新細明體"/>
              </a:rPr>
              <a:t>Fixed YAML rules then select guidance for the device to read aloud.</a:t>
            </a:r>
            <a:endParaRPr lang="zh-TW">
              <a:ea typeface="新細明體" panose="02020500000000000000" pitchFamily="18" charset="-120"/>
            </a:endParaRPr>
          </a:p>
          <a:p>
            <a:r>
              <a:rPr lang="zh-TW" altLang="zh-TW">
                <a:ea typeface="新細明體"/>
              </a:rPr>
              <a:t>Currently, we support reports about responsiveness and normal breathing.</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To connect these features, all roles share one React app.</a:t>
            </a:r>
            <a:endParaRPr lang="en-US" altLang="zh-TW"/>
          </a:p>
          <a:p>
            <a:r>
              <a:rPr lang="zh-TW" altLang="zh-TW">
                <a:ea typeface="新細明體"/>
              </a:rPr>
              <a:t>Flask handles records and tasks through REST APIs, WebSocket carries live audio and control messages, and PostgreSQL stores the data.</a:t>
            </a:r>
            <a:endParaRPr lang="zh-TW">
              <a:ea typeface="新細明體" panose="02020500000000000000" pitchFamily="18" charset="-120"/>
            </a:endParaRPr>
          </a:p>
          <a:p>
            <a:r>
              <a:rPr lang="zh-TW" altLang="zh-TW">
                <a:ea typeface="新細明體"/>
              </a:rPr>
              <a:t>Gemini connects through ADK, Maps supports navigation, and health-ministry data supplies AED candidates. Routes walking-time estimates are planned.</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ea typeface="新細明體"/>
              </a:rPr>
              <a:t>This workflow also needs to handle connection loss. </a:t>
            </a:r>
            <a:endParaRPr lang="en-US" altLang="zh-TW">
              <a:ea typeface="新細明體"/>
            </a:endParaRPr>
          </a:p>
          <a:p>
            <a:r>
              <a:rPr lang="zh-TW" altLang="zh-TW">
                <a:ea typeface="新細明體"/>
              </a:rPr>
              <a:t>Supported actions stay in IndexedDB on the device and are uploaded when connectivity returns.</a:t>
            </a:r>
            <a:endParaRPr lang="zh-TW">
              <a:ea typeface="新細明體"/>
            </a:endParaRPr>
          </a:p>
          <a:p>
            <a:r>
              <a:rPr lang="zh-TW" altLang="zh-TW">
                <a:ea typeface="新細明體"/>
              </a:rPr>
              <a:t>Event IDs prevent duplicates, and version checks flag conflicts.</a:t>
            </a:r>
            <a:endParaRPr lang="zh-TW">
              <a:ea typeface="新細明體"/>
            </a:endParaRPr>
          </a:p>
          <a:p>
            <a:r>
              <a:rPr lang="zh-TW" altLang="zh-TW">
                <a:ea typeface="新細明體"/>
              </a:rPr>
              <a:t>Muting stays under local control, and incident data has a retention period.</a:t>
            </a:r>
            <a:endParaRPr lang="zh-TW">
              <a:ea typeface="新細明體"/>
            </a:endParaRPr>
          </a:p>
          <a:p>
            <a:r>
              <a:rPr lang="zh-TW" altLang="zh-TW">
                <a:ea typeface="新細明體"/>
              </a:rPr>
              <a:t>The complete offline workflow still needs further validation.</a:t>
            </a:r>
            <a:endParaRPr lang="zh-TW">
              <a:ea typeface="新細明體"/>
            </a:endParaRPr>
          </a:p>
        </p:txBody>
      </p:sp>
      <p:sp>
        <p:nvSpPr>
          <p:cNvPr id="4" name="Slide Number Placeholder 3"/>
          <p:cNvSpPr>
            <a:spLocks noGrp="1"/>
          </p:cNvSpPr>
          <p:nvPr>
            <p:ph type="sldNum" sz="quarter" idx="5"/>
          </p:nvPr>
        </p:nvSpPr>
        <p:spPr/>
        <p:txBody>
          <a:bodyPr/>
          <a:lstStyle/>
          <a:p>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AE36-0306-016D-7B60-D0A159CC6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7B8CE-7A12-C793-536C-4FC0E4EF7E9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7D91DB-BBB5-183B-EE78-3CFA29C30BC2}"/>
              </a:ext>
            </a:extLst>
          </p:cNvPr>
          <p:cNvSpPr>
            <a:spLocks noGrp="1"/>
          </p:cNvSpPr>
          <p:nvPr>
            <p:ph type="body" sz="quarter" idx="3"/>
          </p:nvPr>
        </p:nvSpPr>
        <p:spPr/>
        <p:txBody>
          <a:bodyPr/>
          <a:lstStyle/>
          <a:p>
            <a:br>
              <a:rPr lang="zh-TW" altLang="zh-TW"/>
            </a:br>
            <a:r>
              <a:rPr lang="zh-TW" altLang="zh-TW"/>
              <a:t>Now, let’s walk through that workflow: starting with the call screen, recording scene information, inviting helpers, and viewing the EMS handoff.</a:t>
            </a:r>
          </a:p>
        </p:txBody>
      </p:sp>
      <p:sp>
        <p:nvSpPr>
          <p:cNvPr id="4" name="Slide Number Placeholder 3">
            <a:extLst>
              <a:ext uri="{FF2B5EF4-FFF2-40B4-BE49-F238E27FC236}">
                <a16:creationId xmlns:a16="http://schemas.microsoft.com/office/drawing/2014/main" id="{C4199D56-C4C8-5D4F-483C-D958FCB57C14}"/>
              </a:ext>
            </a:extLst>
          </p:cNvPr>
          <p:cNvSpPr>
            <a:spLocks noGrp="1"/>
          </p:cNvSpPr>
          <p:nvPr>
            <p:ph type="sldNum" sz="quarter" idx="5"/>
          </p:nvPr>
        </p:nvSpPr>
        <p:spPr/>
      </p:sp>
    </p:spTree>
    <p:extLst>
      <p:ext uri="{BB962C8B-B14F-4D97-AF65-F5344CB8AC3E}">
        <p14:creationId xmlns:p14="http://schemas.microsoft.com/office/powerpoint/2010/main" val="3831531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zh-TW"/>
              <a:t>Slide 11 | We tested what happens when plans change.</a:t>
            </a:r>
            <a:br>
              <a:rPr lang="zh-TW" altLang="zh-TW"/>
            </a:br>
            <a:r>
              <a:rPr lang="zh-TW" altLang="zh-TW"/>
              <a:t>Suggested use: 35–40 seconds</a:t>
            </a:r>
            <a:br>
              <a:rPr lang="zh-TW" altLang="zh-TW"/>
            </a:br>
            <a:r>
              <a:rPr lang="zh-TW" altLang="zh-TW"/>
              <a:t>中英文擇一朗讀；大括號中的提醒不朗讀。 / Read one language. Do not read the notes in braces aloud.</a:t>
            </a:r>
          </a:p>
          <a:p>
            <a:r>
              <a:rPr lang="zh-TW" altLang="zh-TW"/>
              <a:t>【中文逐字稿】</a:t>
            </a:r>
            <a:br>
              <a:rPr lang="zh-TW" altLang="zh-TW"/>
            </a:br>
            <a:r>
              <a:rPr lang="zh-TW" altLang="zh-TW"/>
              <a:t>在這個專案中，我們也測試了系統遇到中斷時會發生什麼事。我們測了四種情況：通話模式來回切換、AED 無法取得需要改派、斷線後重新同步，以及救護交接。在這些測試情境中，切換模式後原本的紀錄仍會保留，重複上傳不會新增重複紀錄，AED 無法取得時能更新任務，交接資料也會依照角色限制存取。</a:t>
            </a:r>
          </a:p>
          <a:p>
            <a:r>
              <a:rPr lang="zh-TW" altLang="zh-TW"/>
              <a:t>【English Script】</a:t>
            </a:r>
            <a:br>
              <a:rPr lang="zh-TW" altLang="zh-TW"/>
            </a:br>
            <a:r>
              <a:rPr lang="zh-TW" altLang="zh-TW"/>
              <a:t>We also tested how the system handles interruptions. We covered four situations: switching between call modes, reassigning an inaccessible AED, synchronizing after a connection loss, and handing information over to EMS. In these scenarios, mode changes preserved existing records, repeated uploads did not create duplicates, an inaccessible AED led to an updated assignment, and access to handoff information remained restricted by role.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Keep everyone on the same page.</a:t>
            </a:r>
          </a:p>
          <a:p>
            <a:r>
              <a:t>Suggested use: 15–20 seconds</a:t>
            </a:r>
          </a:p>
          <a:p>
            <a:r>
              <a:rPr lang="zh-TW" altLang="en-US"/>
              <a:t>中英文擇一朗讀；大括號中的提醒不朗讀</a:t>
            </a:r>
            <a:r>
              <a:t>。 / Read one language. Do not read the notes in braces aloud.</a:t>
            </a:r>
          </a:p>
          <a:p>
            <a:endParaRPr/>
          </a:p>
          <a:p>
            <a:r>
              <a:t>【</a:t>
            </a:r>
            <a:r>
              <a:rPr lang="zh-TW" altLang="en-US"/>
              <a:t>中文逐字稿</a:t>
            </a:r>
            <a:r>
              <a:t>】</a:t>
            </a:r>
          </a:p>
          <a:p>
            <a:r>
              <a:rPr lang="zh-TW" altLang="en-US"/>
              <a:t>急救副駕要做的，是讓大家幫得上忙，也接得上彼此的工作。報案時有資訊，找</a:t>
            </a:r>
            <a:r>
              <a:t> AED </a:t>
            </a:r>
            <a:r>
              <a:rPr lang="zh-TW" altLang="en-US"/>
              <a:t>時有後續，救護人員接手時有紀錄。派遣員指揮，</a:t>
            </a:r>
            <a:r>
              <a:rPr lang="en"/>
              <a:t>Agent</a:t>
            </a:r>
            <a:r>
              <a:t> </a:t>
            </a:r>
            <a:r>
              <a:rPr lang="zh-TW" altLang="en-US"/>
              <a:t>輔助。</a:t>
            </a:r>
            <a:endParaRPr/>
          </a:p>
          <a:p>
            <a:r>
              <a:t>【English Script】</a:t>
            </a:r>
          </a:p>
          <a:p>
            <a:r>
              <a:t>First Aid Copilot helps people contribute without losing track of each other: information for the call, follow-through for the AED task, and a record for the handoff. The dispatcher leads; the Agent assists. </a:t>
            </a:r>
          </a:p>
          <a:p>
            <a:r>
              <a:t>【</a:t>
            </a:r>
            <a:r>
              <a:rPr lang="zh-TW" altLang="en-US"/>
              <a:t>狀態與操作提醒｜不朗讀</a:t>
            </a:r>
            <a:r>
              <a:t> / Presenter notes, not spoken】</a:t>
            </a:r>
          </a:p>
          <a:p>
            <a:r>
              <a:t>{【</a:t>
            </a:r>
            <a:r>
              <a:rPr lang="zh-TW" altLang="en-US"/>
              <a:t>收尾</a:t>
            </a:r>
            <a:r>
              <a:rPr lang="en-US" altLang="zh-TW"/>
              <a:t>】</a:t>
            </a:r>
            <a:r>
              <a:rPr lang="zh-TW" altLang="en-US"/>
              <a:t>停留本頁等候提問；後三頁是附錄，依評審問題使用，不逐頁接著念</a:t>
            </a:r>
            <a:r>
              <a:t>。}</a:t>
            </a:r>
          </a:p>
          <a:p>
            <a:r>
              <a:t>{【</a:t>
            </a:r>
            <a:r>
              <a:rPr lang="zh-TW" altLang="en-US"/>
              <a:t>範圍</a:t>
            </a:r>
            <a:r>
              <a:rPr lang="en-US" altLang="zh-TW"/>
              <a:t>】</a:t>
            </a:r>
            <a:r>
              <a:rPr lang="zh-TW" altLang="en-US"/>
              <a:t>這是產品目的，不新增臨床有效性或部署成熟度主張</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a:t>Slide 12 | Next, test the workflow with the people who will use it.</a:t>
            </a:r>
          </a:p>
          <a:p>
            <a:r>
              <a:rPr lang="en"/>
              <a:t>Suggested use: 35–40 seconds</a:t>
            </a:r>
          </a:p>
          <a:p>
            <a:r>
              <a:rPr lang="zh-TW" altLang="en-US"/>
              <a:t>中英文擇一朗讀；大括號中的提醒不朗讀。 </a:t>
            </a:r>
            <a:r>
              <a:rPr lang="en-US" altLang="zh-TW"/>
              <a:t>/ </a:t>
            </a:r>
            <a:r>
              <a:rPr lang="en"/>
              <a:t>Read one language. Do not read the notes in braces aloud.</a:t>
            </a:r>
          </a:p>
          <a:p>
            <a:endParaRPr lang="en"/>
          </a:p>
          <a:p>
            <a:r>
              <a:rPr lang="en"/>
              <a:t>【</a:t>
            </a:r>
            <a:r>
              <a:rPr lang="zh-TW" altLang="en-US"/>
              <a:t>中文逐字稿</a:t>
            </a:r>
            <a:r>
              <a:rPr lang="en-US" altLang="zh-TW"/>
              <a:t>】</a:t>
            </a:r>
          </a:p>
          <a:p>
            <a:r>
              <a:rPr lang="zh-TW" altLang="en-US"/>
              <a:t>下一步我們想量三件事：必要資訊有沒有留下、改派後任務有沒有繼續到回報，以及接手的人多久能看懂現場。會先做專業內容審閱，再做同情境比較和小規模演練。技術上，接著補真實步行時間、地址查詢、照片輔助擷取和完整離線使用。這些是下一階段的工作，目前沒有成效數字或已確認的場域合作。</a:t>
            </a:r>
          </a:p>
          <a:p>
            <a:endParaRPr lang="zh-TW" altLang="en-US"/>
          </a:p>
          <a:p>
            <a:r>
              <a:rPr lang="en-US" altLang="zh-TW"/>
              <a:t>【</a:t>
            </a:r>
            <a:r>
              <a:rPr lang="en"/>
              <a:t>English Script】</a:t>
            </a:r>
          </a:p>
          <a:p>
            <a:r>
              <a:rPr lang="en"/>
              <a:t>Our next step, we want to measure whether required information is retained, whether reassigned tasks reach a reported outcome, and how quickly the next person understands the scene. The plan begins with professional review, then matched scenarios and small-scale drills. The next technical additions are walking-time estimates, address lookup, photo-assisted capture, and a complete offline setup. These are planned steps, not measured outcomes or confirmed partnerships.</a:t>
            </a:r>
          </a:p>
          <a:p>
            <a:endParaRPr lang="en"/>
          </a:p>
          <a:p>
            <a:r>
              <a:rPr lang="en"/>
              <a:t>【</a:t>
            </a:r>
            <a:r>
              <a:rPr lang="zh-TW" altLang="en-US"/>
              <a:t>狀態與操作提醒｜不朗讀 </a:t>
            </a:r>
            <a:r>
              <a:rPr lang="en-US" altLang="zh-TW"/>
              <a:t>/ </a:t>
            </a:r>
            <a:r>
              <a:rPr lang="en"/>
              <a:t>Presenter notes, not spoken】</a:t>
            </a:r>
          </a:p>
          <a:p>
            <a:r>
              <a:rPr lang="en"/>
              <a:t>{【</a:t>
            </a:r>
            <a:r>
              <a:rPr lang="zh-TW" altLang="en-US"/>
              <a:t>計畫</a:t>
            </a:r>
            <a:r>
              <a:rPr lang="en-US" altLang="zh-TW"/>
              <a:t>】</a:t>
            </a:r>
            <a:r>
              <a:rPr lang="zh-TW" altLang="en-US"/>
              <a:t>資訊完整度、改派後持續回報與交接理解時間是提案量測方向；附件沒有已完成使用者研究、效益百分比、醫療結果或合作場域。</a:t>
            </a:r>
            <a:r>
              <a:rPr lang="en-US" altLang="zh-TW"/>
              <a:t>}</a:t>
            </a:r>
          </a:p>
          <a:p>
            <a:r>
              <a:rPr lang="en-US" altLang="zh-TW"/>
              <a:t>{【</a:t>
            </a:r>
            <a:r>
              <a:rPr lang="zh-TW" altLang="en-US"/>
              <a:t>未完成</a:t>
            </a:r>
            <a:r>
              <a:rPr lang="en-US" altLang="zh-TW"/>
              <a:t>】</a:t>
            </a:r>
            <a:r>
              <a:rPr lang="en"/>
              <a:t>Google Routes </a:t>
            </a:r>
            <a:r>
              <a:rPr lang="zh-TW" altLang="en-US"/>
              <a:t>正式接線、</a:t>
            </a:r>
            <a:r>
              <a:rPr lang="en"/>
              <a:t>Geocoding、</a:t>
            </a:r>
            <a:r>
              <a:rPr lang="zh-TW" altLang="en-US"/>
              <a:t>影像理解／</a:t>
            </a:r>
            <a:r>
              <a:rPr lang="en"/>
              <a:t>photo-assisted capture、</a:t>
            </a:r>
            <a:r>
              <a:rPr lang="zh-TW" altLang="en-US"/>
              <a:t>完整離線 </a:t>
            </a:r>
            <a:r>
              <a:rPr lang="en"/>
              <a:t>PWA、</a:t>
            </a:r>
            <a:r>
              <a:rPr lang="zh-TW" altLang="en-US"/>
              <a:t>全部臨床內容審閱與手機端驗證。圖上 </a:t>
            </a:r>
            <a:r>
              <a:rPr lang="en"/>
              <a:t>Next </a:t>
            </a:r>
            <a:r>
              <a:rPr lang="zh-TW" altLang="en-US"/>
              <a:t>為明確未來語氣。</a:t>
            </a:r>
            <a:r>
              <a:rPr lang="en-US" altLang="zh-TW"/>
              <a:t>}</a:t>
            </a:r>
          </a:p>
          <a:p>
            <a:r>
              <a:rPr lang="en-US" altLang="zh-TW"/>
              <a:t>{【</a:t>
            </a:r>
            <a:r>
              <a:rPr lang="zh-TW" altLang="en-US"/>
              <a:t>範圍外</a:t>
            </a:r>
            <a:r>
              <a:rPr lang="en-US" altLang="zh-TW"/>
              <a:t>】</a:t>
            </a:r>
            <a:r>
              <a:rPr lang="en"/>
              <a:t>Gemma </a:t>
            </a:r>
            <a:r>
              <a:rPr lang="zh-TW" altLang="en-US"/>
              <a:t>端側模型、</a:t>
            </a:r>
            <a:r>
              <a:rPr lang="en"/>
              <a:t>native app、</a:t>
            </a:r>
            <a:r>
              <a:rPr lang="zh-TW" altLang="en-US"/>
              <a:t>電話狀態自動偵測等不列入現有完成項目。</a:t>
            </a:r>
            <a:r>
              <a:rPr lang="en-US" altLang="zh-TW"/>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Five workstreams. One shared product.</a:t>
            </a:r>
          </a:p>
          <a:p>
            <a:r>
              <a:t>Suggested use: Appendix — use for team questions</a:t>
            </a:r>
          </a:p>
          <a:p>
            <a:r>
              <a:t>中英文擇一朗讀；大括號中的提醒不朗讀。 / Read one language. Do not read the notes in braces aloud.</a:t>
            </a:r>
          </a:p>
          <a:p>
            <a:endParaRPr/>
          </a:p>
          <a:p>
            <a:r>
              <a:t>【中文逐字稿】</a:t>
            </a:r>
          </a:p>
          <a:p>
            <a:r>
              <a:t>我們用五條工作線分工。Agent 與 API 負責模型、Live 和服務接口；救援者介面負責撥號、通話模式和快速操作；瀏覽器執行層負責收音、同步與本機儲存；協助者與交接負責 QR 加入、地圖和 EMS 畫面；規則與資料層則負責 Python 規則、AED 資料、改派、快照和權限。共用 API 契約和規則測試案例，讓每個部分能接在一起，而不是五個分開的展示。</a:t>
            </a:r>
          </a:p>
          <a:p>
            <a:endParaRPr/>
          </a:p>
          <a:p>
            <a:r>
              <a:t>【English Script】</a:t>
            </a:r>
          </a:p>
          <a:p>
            <a:r>
              <a:t>We split the work into five streams. Agent and API owns the model connection, Live protocol, and service interfaces. Rescuer Experience owns calling and quick actions. Browser Runtime handles media, synchronization, and local storage. Helpers and Handoff owns QR entry, maps, and the EMS views. Rules and Data owns the Python rules, AED pipeline, reassignment, snapshots, and access controls. Shared API contracts and rule fixtures connect the work into one product.</a:t>
            </a:r>
          </a:p>
          <a:p>
            <a:endParaRPr/>
          </a:p>
          <a:p>
            <a:r>
              <a:t>【狀態與操作提醒｜不朗讀 / Presenter notes, not spoken】</a:t>
            </a:r>
          </a:p>
          <a:p>
            <a:r>
              <a:t>{【分工來源】依 AGENTS.md 的 Five-Person Module Boundaries，這些是工作線，不是從 commits 推論的個人貢獻。}</a:t>
            </a:r>
          </a:p>
          <a:p>
            <a:r>
              <a:t>{【未提供】附件沒有五位成員的姓名，所以投影片只放角色與工作內容；每個文字方塊都可直接改成姓名／角色。}</a:t>
            </a:r>
          </a:p>
          <a:p>
            <a:r>
              <a:t>{【交界】Agent/API 包裝並接入 Rules/Data 的服務，不將領域邏輯重複算成另一組獨立實作。Browser Runtime 與 Rules/Data 共同維持 Python/TypeScript 規則一致性。}</a:t>
            </a:r>
          </a:p>
          <a:p>
            <a:endParaRPr/>
          </a:p>
          <a:p>
            <a:r>
              <a:t>【來源｜不朗讀 / Source references】</a:t>
            </a:r>
          </a:p>
          <a:p>
            <a:r>
              <a:t>AGENTS.md</a:t>
            </a:r>
          </a:p>
          <a:p>
            <a:r>
              <a:t>agent/INTEGRATION.md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An AED pin is useful only if people can reach it.</a:t>
            </a:r>
          </a:p>
          <a:p>
            <a:r>
              <a:t>Suggested use: Appendix — use for data and Maps questions</a:t>
            </a:r>
          </a:p>
          <a:p>
            <a:r>
              <a:rPr lang="zh-TW" altLang="en-US" err="1"/>
              <a:t>中英文擇一朗讀；大括號中的提醒不朗讀</a:t>
            </a:r>
            <a:r>
              <a:t>。 / Read one language. Do not read the notes in braces aloud.</a:t>
            </a:r>
          </a:p>
          <a:p>
            <a:endParaRPr/>
          </a:p>
          <a:p>
            <a:r>
              <a:t>【</a:t>
            </a:r>
            <a:r>
              <a:rPr lang="zh-TW" altLang="en-US" err="1"/>
              <a:t>中文逐字稿</a:t>
            </a:r>
            <a:r>
              <a:t>】</a:t>
            </a:r>
          </a:p>
          <a:p>
            <a:r>
              <a:rPr lang="zh-TW" altLang="en-US"/>
              <a:t>這版已經附上衛福部格式的</a:t>
            </a:r>
            <a:r>
              <a:t> AED CSV，不再只有合成資料。這次本機驗證讀到一萬五千八百九十六列，保留一萬五千八百九十一筆；五列因座標超出設定範圍或缺少地址被排除。另有三千三百一十二個開放時間警告，系統保留不確定，不直接當成關門。匯入流程會保留版本、位置、開放時間和存取說明，再提供搜尋與派工。Google Maps 負責顯示和外部導航</a:t>
            </a:r>
            <a:endParaRPr lang="ja-JP">
              <a:ea typeface="游ゴシック"/>
            </a:endParaRPr>
          </a:p>
          <a:p>
            <a:endParaRPr lang="en-US"/>
          </a:p>
          <a:p>
            <a:r>
              <a:t>【English Script】</a:t>
            </a:r>
          </a:p>
          <a:p>
            <a:r>
              <a:t>This version includes a health-ministry-format AED CSV, not just synthetic fixtures. Local validation read 15,896 rows and retained 15,891 records. Five rows were rejected for out-of-region coordinates or a missing address. There were also 3,312 opening-hours warnings; unknown hours stay unknown rather than becoming “closed.” The import pipeline preserves versions, locations, hours, and access notes for search and assignment. Google Maps handles display and external navigation. </a:t>
            </a:r>
            <a:endParaRPr lang="en-US"/>
          </a:p>
          <a:p>
            <a:endParaRPr/>
          </a:p>
          <a:p>
            <a:r>
              <a:t>【</a:t>
            </a:r>
            <a:r>
              <a:rPr lang="zh-TW" altLang="en-US" err="1"/>
              <a:t>狀態與操作提醒｜不朗讀</a:t>
            </a:r>
            <a:r>
              <a:t> / Presenter notes, not spoken】</a:t>
            </a:r>
          </a:p>
          <a:p>
            <a:r>
              <a:t>{【</a:t>
            </a:r>
            <a:r>
              <a:rPr lang="zh-TW" altLang="en-US" err="1"/>
              <a:t>本次實測</a:t>
            </a:r>
            <a:r>
              <a:rPr lang="en-US" altLang="zh-TW" err="1"/>
              <a:t>】</a:t>
            </a:r>
            <a:r>
              <a:rPr lang="zh-TW" altLang="en-US" err="1"/>
              <a:t>對</a:t>
            </a:r>
            <a:r>
              <a:t> AED20260919.csv </a:t>
            </a:r>
            <a:r>
              <a:rPr lang="zh-TW" altLang="en-US" err="1"/>
              <a:t>執行現有</a:t>
            </a:r>
            <a:r>
              <a:t> </a:t>
            </a:r>
            <a:r>
              <a:rPr lang="en" err="1"/>
              <a:t>MohwCsvSource</a:t>
            </a:r>
            <a:r>
              <a:t> + </a:t>
            </a:r>
            <a:r>
              <a:rPr lang="en" err="1"/>
              <a:t>ingest，rowsRead</a:t>
            </a:r>
            <a:r>
              <a:t>=15896、validRecords=15891、rejections=5（coordinates_out_of_region=4、missing_address=1）、</a:t>
            </a:r>
            <a:r>
              <a:rPr lang="en" err="1"/>
              <a:t>unknown_opening_hours</a:t>
            </a:r>
            <a:r>
              <a:t> warnings=3312。}</a:t>
            </a:r>
          </a:p>
          <a:p>
            <a:r>
              <a:t>{【</a:t>
            </a:r>
            <a:r>
              <a:rPr lang="zh-TW" altLang="en-US" err="1"/>
              <a:t>限制</a:t>
            </a:r>
            <a:r>
              <a:rPr lang="en-US" altLang="zh-TW" err="1"/>
              <a:t>】</a:t>
            </a:r>
            <a:r>
              <a:rPr lang="zh-TW" altLang="en-US" err="1"/>
              <a:t>這是附件</a:t>
            </a:r>
            <a:r>
              <a:t> CSV </a:t>
            </a:r>
            <a:r>
              <a:rPr lang="zh-TW" altLang="en-US" err="1"/>
              <a:t>的本機驗證，不是重新下載、不是全臺最新</a:t>
            </a:r>
            <a:r>
              <a:t> AED </a:t>
            </a:r>
            <a:r>
              <a:rPr lang="zh-TW" altLang="en-US" err="1"/>
              <a:t>總數，不代表設備即時可取得，也沒有在本次匯入</a:t>
            </a:r>
            <a:r>
              <a:t> PostgreSQL。}</a:t>
            </a:r>
          </a:p>
          <a:p>
            <a:r>
              <a:t>{【</a:t>
            </a:r>
            <a:r>
              <a:rPr lang="zh-TW" altLang="en-US" err="1"/>
              <a:t>已實作</a:t>
            </a:r>
            <a:r>
              <a:rPr lang="en-US" altLang="zh-TW" err="1"/>
              <a:t>】</a:t>
            </a:r>
            <a:r>
              <a:rPr lang="zh-TW" altLang="en-US" err="1"/>
              <a:t>資料驗證、重複</a:t>
            </a:r>
            <a:r>
              <a:t> ID </a:t>
            </a:r>
            <a:r>
              <a:rPr lang="zh-TW" altLang="en-US" err="1"/>
              <a:t>處理、開放時間解析、版本化快取、失敗保留前版，以及資料庫原子替換匯入程式。正式資料是否已載入展示部署，需上台前確認</a:t>
            </a:r>
            <a:r>
              <a:t>。}</a:t>
            </a:r>
          </a:p>
          <a:p>
            <a:r>
              <a:t>{【Maps </a:t>
            </a:r>
            <a:r>
              <a:rPr lang="zh-TW" altLang="en-US" err="1"/>
              <a:t>條件</a:t>
            </a:r>
            <a:r>
              <a:rPr lang="en-US" altLang="zh-TW" err="1"/>
              <a:t>】</a:t>
            </a:r>
            <a:r>
              <a:rPr lang="en" err="1"/>
              <a:t>TaskMap</a:t>
            </a:r>
            <a:r>
              <a:t> 在 VITE_GOOGLE_MAPS_API_KEY </a:t>
            </a:r>
            <a:r>
              <a:rPr lang="zh-TW" altLang="en-US" err="1"/>
              <a:t>存在時顯示地圖；外部</a:t>
            </a:r>
            <a:r>
              <a:t> Google Maps directions link </a:t>
            </a:r>
            <a:r>
              <a:rPr lang="zh-TW" altLang="en-US" err="1"/>
              <a:t>已有。</a:t>
            </a:r>
            <a:r>
              <a:rPr lang="en" err="1"/>
              <a:t>DirectionsService</a:t>
            </a:r>
            <a:r>
              <a:t> </a:t>
            </a:r>
            <a:r>
              <a:rPr lang="zh-TW" altLang="en-US" err="1"/>
              <a:t>僅在</a:t>
            </a:r>
            <a:r>
              <a:t> </a:t>
            </a:r>
            <a:r>
              <a:rPr lang="en" err="1"/>
              <a:t>estimateSource</a:t>
            </a:r>
            <a:r>
              <a:t>=route </a:t>
            </a:r>
            <a:r>
              <a:rPr lang="zh-TW" altLang="en-US" err="1"/>
              <a:t>時呼叫，</a:t>
            </a:r>
            <a:r>
              <a:rPr lang="en" err="1"/>
              <a:t>active</a:t>
            </a:r>
            <a:r>
              <a:t> backend </a:t>
            </a:r>
            <a:r>
              <a:rPr lang="zh-TW" altLang="en-US" err="1"/>
              <a:t>目前仍是</a:t>
            </a:r>
            <a:r>
              <a:t> </a:t>
            </a:r>
            <a:r>
              <a:rPr lang="en" err="1"/>
              <a:t>straight_line</a:t>
            </a:r>
            <a:r>
              <a:t> </a:t>
            </a:r>
            <a:r>
              <a:rPr lang="en" err="1"/>
              <a:t>fallback，</a:t>
            </a:r>
            <a:r>
              <a:rPr lang="zh-TW" altLang="en-US" err="1"/>
              <a:t>不可把</a:t>
            </a:r>
            <a:r>
              <a:t> demo-incident </a:t>
            </a:r>
            <a:r>
              <a:rPr lang="zh-TW" altLang="en-US" err="1"/>
              <a:t>的路線當成</a:t>
            </a:r>
            <a:r>
              <a:t> active backend </a:t>
            </a:r>
            <a:r>
              <a:rPr lang="zh-TW" altLang="en-US" err="1"/>
              <a:t>成果</a:t>
            </a:r>
            <a:r>
              <a:t>。}</a:t>
            </a:r>
          </a:p>
          <a:p>
            <a:r>
              <a:t>{【文件落差】data/aed/README.md </a:t>
            </a:r>
            <a:r>
              <a:rPr lang="zh-TW" altLang="en-US" err="1"/>
              <a:t>仍寫</a:t>
            </a:r>
            <a:r>
              <a:t> repository </a:t>
            </a:r>
            <a:r>
              <a:rPr lang="zh-TW" altLang="en-US" err="1"/>
              <a:t>不含下載資料，但本次</a:t>
            </a:r>
            <a:r>
              <a:t> ZIP </a:t>
            </a:r>
            <a:r>
              <a:rPr lang="zh-TW" altLang="en-US" err="1"/>
              <a:t>實際含</a:t>
            </a:r>
            <a:r>
              <a:t> AED20260919.csv；本頁依實際檔案與本機驗證報告，不由舊敘述推定沒有資料。}</a:t>
            </a:r>
          </a:p>
          <a:p>
            <a:endParaRPr/>
          </a:p>
          <a:p>
            <a:r>
              <a:t>【</a:t>
            </a:r>
            <a:r>
              <a:rPr lang="zh-TW" altLang="en-US" err="1"/>
              <a:t>來源｜不朗讀</a:t>
            </a:r>
            <a:r>
              <a:t> / Source references】</a:t>
            </a:r>
          </a:p>
          <a:p>
            <a:r>
              <a:t>AED20260919.csv</a:t>
            </a:r>
          </a:p>
          <a:p>
            <a:r>
              <a:t>data/aed/mohw.py</a:t>
            </a:r>
          </a:p>
          <a:p>
            <a:r>
              <a:t>data/aed/pipeline.py</a:t>
            </a:r>
          </a:p>
          <a:p>
            <a:r>
              <a:t>data/aed/normalize.py</a:t>
            </a:r>
          </a:p>
          <a:p>
            <a:r>
              <a:t>agent/app/services/postgres_data/import_aed.py</a:t>
            </a:r>
          </a:p>
          <a:p>
            <a:r>
              <a:t>agent/app/services/aed/catalog.py</a:t>
            </a:r>
          </a:p>
          <a:p>
            <a:r>
              <a:t>web/</a:t>
            </a:r>
            <a:r>
              <a:rPr lang="en" err="1"/>
              <a:t>src</a:t>
            </a:r>
            <a:r>
              <a:t>/components/maps/</a:t>
            </a:r>
            <a:r>
              <a:rPr lang="en" err="1"/>
              <a:t>TaskMap.tsx</a:t>
            </a:r>
          </a:p>
          <a:p>
            <a:r>
              <a:t>agent/app/services/aed/routing.py</a:t>
            </a:r>
          </a:p>
          <a:p>
            <a:r>
              <a:t>evidence/</a:t>
            </a:r>
            <a:r>
              <a:rPr lang="en" err="1"/>
              <a:t>aed-validation.json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One event log keeps the team in sync.</a:t>
            </a:r>
          </a:p>
          <a:p>
            <a:r>
              <a:t>Suggested use: Appendix — use for architecture and reliability questions</a:t>
            </a:r>
          </a:p>
          <a:p>
            <a:r>
              <a:rPr lang="zh-TW" altLang="en-US" err="1"/>
              <a:t>中英文擇一朗讀；大括號中的提醒不朗讀</a:t>
            </a:r>
            <a:r>
              <a:t>。 / Read one language. Do not read the notes in braces aloud.</a:t>
            </a:r>
          </a:p>
          <a:p>
            <a:endParaRPr/>
          </a:p>
          <a:p>
            <a:r>
              <a:t>【</a:t>
            </a:r>
            <a:r>
              <a:rPr lang="zh-TW" altLang="en-US" err="1"/>
              <a:t>中文逐字稿</a:t>
            </a:r>
            <a:r>
              <a:t>】</a:t>
            </a:r>
          </a:p>
          <a:p>
            <a:r>
              <a:rPr lang="zh-TW" altLang="en-US" err="1"/>
              <a:t>底層用事件紀錄保存誰在什麼時間回報了什麼，再投影成同一份快照與</a:t>
            </a:r>
            <a:r>
              <a:t> MIST。事件追加和快照更新在同一筆交易裡完成，避免一邊成功、一邊失敗。相同事件重送不會重複計算，過期版本會回報衝突，更正也保留原始紀錄。Python 和 TypeScript </a:t>
            </a:r>
            <a:r>
              <a:rPr lang="zh-TW" altLang="en-US" err="1"/>
              <a:t>讀同一套規則格式與案例，案件會固定規則版本，</a:t>
            </a:r>
            <a:r>
              <a:rPr lang="en-US" altLang="zh-TW" err="1"/>
              <a:t>unknown</a:t>
            </a:r>
            <a:r>
              <a:t> </a:t>
            </a:r>
            <a:r>
              <a:rPr lang="zh-TW" altLang="en-US" err="1"/>
              <a:t>不會被當成</a:t>
            </a:r>
            <a:r>
              <a:t> false。瀏覽器端也有收音、相機轉接器、前景計時器和規則快取。</a:t>
            </a:r>
          </a:p>
          <a:p>
            <a:endParaRPr/>
          </a:p>
          <a:p>
            <a:r>
              <a:t>【English Script】</a:t>
            </a:r>
          </a:p>
          <a:p>
            <a:r>
              <a:t>The event log records who reported what and when, then projects the snapshot and MIST from the same evidence. Event append and snapshot update share one transaction, so a partial write cannot leave them out of step. Identical retries are deduplicated, stale revisions return a conflict, and corrections keep the original record. Python and TypeScript use the same rule format and fixtures, with a pinned version for each incident. Unknown is not treated as false. The browser layer also includes media adapters, foreground timers, and rule caching.</a:t>
            </a:r>
          </a:p>
          <a:p>
            <a:endParaRPr/>
          </a:p>
          <a:p>
            <a:r>
              <a:t>【</a:t>
            </a:r>
            <a:r>
              <a:rPr lang="zh-TW" altLang="en-US" err="1"/>
              <a:t>狀態與操作提醒｜不朗讀</a:t>
            </a:r>
            <a:r>
              <a:t> / Presenter notes, not spoken】</a:t>
            </a:r>
          </a:p>
          <a:p>
            <a:r>
              <a:t>{【</a:t>
            </a:r>
            <a:r>
              <a:rPr lang="zh-TW" altLang="en-US" err="1"/>
              <a:t>已實作</a:t>
            </a:r>
            <a:r>
              <a:rPr lang="en-US" altLang="zh-TW" err="1"/>
              <a:t>】</a:t>
            </a:r>
            <a:r>
              <a:rPr lang="en-US" err="1"/>
              <a:t>normalized</a:t>
            </a:r>
            <a:r>
              <a:t> </a:t>
            </a:r>
            <a:r>
              <a:rPr lang="en-US" err="1"/>
              <a:t>repositories、PostgresUnitOfWork、event</a:t>
            </a:r>
            <a:r>
              <a:t> </a:t>
            </a:r>
            <a:r>
              <a:rPr lang="en-US" err="1"/>
              <a:t>ingestion、scene</a:t>
            </a:r>
            <a:r>
              <a:t> </a:t>
            </a:r>
            <a:r>
              <a:rPr lang="en-US" err="1"/>
              <a:t>projection、MIST、scoped</a:t>
            </a:r>
            <a:r>
              <a:t> </a:t>
            </a:r>
            <a:r>
              <a:rPr lang="en-US" err="1"/>
              <a:t>read、one-time</a:t>
            </a:r>
            <a:r>
              <a:t> </a:t>
            </a:r>
            <a:r>
              <a:rPr lang="en-US" err="1"/>
              <a:t>grants、migration</a:t>
            </a:r>
            <a:r>
              <a:t> 與 </a:t>
            </a:r>
            <a:r>
              <a:rPr lang="en-US" err="1"/>
              <a:t>retention。legacy</a:t>
            </a:r>
            <a:r>
              <a:t> JSONB adapter </a:t>
            </a:r>
            <a:r>
              <a:rPr lang="zh-TW" altLang="en-US" err="1"/>
              <a:t>仍可選，但不是本版</a:t>
            </a:r>
            <a:r>
              <a:t> Compose </a:t>
            </a:r>
            <a:r>
              <a:rPr lang="zh-TW" altLang="en-US" err="1"/>
              <a:t>預設</a:t>
            </a:r>
            <a:r>
              <a:t>。}</a:t>
            </a:r>
          </a:p>
          <a:p>
            <a:r>
              <a:t>{【</a:t>
            </a:r>
            <a:r>
              <a:rPr lang="zh-TW" altLang="en-US" err="1"/>
              <a:t>已實作</a:t>
            </a:r>
            <a:r>
              <a:rPr lang="en-US" altLang="zh-TW" err="1"/>
              <a:t>】</a:t>
            </a:r>
            <a:r>
              <a:rPr lang="en-US" err="1"/>
              <a:t>restricted</a:t>
            </a:r>
            <a:r>
              <a:t> YAML </a:t>
            </a:r>
            <a:r>
              <a:rPr lang="zh-TW" altLang="en-US" err="1"/>
              <a:t>解析、</a:t>
            </a:r>
            <a:r>
              <a:rPr lang="en-US" err="1"/>
              <a:t>rule</a:t>
            </a:r>
            <a:r>
              <a:t>/content </a:t>
            </a:r>
            <a:r>
              <a:rPr lang="en-US" err="1"/>
              <a:t>hash、</a:t>
            </a:r>
            <a:r>
              <a:rPr lang="zh-TW" altLang="en-US" err="1"/>
              <a:t>版本</a:t>
            </a:r>
            <a:r>
              <a:t> </a:t>
            </a:r>
            <a:r>
              <a:rPr lang="en-US" err="1"/>
              <a:t>pin、schema</a:t>
            </a:r>
            <a:r>
              <a:t> </a:t>
            </a:r>
            <a:r>
              <a:rPr lang="zh-TW" altLang="en-US" err="1"/>
              <a:t>驗證、三態觀察、</a:t>
            </a:r>
            <a:r>
              <a:rPr lang="en-US" altLang="zh-TW" err="1"/>
              <a:t>mode</a:t>
            </a:r>
            <a:r>
              <a:t> </a:t>
            </a:r>
            <a:r>
              <a:rPr lang="en-US" err="1"/>
              <a:t>policy、timerOps、Python／TypeScript</a:t>
            </a:r>
            <a:r>
              <a:t> </a:t>
            </a:r>
            <a:r>
              <a:rPr lang="zh-TW" altLang="en-US" err="1"/>
              <a:t>執行器與共用</a:t>
            </a:r>
            <a:r>
              <a:t> </a:t>
            </a:r>
            <a:r>
              <a:rPr lang="en-US" err="1"/>
              <a:t>fixtures；</a:t>
            </a:r>
            <a:r>
              <a:rPr lang="zh-TW" altLang="en-US" err="1"/>
              <a:t>前景計時器、</a:t>
            </a:r>
            <a:r>
              <a:rPr lang="en-US" err="1"/>
              <a:t>PCM</a:t>
            </a:r>
            <a:r>
              <a:t>/camera </a:t>
            </a:r>
            <a:r>
              <a:rPr lang="en-US" err="1"/>
              <a:t>adapters、media</a:t>
            </a:r>
            <a:r>
              <a:t> </a:t>
            </a:r>
            <a:r>
              <a:rPr lang="en-US" err="1"/>
              <a:t>gate、guidance</a:t>
            </a:r>
            <a:r>
              <a:t> lock </a:t>
            </a:r>
            <a:r>
              <a:rPr lang="zh-TW" altLang="en-US" err="1"/>
              <a:t>均有程式或測試</a:t>
            </a:r>
            <a:r>
              <a:t>。}</a:t>
            </a:r>
          </a:p>
          <a:p>
            <a:r>
              <a:t>{【</a:t>
            </a:r>
            <a:r>
              <a:rPr lang="zh-TW" altLang="en-US" err="1"/>
              <a:t>未完成</a:t>
            </a:r>
            <a:r>
              <a:rPr lang="en-US" altLang="zh-TW" err="1"/>
              <a:t>】</a:t>
            </a:r>
            <a:r>
              <a:rPr lang="zh-TW" altLang="en-US" err="1"/>
              <a:t>上述元件存在不代表全部已接到完整</a:t>
            </a:r>
            <a:r>
              <a:t> UI </a:t>
            </a:r>
            <a:r>
              <a:rPr lang="zh-TW" altLang="en-US" err="1"/>
              <a:t>操作；相機到模型理解、計時器／</a:t>
            </a:r>
            <a:r>
              <a:rPr lang="en-US" err="1"/>
              <a:t>clinical</a:t>
            </a:r>
            <a:r>
              <a:t> state </a:t>
            </a:r>
            <a:r>
              <a:rPr lang="zh-TW" altLang="en-US" err="1"/>
              <a:t>完整推進、離線規則完整交互、前後端全套</a:t>
            </a:r>
            <a:r>
              <a:t> </a:t>
            </a:r>
            <a:r>
              <a:rPr lang="en-US" err="1"/>
              <a:t>parity／browser／DB</a:t>
            </a:r>
            <a:r>
              <a:t> </a:t>
            </a:r>
            <a:r>
              <a:rPr lang="zh-TW" altLang="en-US" err="1"/>
              <a:t>實測需要另外驗證</a:t>
            </a:r>
            <a:r>
              <a:t>。}</a:t>
            </a:r>
          </a:p>
          <a:p>
            <a:r>
              <a:t>{【</a:t>
            </a:r>
            <a:r>
              <a:rPr lang="zh-TW" altLang="en-US" err="1"/>
              <a:t>本次驗證範圍</a:t>
            </a:r>
            <a:r>
              <a:rPr lang="en-US" altLang="zh-TW" err="1"/>
              <a:t>】</a:t>
            </a:r>
            <a:r>
              <a:rPr lang="zh-TW" altLang="en-US" err="1"/>
              <a:t>只重跑前述</a:t>
            </a:r>
            <a:r>
              <a:t> 448 domain </a:t>
            </a:r>
            <a:r>
              <a:rPr lang="en-US" err="1"/>
              <a:t>tests、</a:t>
            </a:r>
            <a:r>
              <a:rPr lang="zh-TW" altLang="en-US" err="1"/>
              <a:t>四個合成</a:t>
            </a:r>
            <a:r>
              <a:t> scenario 與 CSV </a:t>
            </a:r>
            <a:r>
              <a:rPr lang="en-US" err="1"/>
              <a:t>normalization；未重跑前端</a:t>
            </a:r>
            <a:r>
              <a:t> fixtures </a:t>
            </a:r>
            <a:r>
              <a:rPr lang="zh-TW" altLang="en-US" err="1"/>
              <a:t>或真實</a:t>
            </a:r>
            <a:r>
              <a:t> PostgreSQL。}</a:t>
            </a:r>
          </a:p>
          <a:p>
            <a:endParaRPr/>
          </a:p>
          <a:p>
            <a:r>
              <a:t>【</a:t>
            </a:r>
            <a:r>
              <a:rPr lang="zh-TW" altLang="en-US" err="1"/>
              <a:t>來源｜不朗讀</a:t>
            </a:r>
            <a:r>
              <a:t> / Source references】</a:t>
            </a:r>
          </a:p>
          <a:p>
            <a:r>
              <a:t>agent/app/services/incident/event_store.py</a:t>
            </a:r>
          </a:p>
          <a:p>
            <a:r>
              <a:t>agent/app/services/incident/ingestion.py</a:t>
            </a:r>
          </a:p>
          <a:p>
            <a:r>
              <a:t>agent/app/services/incident/scene_snapshot.py</a:t>
            </a:r>
          </a:p>
          <a:p>
            <a:r>
              <a:t>agent/app/services/incident/handoff.py</a:t>
            </a:r>
          </a:p>
          <a:p>
            <a:r>
              <a:t>agent/app/services/postgres_data/uow.py</a:t>
            </a:r>
          </a:p>
          <a:p>
            <a:r>
              <a:t>agent/app/services/rules/</a:t>
            </a:r>
          </a:p>
          <a:p>
            <a:r>
              <a:t>web/</a:t>
            </a:r>
            <a:r>
              <a:rPr lang="en-US" err="1"/>
              <a:t>src</a:t>
            </a:r>
            <a:r>
              <a:t>/lib/rules/</a:t>
            </a:r>
          </a:p>
          <a:p>
            <a:r>
              <a:t>web/</a:t>
            </a:r>
            <a:r>
              <a:rPr lang="en-US" err="1"/>
              <a:t>src</a:t>
            </a:r>
            <a:r>
              <a:t>/lib/media/</a:t>
            </a:r>
          </a:p>
          <a:p>
            <a:r>
              <a:t>web/</a:t>
            </a:r>
            <a:r>
              <a:rPr lang="en-US" err="1"/>
              <a:t>src</a:t>
            </a:r>
            <a:r>
              <a:t>/lib/offline/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9405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5577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210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602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049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7589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840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8826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6123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04987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4890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1336430"/>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001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002 Text: MEICHU HACKATHON / GOOGLE AI AGENTS"/>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MEICHU HACKATHON / GOOGLE AI AGENTS</a:t>
            </a:r>
          </a:p>
        </p:txBody>
      </p:sp>
      <p:cxnSp>
        <p:nvCxnSpPr>
          <p:cNvPr id="4" name="0003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5" name="0004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6" name="0005 Text: The dispatcher leads. The Agent assists."/>
          <p:cNvSpPr txBox="1">
            <a:spLocks/>
          </p:cNvSpPr>
          <p:nvPr/>
        </p:nvSpPr>
        <p:spPr>
          <a:xfrm>
            <a:off x="8046720" y="6556248"/>
            <a:ext cx="3685032" cy="137160"/>
          </a:xfrm>
          <a:prstGeom prst="rect">
            <a:avLst/>
          </a:prstGeom>
          <a:noFill/>
          <a:effectLst/>
        </p:spPr>
        <p:txBody>
          <a:bodyPr wrap="square" lIns="0" tIns="0" rIns="0" bIns="0">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7" name="0006 Text: First Aid&#10;Copilot"/>
          <p:cNvSpPr txBox="1">
            <a:spLocks/>
          </p:cNvSpPr>
          <p:nvPr/>
        </p:nvSpPr>
        <p:spPr>
          <a:xfrm>
            <a:off x="530352" y="1069848"/>
            <a:ext cx="5303520" cy="1508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4700" b="1" i="0" u="none" strike="noStrike" kern="1200" cap="none" spc="0" normalizeH="0" baseline="0" noProof="0">
                <a:ln>
                  <a:noFill/>
                </a:ln>
                <a:solidFill>
                  <a:srgbClr val="1E2D3D"/>
                </a:solidFill>
                <a:effectLst/>
                <a:uLnTx/>
                <a:uFillTx/>
                <a:latin typeface="Arial"/>
                <a:ea typeface="+mn-ea"/>
                <a:cs typeface="+mn-cs"/>
              </a:rPr>
              <a:t>First Aid</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4700" b="1" i="0" u="none" strike="noStrike" kern="1200" cap="none" spc="0" normalizeH="0" baseline="0" noProof="0">
                <a:ln>
                  <a:noFill/>
                </a:ln>
                <a:solidFill>
                  <a:srgbClr val="1E2D3D"/>
                </a:solidFill>
                <a:effectLst/>
                <a:uLnTx/>
                <a:uFillTx/>
                <a:latin typeface="Arial"/>
                <a:ea typeface="+mn-ea"/>
                <a:cs typeface="+mn-cs"/>
              </a:rPr>
              <a:t>Copilot</a:t>
            </a:r>
          </a:p>
        </p:txBody>
      </p:sp>
      <p:sp>
        <p:nvSpPr>
          <p:cNvPr id="8" name="0007 Text: The dispatcher leads.&#10;The Agent assists."/>
          <p:cNvSpPr txBox="1">
            <a:spLocks/>
          </p:cNvSpPr>
          <p:nvPr/>
        </p:nvSpPr>
        <p:spPr>
          <a:xfrm>
            <a:off x="548640" y="2953512"/>
            <a:ext cx="5074920" cy="9144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400" b="1" i="0" u="none" strike="noStrike" kern="1200" cap="none" spc="0" normalizeH="0" baseline="0" noProof="0">
                <a:ln>
                  <a:noFill/>
                </a:ln>
                <a:solidFill>
                  <a:srgbClr val="1E2D3D"/>
                </a:solidFill>
                <a:effectLst/>
                <a:uLnTx/>
                <a:uFillTx/>
                <a:latin typeface="Arial"/>
                <a:ea typeface="+mn-ea"/>
                <a:cs typeface="+mn-cs"/>
              </a:rPr>
              <a:t>The dispatcher leads.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400" b="1" i="0" u="none" strike="noStrike" kern="1200" cap="none" spc="0" normalizeH="0" baseline="0" noProof="0">
                <a:ln>
                  <a:noFill/>
                </a:ln>
                <a:solidFill>
                  <a:srgbClr val="1E2D3D"/>
                </a:solidFill>
                <a:effectLst/>
                <a:uLnTx/>
                <a:uFillTx/>
                <a:latin typeface="Arial"/>
                <a:ea typeface="+mn-ea"/>
                <a:cs typeface="+mn-cs"/>
              </a:rPr>
              <a:t>The Agent assists.</a:t>
            </a:r>
          </a:p>
        </p:txBody>
      </p:sp>
      <p:sp>
        <p:nvSpPr>
          <p:cNvPr id="9" name="0008 Text: Call information, AED tasks,&#10;and the handoff in "/>
          <p:cNvSpPr txBox="1">
            <a:spLocks/>
          </p:cNvSpPr>
          <p:nvPr/>
        </p:nvSpPr>
        <p:spPr>
          <a:xfrm>
            <a:off x="548640" y="4325112"/>
            <a:ext cx="4892040" cy="10058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100" b="0" i="0" u="none" strike="noStrike" kern="1200" cap="none" spc="0" normalizeH="0" baseline="0" noProof="0">
                <a:ln>
                  <a:noFill/>
                </a:ln>
                <a:solidFill>
                  <a:srgbClr val="657187"/>
                </a:solidFill>
                <a:effectLst/>
                <a:uLnTx/>
                <a:uFillTx/>
                <a:latin typeface="Arial"/>
                <a:ea typeface="+mn-ea"/>
                <a:cs typeface="+mn-cs"/>
              </a:rPr>
              <a:t>Call information, AED tasks,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100" b="0" i="0" u="none" strike="noStrike" kern="1200" cap="none" spc="0" normalizeH="0" baseline="0" noProof="0">
                <a:ln>
                  <a:noFill/>
                </a:ln>
                <a:solidFill>
                  <a:srgbClr val="657187"/>
                </a:solidFill>
                <a:effectLst/>
                <a:uLnTx/>
                <a:uFillTx/>
                <a:latin typeface="Arial"/>
                <a:ea typeface="+mn-ea"/>
                <a:cs typeface="+mn-cs"/>
              </a:rPr>
              <a:t>and the handoff in one place.</a:t>
            </a:r>
          </a:p>
        </p:txBody>
      </p:sp>
      <p:sp>
        <p:nvSpPr>
          <p:cNvPr id="11" name="0010 Text: HACKATHON PROTOTYPE"/>
          <p:cNvSpPr txBox="1"/>
          <p:nvPr/>
        </p:nvSpPr>
        <p:spPr>
          <a:xfrm>
            <a:off x="377620" y="5652224"/>
            <a:ext cx="5234079" cy="492955"/>
          </a:xfrm>
          <a:prstGeom prst="rect">
            <a:avLst/>
          </a:prstGeom>
          <a:noFill/>
          <a:effectLst/>
        </p:spPr>
        <p:txBody>
          <a:bodyPr wrap="square" lIns="0" tIns="0" rIns="0" bIns="0" anchor="ctr">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3200" b="1" i="0" u="none" strike="noStrike" kern="1200" cap="none" spc="0" normalizeH="0" baseline="0" noProof="0">
                <a:ln>
                  <a:noFill/>
                </a:ln>
                <a:solidFill>
                  <a:schemeClr val="tx1">
                    <a:lumMod val="65000"/>
                    <a:lumOff val="35000"/>
                  </a:schemeClr>
                </a:solidFill>
                <a:effectLst/>
                <a:uLnTx/>
                <a:uFillTx/>
                <a:latin typeface="Arial"/>
                <a:ea typeface="+mn-ea"/>
                <a:cs typeface="+mn-cs"/>
              </a:rPr>
              <a:t>TEAM:</a:t>
            </a:r>
            <a:r>
              <a:rPr kumimoji="0" lang="en-US" sz="3200" b="1" u="sng" strike="noStrike" kern="1200" cap="none" spc="0" normalizeH="0" baseline="0" noProof="0">
                <a:ln>
                  <a:noFill/>
                </a:ln>
                <a:solidFill>
                  <a:schemeClr val="tx1">
                    <a:lumMod val="65000"/>
                    <a:lumOff val="35000"/>
                  </a:schemeClr>
                </a:solidFill>
                <a:effectLst/>
                <a:uLnTx/>
                <a:uFillTx/>
                <a:latin typeface="Arial"/>
                <a:ea typeface="+mn-ea"/>
                <a:cs typeface="+mn-cs"/>
              </a:rPr>
              <a:t>05-高果糖玉米糖漿</a:t>
            </a:r>
          </a:p>
        </p:txBody>
      </p:sp>
      <p:sp>
        <p:nvSpPr>
          <p:cNvPr id="12" name="0011 Circle"/>
          <p:cNvSpPr/>
          <p:nvPr/>
        </p:nvSpPr>
        <p:spPr>
          <a:xfrm>
            <a:off x="6400800" y="1682496"/>
            <a:ext cx="4937760" cy="4937760"/>
          </a:xfrm>
          <a:prstGeom prst="ellipse">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0012 Circle"/>
          <p:cNvSpPr/>
          <p:nvPr/>
        </p:nvSpPr>
        <p:spPr>
          <a:xfrm>
            <a:off x="10405872" y="987552"/>
            <a:ext cx="1005840" cy="1005840"/>
          </a:xfrm>
          <a:prstGeom prst="ellipse">
            <a:avLst/>
          </a:prstGeom>
          <a:solidFill>
            <a:srgbClr val="FFF0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0013 Phone frame"/>
          <p:cNvSpPr/>
          <p:nvPr/>
        </p:nvSpPr>
        <p:spPr>
          <a:xfrm>
            <a:off x="7315200" y="941832"/>
            <a:ext cx="2962656" cy="4965192"/>
          </a:xfrm>
          <a:prstGeom prst="roundRect">
            <a:avLst>
              <a:gd name="adj" fmla="val 8641"/>
            </a:avLst>
          </a:prstGeom>
          <a:solidFill>
            <a:srgbClr val="FFFFFF"/>
          </a:solidFill>
          <a:ln w="41910">
            <a:solidFill>
              <a:srgbClr val="172B3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0014 Phone speaker"/>
          <p:cNvSpPr/>
          <p:nvPr/>
        </p:nvSpPr>
        <p:spPr>
          <a:xfrm>
            <a:off x="8257031" y="1106424"/>
            <a:ext cx="1088136" cy="109728"/>
          </a:xfrm>
          <a:prstGeom prst="roundRect">
            <a:avLst>
              <a:gd name="adj" fmla="val 25000"/>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0015 Text: First Aid Copilot"/>
          <p:cNvSpPr txBox="1"/>
          <p:nvPr/>
        </p:nvSpPr>
        <p:spPr>
          <a:xfrm>
            <a:off x="7525512" y="1389888"/>
            <a:ext cx="2532888"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00" b="1" i="0" u="none" strike="noStrike" kern="1200" cap="none" spc="0" normalizeH="0" baseline="0" noProof="0">
                <a:ln>
                  <a:noFill/>
                </a:ln>
                <a:solidFill>
                  <a:srgbClr val="1E2D3D"/>
                </a:solidFill>
                <a:effectLst/>
                <a:uLnTx/>
                <a:uFillTx/>
                <a:latin typeface="Arial"/>
                <a:ea typeface="+mn-ea"/>
                <a:cs typeface="+mn-cs"/>
              </a:rPr>
              <a:t>First Aid Copilot</a:t>
            </a:r>
          </a:p>
        </p:txBody>
      </p:sp>
      <p:sp>
        <p:nvSpPr>
          <p:cNvPr id="17" name="0016 Label background"/>
          <p:cNvSpPr/>
          <p:nvPr/>
        </p:nvSpPr>
        <p:spPr>
          <a:xfrm>
            <a:off x="7507224" y="1828800"/>
            <a:ext cx="2560320" cy="338328"/>
          </a:xfrm>
          <a:prstGeom prst="roundRect">
            <a:avLst>
              <a:gd name="adj" fmla="val 25000"/>
            </a:avLst>
          </a:prstGeom>
          <a:solidFill>
            <a:srgbClr val="FFF0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0017 Text: ON CALL · AGENT SILENT"/>
          <p:cNvSpPr txBox="1"/>
          <p:nvPr/>
        </p:nvSpPr>
        <p:spPr>
          <a:xfrm>
            <a:off x="7571232" y="1851660"/>
            <a:ext cx="2432303" cy="301752"/>
          </a:xfrm>
          <a:prstGeom prst="rect">
            <a:avLst/>
          </a:prstGeom>
          <a:noFill/>
          <a:effectLst/>
        </p:spPr>
        <p:txBody>
          <a:bodyPr wrap="square" lIns="0" tIns="0" rIns="0" bIns="0" anchor="ctr">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30" b="0" i="0" u="none" strike="noStrike" kern="1200" cap="none" spc="0" normalizeH="0" baseline="0" noProof="0">
                <a:ln>
                  <a:noFill/>
                </a:ln>
                <a:solidFill>
                  <a:srgbClr val="B42318"/>
                </a:solidFill>
                <a:effectLst/>
                <a:uLnTx/>
                <a:uFillTx/>
                <a:latin typeface="Arial"/>
                <a:ea typeface="+mn-ea"/>
                <a:cs typeface="+mn-cs"/>
              </a:rPr>
              <a:t>ON CALL · AGENT SILENT</a:t>
            </a:r>
          </a:p>
        </p:txBody>
      </p:sp>
      <p:sp>
        <p:nvSpPr>
          <p:cNvPr id="19" name="0018 Panel"/>
          <p:cNvSpPr/>
          <p:nvPr/>
        </p:nvSpPr>
        <p:spPr>
          <a:xfrm>
            <a:off x="7498079" y="2386584"/>
            <a:ext cx="2587752" cy="960120"/>
          </a:xfrm>
          <a:prstGeom prst="roundRect">
            <a:avLst>
              <a:gd name="adj" fmla="val 1142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0019 Text: CALL GUIDE"/>
          <p:cNvSpPr txBox="1"/>
          <p:nvPr/>
        </p:nvSpPr>
        <p:spPr>
          <a:xfrm>
            <a:off x="7671816" y="2523744"/>
            <a:ext cx="2240280" cy="20116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050" b="1" i="0" u="none" strike="noStrike" kern="1200" cap="none" spc="0" normalizeH="0" baseline="0" noProof="0">
                <a:ln>
                  <a:noFill/>
                </a:ln>
                <a:solidFill>
                  <a:srgbClr val="657187"/>
                </a:solidFill>
                <a:effectLst/>
                <a:uLnTx/>
                <a:uFillTx/>
                <a:latin typeface="Arial"/>
                <a:ea typeface="+mn-ea"/>
                <a:cs typeface="+mn-cs"/>
              </a:rPr>
              <a:t>CALL GUIDE</a:t>
            </a:r>
          </a:p>
        </p:txBody>
      </p:sp>
      <p:sp>
        <p:nvSpPr>
          <p:cNvPr id="21" name="0020 Text: Location, entrance,&#10;and reported events"/>
          <p:cNvSpPr txBox="1"/>
          <p:nvPr/>
        </p:nvSpPr>
        <p:spPr>
          <a:xfrm>
            <a:off x="7671816" y="2816352"/>
            <a:ext cx="2258568" cy="42976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70" b="1" i="0" u="none" strike="noStrike" kern="1200" cap="none" spc="0" normalizeH="0" baseline="0" noProof="0">
                <a:ln>
                  <a:noFill/>
                </a:ln>
                <a:solidFill>
                  <a:srgbClr val="1E2D3D"/>
                </a:solidFill>
                <a:effectLst/>
                <a:uLnTx/>
                <a:uFillTx/>
                <a:latin typeface="Arial"/>
                <a:ea typeface="+mn-ea"/>
                <a:cs typeface="+mn-cs"/>
              </a:rPr>
              <a:t>Location, entrance,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70" b="1" i="0" u="none" strike="noStrike" kern="1200" cap="none" spc="0" normalizeH="0" baseline="0" noProof="0">
                <a:ln>
                  <a:noFill/>
                </a:ln>
                <a:solidFill>
                  <a:srgbClr val="1E2D3D"/>
                </a:solidFill>
                <a:effectLst/>
                <a:uLnTx/>
                <a:uFillTx/>
                <a:latin typeface="Arial"/>
                <a:ea typeface="+mn-ea"/>
                <a:cs typeface="+mn-cs"/>
              </a:rPr>
              <a:t>and reported events</a:t>
            </a:r>
          </a:p>
        </p:txBody>
      </p:sp>
      <p:sp>
        <p:nvSpPr>
          <p:cNvPr id="22" name="0021 Panel"/>
          <p:cNvSpPr/>
          <p:nvPr/>
        </p:nvSpPr>
        <p:spPr>
          <a:xfrm>
            <a:off x="7498079" y="3557016"/>
            <a:ext cx="2587752" cy="1051560"/>
          </a:xfrm>
          <a:prstGeom prst="roundRect">
            <a:avLst>
              <a:gd name="adj" fmla="val 12173"/>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0022 Circle"/>
          <p:cNvSpPr/>
          <p:nvPr/>
        </p:nvSpPr>
        <p:spPr>
          <a:xfrm>
            <a:off x="7747254" y="3752697"/>
            <a:ext cx="96012" cy="96012"/>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4" name="0023 Connector"/>
          <p:cNvCxnSpPr/>
          <p:nvPr/>
        </p:nvCxnSpPr>
        <p:spPr>
          <a:xfrm>
            <a:off x="7795260" y="3851909"/>
            <a:ext cx="0" cy="11201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5" name="0024 Connector"/>
          <p:cNvCxnSpPr/>
          <p:nvPr/>
        </p:nvCxnSpPr>
        <p:spPr>
          <a:xfrm flipH="1">
            <a:off x="7686446" y="3883913"/>
            <a:ext cx="108814" cy="5760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6" name="0025 Connector"/>
          <p:cNvCxnSpPr/>
          <p:nvPr/>
        </p:nvCxnSpPr>
        <p:spPr>
          <a:xfrm>
            <a:off x="7795260" y="3883913"/>
            <a:ext cx="96011" cy="4800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7" name="0026 Connector"/>
          <p:cNvCxnSpPr/>
          <p:nvPr/>
        </p:nvCxnSpPr>
        <p:spPr>
          <a:xfrm flipH="1">
            <a:off x="7696047" y="3963924"/>
            <a:ext cx="99213" cy="8321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8" name="0027 Connector"/>
          <p:cNvCxnSpPr/>
          <p:nvPr/>
        </p:nvCxnSpPr>
        <p:spPr>
          <a:xfrm>
            <a:off x="7795260" y="3963924"/>
            <a:ext cx="99212" cy="8321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29" name="0028 Text: AED task"/>
          <p:cNvSpPr txBox="1"/>
          <p:nvPr/>
        </p:nvSpPr>
        <p:spPr>
          <a:xfrm>
            <a:off x="8138160" y="3721608"/>
            <a:ext cx="1792224" cy="320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00" b="1" i="0" u="none" strike="noStrike" kern="1200" cap="none" spc="0" normalizeH="0" baseline="0" noProof="0">
                <a:ln>
                  <a:noFill/>
                </a:ln>
                <a:solidFill>
                  <a:srgbClr val="155EEF"/>
                </a:solidFill>
                <a:effectLst/>
                <a:uLnTx/>
                <a:uFillTx/>
                <a:latin typeface="Arial"/>
                <a:ea typeface="+mn-ea"/>
                <a:cs typeface="+mn-cs"/>
              </a:rPr>
              <a:t>AED task</a:t>
            </a:r>
          </a:p>
        </p:txBody>
      </p:sp>
      <p:sp>
        <p:nvSpPr>
          <p:cNvPr id="30" name="0029 Text: Helper progress and updates"/>
          <p:cNvSpPr txBox="1"/>
          <p:nvPr/>
        </p:nvSpPr>
        <p:spPr>
          <a:xfrm>
            <a:off x="7680960" y="4178808"/>
            <a:ext cx="2212848"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150" b="0" i="0" u="none" strike="noStrike" kern="1200" cap="none" spc="0" normalizeH="0" baseline="0" noProof="0">
                <a:ln>
                  <a:noFill/>
                </a:ln>
                <a:solidFill>
                  <a:srgbClr val="155EEF"/>
                </a:solidFill>
                <a:effectLst/>
                <a:uLnTx/>
                <a:uFillTx/>
                <a:latin typeface="Arial"/>
                <a:ea typeface="+mn-ea"/>
                <a:cs typeface="+mn-cs"/>
              </a:rPr>
              <a:t>Helper progress and updates</a:t>
            </a:r>
          </a:p>
        </p:txBody>
      </p:sp>
      <p:sp>
        <p:nvSpPr>
          <p:cNvPr id="31" name="0030 Panel"/>
          <p:cNvSpPr/>
          <p:nvPr/>
        </p:nvSpPr>
        <p:spPr>
          <a:xfrm>
            <a:off x="7498079" y="4873752"/>
            <a:ext cx="1225296" cy="548640"/>
          </a:xfrm>
          <a:prstGeom prst="roundRect">
            <a:avLst>
              <a:gd name="adj" fmla="val 1666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0031 Text: Quick log"/>
          <p:cNvSpPr txBox="1"/>
          <p:nvPr/>
        </p:nvSpPr>
        <p:spPr>
          <a:xfrm>
            <a:off x="7580375" y="5029200"/>
            <a:ext cx="1060704"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50" b="1" i="0" u="none" strike="noStrike" kern="1200" cap="none" spc="0" normalizeH="0" baseline="0" noProof="0">
                <a:ln>
                  <a:noFill/>
                </a:ln>
                <a:solidFill>
                  <a:srgbClr val="1E2D3D"/>
                </a:solidFill>
                <a:effectLst/>
                <a:uLnTx/>
                <a:uFillTx/>
                <a:latin typeface="Arial"/>
                <a:ea typeface="+mn-ea"/>
                <a:cs typeface="+mn-cs"/>
              </a:rPr>
              <a:t>Quick log</a:t>
            </a:r>
          </a:p>
        </p:txBody>
      </p:sp>
      <p:sp>
        <p:nvSpPr>
          <p:cNvPr id="33" name="0032 Panel"/>
          <p:cNvSpPr/>
          <p:nvPr/>
        </p:nvSpPr>
        <p:spPr>
          <a:xfrm>
            <a:off x="8851392" y="4873752"/>
            <a:ext cx="1225296" cy="548640"/>
          </a:xfrm>
          <a:prstGeom prst="roundRect">
            <a:avLst>
              <a:gd name="adj" fmla="val 1666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0033 Text: Handoff"/>
          <p:cNvSpPr txBox="1"/>
          <p:nvPr/>
        </p:nvSpPr>
        <p:spPr>
          <a:xfrm>
            <a:off x="8933688" y="5029200"/>
            <a:ext cx="1060704"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50" b="1" i="0" u="none" strike="noStrike" kern="1200" cap="none" spc="0" normalizeH="0" baseline="0" noProof="0">
                <a:ln>
                  <a:noFill/>
                </a:ln>
                <a:solidFill>
                  <a:srgbClr val="1E2D3D"/>
                </a:solidFill>
                <a:effectLst/>
                <a:uLnTx/>
                <a:uFillTx/>
                <a:latin typeface="Arial"/>
                <a:ea typeface="+mn-ea"/>
                <a:cs typeface="+mn-cs"/>
              </a:rPr>
              <a:t>Handoff</a:t>
            </a:r>
          </a:p>
        </p:txBody>
      </p:sp>
      <p:sp>
        <p:nvSpPr>
          <p:cNvPr id="35" name="0034 Text: Shared incident record"/>
          <p:cNvSpPr txBox="1"/>
          <p:nvPr/>
        </p:nvSpPr>
        <p:spPr>
          <a:xfrm>
            <a:off x="7562088" y="5550408"/>
            <a:ext cx="2468880" cy="14630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869" b="0" i="0" u="none" strike="noStrike" kern="1200" cap="none" spc="0" normalizeH="0" baseline="0" noProof="0">
                <a:ln>
                  <a:noFill/>
                </a:ln>
                <a:solidFill>
                  <a:srgbClr val="657187"/>
                </a:solidFill>
                <a:effectLst/>
                <a:uLnTx/>
                <a:uFillTx/>
                <a:latin typeface="Arial"/>
                <a:ea typeface="+mn-ea"/>
                <a:cs typeface="+mn-cs"/>
              </a:rPr>
              <a:t>Shared incident record</a:t>
            </a:r>
          </a:p>
        </p:txBody>
      </p:sp>
      <p:sp>
        <p:nvSpPr>
          <p:cNvPr id="36" name="0035 Panel"/>
          <p:cNvSpPr/>
          <p:nvPr/>
        </p:nvSpPr>
        <p:spPr>
          <a:xfrm>
            <a:off x="5779007" y="4796028"/>
            <a:ext cx="1417320" cy="868680"/>
          </a:xfrm>
          <a:prstGeom prst="roundRect">
            <a:avLst>
              <a:gd name="adj" fmla="val 115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0036 phone icon"/>
          <p:cNvSpPr/>
          <p:nvPr/>
        </p:nvSpPr>
        <p:spPr>
          <a:xfrm>
            <a:off x="5990590" y="5113782"/>
            <a:ext cx="160020" cy="288036"/>
          </a:xfrm>
          <a:prstGeom prst="roundRect">
            <a:avLst>
              <a:gd name="adj" fmla="val 25000"/>
            </a:avLst>
          </a:prstGeom>
          <a:noFill/>
          <a:ln w="20320">
            <a:solidFill>
              <a:srgbClr val="B42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 name="0037 Connector"/>
          <p:cNvCxnSpPr/>
          <p:nvPr/>
        </p:nvCxnSpPr>
        <p:spPr>
          <a:xfrm>
            <a:off x="6038596" y="5152187"/>
            <a:ext cx="64008"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39" name="0038 Connector"/>
          <p:cNvCxnSpPr/>
          <p:nvPr/>
        </p:nvCxnSpPr>
        <p:spPr>
          <a:xfrm>
            <a:off x="6048197" y="5363413"/>
            <a:ext cx="44805"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sp>
        <p:nvSpPr>
          <p:cNvPr id="40" name="0039 Text: Call"/>
          <p:cNvSpPr txBox="1"/>
          <p:nvPr/>
        </p:nvSpPr>
        <p:spPr>
          <a:xfrm>
            <a:off x="6257234" y="5158095"/>
            <a:ext cx="915122" cy="230769"/>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1" i="0" u="none" strike="noStrike" kern="1200" cap="none" spc="0" normalizeH="0" baseline="0" noProof="0">
                <a:ln>
                  <a:noFill/>
                </a:ln>
                <a:solidFill>
                  <a:srgbClr val="1E2D3D"/>
                </a:solidFill>
                <a:effectLst/>
                <a:uLnTx/>
                <a:uFillTx/>
                <a:latin typeface="Arial"/>
                <a:ea typeface="+mn-ea"/>
                <a:cs typeface="+mn-cs"/>
              </a:rPr>
              <a:t>Call</a:t>
            </a:r>
            <a:r>
              <a:rPr kumimoji="0" lang="zh-TW" altLang="en-US" sz="1500" b="1" i="0" u="none" strike="noStrike" kern="1200" cap="none" spc="0" normalizeH="0" baseline="0" noProof="0">
                <a:ln>
                  <a:noFill/>
                </a:ln>
                <a:solidFill>
                  <a:srgbClr val="1E2D3D"/>
                </a:solidFill>
                <a:effectLst/>
                <a:uLnTx/>
                <a:uFillTx/>
                <a:latin typeface="Arial"/>
                <a:ea typeface="+mn-ea"/>
                <a:cs typeface="+mn-cs"/>
              </a:rPr>
              <a:t> </a:t>
            </a:r>
            <a:r>
              <a:rPr kumimoji="0" lang="en-US" altLang="zh-TW" sz="1500" b="1" i="0" u="none" strike="noStrike" kern="1200" cap="none" spc="0" normalizeH="0" baseline="0" noProof="0">
                <a:ln>
                  <a:noFill/>
                </a:ln>
                <a:solidFill>
                  <a:srgbClr val="1E2D3D"/>
                </a:solidFill>
                <a:effectLst/>
                <a:uLnTx/>
                <a:uFillTx/>
                <a:latin typeface="Arial"/>
                <a:ea typeface="+mn-ea"/>
                <a:cs typeface="+mn-cs"/>
              </a:rPr>
              <a:t>119</a:t>
            </a:r>
            <a:endParaRPr kumimoji="0" lang="en-US" sz="1500" b="1" i="0" u="none" strike="noStrike" kern="1200" cap="none" spc="0" normalizeH="0" baseline="0" noProof="0">
              <a:ln>
                <a:noFill/>
              </a:ln>
              <a:solidFill>
                <a:srgbClr val="1E2D3D"/>
              </a:solidFill>
              <a:effectLst/>
              <a:uLnTx/>
              <a:uFillTx/>
              <a:latin typeface="Arial"/>
              <a:ea typeface="+mn-ea"/>
              <a:cs typeface="+mn-cs"/>
            </a:endParaRPr>
          </a:p>
        </p:txBody>
      </p:sp>
      <p:cxnSp>
        <p:nvCxnSpPr>
          <p:cNvPr id="41" name="0040 Connector"/>
          <p:cNvCxnSpPr/>
          <p:nvPr/>
        </p:nvCxnSpPr>
        <p:spPr>
          <a:xfrm>
            <a:off x="7214615" y="5225796"/>
            <a:ext cx="210312" cy="0"/>
          </a:xfrm>
          <a:prstGeom prst="line">
            <a:avLst/>
          </a:prstGeom>
          <a:ln w="2286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53" name="圖片 52">
            <a:extLst>
              <a:ext uri="{FF2B5EF4-FFF2-40B4-BE49-F238E27FC236}">
                <a16:creationId xmlns:a16="http://schemas.microsoft.com/office/drawing/2014/main" id="{F2AA09FA-AB10-C0FA-2CC9-1C06AED7962E}"/>
              </a:ext>
            </a:extLst>
          </p:cNvPr>
          <p:cNvPicPr>
            <a:picLocks noChangeAspect="1"/>
          </p:cNvPicPr>
          <p:nvPr/>
        </p:nvPicPr>
        <p:blipFill>
          <a:blip r:embed="rId3"/>
          <a:stretch>
            <a:fillRect/>
          </a:stretch>
        </p:blipFill>
        <p:spPr>
          <a:xfrm>
            <a:off x="10478302" y="-98563"/>
            <a:ext cx="1719794" cy="1719794"/>
          </a:xfrm>
          <a:prstGeom prst="rect">
            <a:avLst/>
          </a:prstGeom>
        </p:spPr>
      </p:pic>
      <p:pic>
        <p:nvPicPr>
          <p:cNvPr id="51" name="圖片 50">
            <a:extLst>
              <a:ext uri="{FF2B5EF4-FFF2-40B4-BE49-F238E27FC236}">
                <a16:creationId xmlns:a16="http://schemas.microsoft.com/office/drawing/2014/main" id="{D07F94B5-22A6-D2FC-5495-582007721B95}"/>
              </a:ext>
            </a:extLst>
          </p:cNvPr>
          <p:cNvPicPr>
            <a:picLocks noChangeAspect="1"/>
          </p:cNvPicPr>
          <p:nvPr/>
        </p:nvPicPr>
        <p:blipFill>
          <a:blip r:embed="rId4"/>
          <a:stretch>
            <a:fillRect/>
          </a:stretch>
        </p:blipFill>
        <p:spPr>
          <a:xfrm>
            <a:off x="7456931" y="971844"/>
            <a:ext cx="2637324" cy="49051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049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050 Text: THE PROBLEM"/>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THE PROBLEM</a:t>
            </a:r>
          </a:p>
        </p:txBody>
      </p:sp>
      <p:sp>
        <p:nvSpPr>
          <p:cNvPr id="4" name="0051 Text: The call is only one part of the job."/>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The call is only one part of the job.</a:t>
            </a:r>
          </a:p>
        </p:txBody>
      </p:sp>
      <p:sp>
        <p:nvSpPr>
          <p:cNvPr id="5" name="0052 Text: Different people hold different pieces of the sa"/>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Different people hold different pieces of the same emergency.</a:t>
            </a:r>
          </a:p>
        </p:txBody>
      </p:sp>
      <p:cxnSp>
        <p:nvCxnSpPr>
          <p:cNvPr id="6" name="0053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054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055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056 Panel"/>
          <p:cNvSpPr/>
          <p:nvPr/>
        </p:nvSpPr>
        <p:spPr>
          <a:xfrm>
            <a:off x="457200" y="2093976"/>
            <a:ext cx="2670048" cy="3346704"/>
          </a:xfrm>
          <a:prstGeom prst="roundRect">
            <a:avLst>
              <a:gd name="adj" fmla="val 513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057 phone icon"/>
          <p:cNvSpPr/>
          <p:nvPr/>
        </p:nvSpPr>
        <p:spPr>
          <a:xfrm>
            <a:off x="772668" y="2331720"/>
            <a:ext cx="228600" cy="411480"/>
          </a:xfrm>
          <a:prstGeom prst="roundRect">
            <a:avLst>
              <a:gd name="adj" fmla="val 25000"/>
            </a:avLst>
          </a:prstGeom>
          <a:noFill/>
          <a:ln w="20320">
            <a:solidFill>
              <a:srgbClr val="B42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 name="0058 Connector"/>
          <p:cNvCxnSpPr/>
          <p:nvPr/>
        </p:nvCxnSpPr>
        <p:spPr>
          <a:xfrm>
            <a:off x="841247" y="2386584"/>
            <a:ext cx="91441"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12" name="0059 Connector"/>
          <p:cNvCxnSpPr/>
          <p:nvPr/>
        </p:nvCxnSpPr>
        <p:spPr>
          <a:xfrm>
            <a:off x="854964" y="2688336"/>
            <a:ext cx="64007"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sp>
        <p:nvSpPr>
          <p:cNvPr id="13" name="0060 Text: Primary rescuer"/>
          <p:cNvSpPr txBox="1"/>
          <p:nvPr/>
        </p:nvSpPr>
        <p:spPr>
          <a:xfrm>
            <a:off x="658368" y="3017520"/>
            <a:ext cx="2258568"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1E2D3D"/>
                </a:solidFill>
                <a:effectLst/>
                <a:uLnTx/>
                <a:uFillTx/>
                <a:latin typeface="Arial"/>
                <a:ea typeface="+mn-ea"/>
                <a:cs typeface="+mn-cs"/>
              </a:rPr>
              <a:t>Primary rescuer</a:t>
            </a:r>
          </a:p>
        </p:txBody>
      </p:sp>
      <p:sp>
        <p:nvSpPr>
          <p:cNvPr id="14" name="0061 Text: Make the call.&#10;Keep a record."/>
          <p:cNvSpPr txBox="1"/>
          <p:nvPr/>
        </p:nvSpPr>
        <p:spPr>
          <a:xfrm>
            <a:off x="658368" y="3675887"/>
            <a:ext cx="225856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Make the call.</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Keep a record.</a:t>
            </a:r>
          </a:p>
        </p:txBody>
      </p:sp>
      <p:cxnSp>
        <p:nvCxnSpPr>
          <p:cNvPr id="15" name="0062 Connector"/>
          <p:cNvCxnSpPr/>
          <p:nvPr/>
        </p:nvCxnSpPr>
        <p:spPr>
          <a:xfrm>
            <a:off x="658368" y="4590288"/>
            <a:ext cx="2258568" cy="0"/>
          </a:xfrm>
          <a:prstGeom prst="line">
            <a:avLst/>
          </a:prstGeom>
          <a:ln w="12700">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16" name="0063 Text: Where is the entrance?"/>
          <p:cNvSpPr txBox="1"/>
          <p:nvPr/>
        </p:nvSpPr>
        <p:spPr>
          <a:xfrm>
            <a:off x="658368" y="4764024"/>
            <a:ext cx="2258568"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B42318"/>
                </a:solidFill>
                <a:effectLst/>
                <a:uLnTx/>
                <a:uFillTx/>
                <a:latin typeface="Arial"/>
                <a:ea typeface="+mn-ea"/>
                <a:cs typeface="+mn-cs"/>
              </a:rPr>
              <a:t>Where is the entrance?</a:t>
            </a:r>
          </a:p>
        </p:txBody>
      </p:sp>
      <p:sp>
        <p:nvSpPr>
          <p:cNvPr id="17" name="0064 Panel"/>
          <p:cNvSpPr/>
          <p:nvPr/>
        </p:nvSpPr>
        <p:spPr>
          <a:xfrm>
            <a:off x="3328416" y="2093976"/>
            <a:ext cx="2670048" cy="3346704"/>
          </a:xfrm>
          <a:prstGeom prst="roundRect">
            <a:avLst>
              <a:gd name="adj" fmla="val 513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0065 aed icon"/>
          <p:cNvSpPr/>
          <p:nvPr/>
        </p:nvSpPr>
        <p:spPr>
          <a:xfrm>
            <a:off x="3557016" y="2404872"/>
            <a:ext cx="402336" cy="310896"/>
          </a:xfrm>
          <a:prstGeom prst="roundRect">
            <a:avLst>
              <a:gd name="adj" fmla="val 17647"/>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0066 Text: AED"/>
          <p:cNvSpPr txBox="1"/>
          <p:nvPr/>
        </p:nvSpPr>
        <p:spPr>
          <a:xfrm>
            <a:off x="3589020" y="2496312"/>
            <a:ext cx="338328" cy="13716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5EEF"/>
                </a:solidFill>
                <a:effectLst/>
                <a:uLnTx/>
                <a:uFillTx/>
                <a:latin typeface="Arial"/>
                <a:ea typeface="+mn-ea"/>
                <a:cs typeface="+mn-cs"/>
              </a:rPr>
              <a:t>AED</a:t>
            </a:r>
          </a:p>
        </p:txBody>
      </p:sp>
      <p:sp>
        <p:nvSpPr>
          <p:cNvPr id="20" name="0067 aed icon"/>
          <p:cNvSpPr/>
          <p:nvPr/>
        </p:nvSpPr>
        <p:spPr>
          <a:xfrm>
            <a:off x="3685032" y="2327148"/>
            <a:ext cx="146304" cy="82296"/>
          </a:xfrm>
          <a:prstGeom prst="roundRect">
            <a:avLst>
              <a:gd name="adj" fmla="val 25000"/>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0068 Text: AED runner"/>
          <p:cNvSpPr txBox="1"/>
          <p:nvPr/>
        </p:nvSpPr>
        <p:spPr>
          <a:xfrm>
            <a:off x="3529584" y="3017520"/>
            <a:ext cx="2258568"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1E2D3D"/>
                </a:solidFill>
                <a:effectLst/>
                <a:uLnTx/>
                <a:uFillTx/>
                <a:latin typeface="Arial"/>
                <a:ea typeface="+mn-ea"/>
                <a:cs typeface="+mn-cs"/>
              </a:rPr>
              <a:t>AED runner</a:t>
            </a:r>
          </a:p>
        </p:txBody>
      </p:sp>
      <p:sp>
        <p:nvSpPr>
          <p:cNvPr id="22" name="0069 Text: Find the device.&#10;Report the outcome."/>
          <p:cNvSpPr txBox="1"/>
          <p:nvPr/>
        </p:nvSpPr>
        <p:spPr>
          <a:xfrm>
            <a:off x="3529584" y="3675887"/>
            <a:ext cx="225856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Find the device.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Report the outcome.</a:t>
            </a:r>
          </a:p>
        </p:txBody>
      </p:sp>
      <p:cxnSp>
        <p:nvCxnSpPr>
          <p:cNvPr id="23" name="0070 Connector"/>
          <p:cNvCxnSpPr/>
          <p:nvPr/>
        </p:nvCxnSpPr>
        <p:spPr>
          <a:xfrm>
            <a:off x="3529584" y="4590288"/>
            <a:ext cx="2258568" cy="0"/>
          </a:xfrm>
          <a:prstGeom prst="line">
            <a:avLst/>
          </a:prstGeom>
          <a:ln w="12700">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24" name="0071 Text: What if access is blocked?"/>
          <p:cNvSpPr txBox="1"/>
          <p:nvPr/>
        </p:nvSpPr>
        <p:spPr>
          <a:xfrm>
            <a:off x="3529584" y="4764024"/>
            <a:ext cx="2258568"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155EEF"/>
                </a:solidFill>
                <a:effectLst/>
                <a:uLnTx/>
                <a:uFillTx/>
                <a:latin typeface="Arial"/>
                <a:ea typeface="+mn-ea"/>
                <a:cs typeface="+mn-cs"/>
              </a:rPr>
              <a:t>What if access is blocked?</a:t>
            </a:r>
          </a:p>
        </p:txBody>
      </p:sp>
      <p:sp>
        <p:nvSpPr>
          <p:cNvPr id="25" name="0072 Panel"/>
          <p:cNvSpPr/>
          <p:nvPr/>
        </p:nvSpPr>
        <p:spPr>
          <a:xfrm>
            <a:off x="6199632" y="2093976"/>
            <a:ext cx="2670048" cy="3346704"/>
          </a:xfrm>
          <a:prstGeom prst="roundRect">
            <a:avLst>
              <a:gd name="adj" fmla="val 513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0073 Circle"/>
          <p:cNvSpPr/>
          <p:nvPr/>
        </p:nvSpPr>
        <p:spPr>
          <a:xfrm>
            <a:off x="6560820" y="2331720"/>
            <a:ext cx="137160" cy="137160"/>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7" name="0074 Connector"/>
          <p:cNvCxnSpPr/>
          <p:nvPr/>
        </p:nvCxnSpPr>
        <p:spPr>
          <a:xfrm>
            <a:off x="6629400" y="2473451"/>
            <a:ext cx="0" cy="16002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8" name="0075 Connector"/>
          <p:cNvCxnSpPr/>
          <p:nvPr/>
        </p:nvCxnSpPr>
        <p:spPr>
          <a:xfrm flipH="1">
            <a:off x="6473952" y="2519172"/>
            <a:ext cx="155448" cy="8229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9" name="0076 Connector"/>
          <p:cNvCxnSpPr/>
          <p:nvPr/>
        </p:nvCxnSpPr>
        <p:spPr>
          <a:xfrm>
            <a:off x="6629400" y="2519172"/>
            <a:ext cx="137160" cy="6857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0" name="0077 Connector"/>
          <p:cNvCxnSpPr/>
          <p:nvPr/>
        </p:nvCxnSpPr>
        <p:spPr>
          <a:xfrm flipH="1">
            <a:off x="6487668" y="2633472"/>
            <a:ext cx="141732" cy="11887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1" name="0078 Connector"/>
          <p:cNvCxnSpPr/>
          <p:nvPr/>
        </p:nvCxnSpPr>
        <p:spPr>
          <a:xfrm>
            <a:off x="6629400" y="2633472"/>
            <a:ext cx="141732" cy="11887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2" name="0079 Text: Ambulance greeter"/>
          <p:cNvSpPr txBox="1"/>
          <p:nvPr/>
        </p:nvSpPr>
        <p:spPr>
          <a:xfrm>
            <a:off x="6400800" y="3017520"/>
            <a:ext cx="2258568"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1E2D3D"/>
                </a:solidFill>
                <a:effectLst/>
                <a:uLnTx/>
                <a:uFillTx/>
                <a:latin typeface="Arial"/>
                <a:ea typeface="+mn-ea"/>
                <a:cs typeface="+mn-cs"/>
              </a:rPr>
              <a:t>Ambulance greeter</a:t>
            </a:r>
          </a:p>
        </p:txBody>
      </p:sp>
      <p:sp>
        <p:nvSpPr>
          <p:cNvPr id="33" name="0080 Text: Meet the crew.&#10;Show the way in."/>
          <p:cNvSpPr txBox="1"/>
          <p:nvPr/>
        </p:nvSpPr>
        <p:spPr>
          <a:xfrm>
            <a:off x="6400800" y="3675887"/>
            <a:ext cx="225856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Meet the crew.</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Show the way in.</a:t>
            </a:r>
          </a:p>
        </p:txBody>
      </p:sp>
      <p:cxnSp>
        <p:nvCxnSpPr>
          <p:cNvPr id="34" name="0081 Connector"/>
          <p:cNvCxnSpPr/>
          <p:nvPr/>
        </p:nvCxnSpPr>
        <p:spPr>
          <a:xfrm>
            <a:off x="6400800" y="4590288"/>
            <a:ext cx="2258568" cy="0"/>
          </a:xfrm>
          <a:prstGeom prst="line">
            <a:avLst/>
          </a:prstGeom>
          <a:ln w="12700">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35" name="0082 Text: Which entrance should I use?"/>
          <p:cNvSpPr txBox="1"/>
          <p:nvPr/>
        </p:nvSpPr>
        <p:spPr>
          <a:xfrm>
            <a:off x="6400800" y="4764024"/>
            <a:ext cx="2258568"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155EEF"/>
                </a:solidFill>
                <a:effectLst/>
                <a:uLnTx/>
                <a:uFillTx/>
                <a:latin typeface="Arial"/>
                <a:ea typeface="+mn-ea"/>
                <a:cs typeface="+mn-cs"/>
              </a:rPr>
              <a:t>Which entrance should I use?</a:t>
            </a:r>
          </a:p>
        </p:txBody>
      </p:sp>
      <p:sp>
        <p:nvSpPr>
          <p:cNvPr id="36" name="0083 Panel"/>
          <p:cNvSpPr/>
          <p:nvPr/>
        </p:nvSpPr>
        <p:spPr>
          <a:xfrm>
            <a:off x="9070848" y="2093976"/>
            <a:ext cx="2670048" cy="3346704"/>
          </a:xfrm>
          <a:prstGeom prst="roundRect">
            <a:avLst>
              <a:gd name="adj" fmla="val 513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0084 clipboard icon"/>
          <p:cNvSpPr/>
          <p:nvPr/>
        </p:nvSpPr>
        <p:spPr>
          <a:xfrm>
            <a:off x="9358884" y="2386584"/>
            <a:ext cx="292608" cy="365760"/>
          </a:xfrm>
          <a:prstGeom prst="roundRect">
            <a:avLst>
              <a:gd name="adj" fmla="val 18750"/>
            </a:avLst>
          </a:prstGeom>
          <a:noFill/>
          <a:ln w="20320">
            <a:solidFill>
              <a:srgbClr val="087F5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0085 clipboard icon"/>
          <p:cNvSpPr/>
          <p:nvPr/>
        </p:nvSpPr>
        <p:spPr>
          <a:xfrm>
            <a:off x="9436608" y="2331720"/>
            <a:ext cx="141732" cy="96012"/>
          </a:xfrm>
          <a:prstGeom prst="roundRect">
            <a:avLst>
              <a:gd name="adj" fmla="val 25000"/>
            </a:avLst>
          </a:prstGeom>
          <a:solidFill>
            <a:srgbClr val="F5F2EB"/>
          </a:solidFill>
          <a:ln w="20320">
            <a:solidFill>
              <a:srgbClr val="087F5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9" name="0086 Connector"/>
          <p:cNvCxnSpPr/>
          <p:nvPr/>
        </p:nvCxnSpPr>
        <p:spPr>
          <a:xfrm>
            <a:off x="9427464" y="2510027"/>
            <a:ext cx="155448" cy="0"/>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40" name="0087 Connector"/>
          <p:cNvCxnSpPr/>
          <p:nvPr/>
        </p:nvCxnSpPr>
        <p:spPr>
          <a:xfrm>
            <a:off x="9427464" y="2592324"/>
            <a:ext cx="155448" cy="0"/>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41" name="0088 Connector"/>
          <p:cNvCxnSpPr/>
          <p:nvPr/>
        </p:nvCxnSpPr>
        <p:spPr>
          <a:xfrm>
            <a:off x="9427464" y="2674620"/>
            <a:ext cx="105156" cy="0"/>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sp>
        <p:nvSpPr>
          <p:cNvPr id="42" name="0089 Text: EMS recipient"/>
          <p:cNvSpPr txBox="1"/>
          <p:nvPr/>
        </p:nvSpPr>
        <p:spPr>
          <a:xfrm>
            <a:off x="9272016" y="3017520"/>
            <a:ext cx="2258568"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1E2D3D"/>
                </a:solidFill>
                <a:effectLst/>
                <a:uLnTx/>
                <a:uFillTx/>
                <a:latin typeface="Arial"/>
                <a:ea typeface="+mn-ea"/>
                <a:cs typeface="+mn-cs"/>
              </a:rPr>
              <a:t>EMS recipient</a:t>
            </a:r>
          </a:p>
        </p:txBody>
      </p:sp>
      <p:sp>
        <p:nvSpPr>
          <p:cNvPr id="43" name="0090 Text: Read the scene.&#10;Continue the response."/>
          <p:cNvSpPr txBox="1"/>
          <p:nvPr/>
        </p:nvSpPr>
        <p:spPr>
          <a:xfrm>
            <a:off x="9272016" y="3675887"/>
            <a:ext cx="225856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Read the scene.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Continue the response.</a:t>
            </a:r>
          </a:p>
        </p:txBody>
      </p:sp>
      <p:cxnSp>
        <p:nvCxnSpPr>
          <p:cNvPr id="44" name="0091 Connector"/>
          <p:cNvCxnSpPr/>
          <p:nvPr/>
        </p:nvCxnSpPr>
        <p:spPr>
          <a:xfrm>
            <a:off x="9272016" y="4590288"/>
            <a:ext cx="2258568" cy="0"/>
          </a:xfrm>
          <a:prstGeom prst="line">
            <a:avLst/>
          </a:prstGeom>
          <a:ln w="12700">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45" name="0092 Text: What has already happened?"/>
          <p:cNvSpPr txBox="1"/>
          <p:nvPr/>
        </p:nvSpPr>
        <p:spPr>
          <a:xfrm>
            <a:off x="9272016" y="4764024"/>
            <a:ext cx="2258568"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087F5B"/>
                </a:solidFill>
                <a:effectLst/>
                <a:uLnTx/>
                <a:uFillTx/>
                <a:latin typeface="Arial"/>
                <a:ea typeface="+mn-ea"/>
                <a:cs typeface="+mn-cs"/>
              </a:rPr>
              <a:t>What has already happened?</a:t>
            </a:r>
          </a:p>
        </p:txBody>
      </p:sp>
      <p:sp>
        <p:nvSpPr>
          <p:cNvPr id="46" name="0093 Panel"/>
          <p:cNvSpPr/>
          <p:nvPr/>
        </p:nvSpPr>
        <p:spPr>
          <a:xfrm>
            <a:off x="457200" y="5687568"/>
            <a:ext cx="11283696" cy="502920"/>
          </a:xfrm>
          <a:prstGeom prst="roundRect">
            <a:avLst>
              <a:gd name="adj" fmla="val 18181"/>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0094 Text: Shared facts and clear tasks, without interrupti"/>
          <p:cNvSpPr txBox="1"/>
          <p:nvPr/>
        </p:nvSpPr>
        <p:spPr>
          <a:xfrm>
            <a:off x="658368" y="5815584"/>
            <a:ext cx="10881360" cy="26517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Arial"/>
                <a:ea typeface="+mn-ea"/>
                <a:cs typeface="+mn-cs"/>
              </a:rPr>
              <a:t>Shared facts and clear tasks, without interrupting the dispatcher.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095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096 Text: THE RESCUER EXPERIENCE"/>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THE RESCUER EXPERIENCE</a:t>
            </a:r>
          </a:p>
        </p:txBody>
      </p:sp>
      <p:sp>
        <p:nvSpPr>
          <p:cNvPr id="4" name="0097 Text: Call first. Keep the screen useful."/>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Call first. Keep the screen useful.</a:t>
            </a:r>
          </a:p>
        </p:txBody>
      </p:sp>
      <p:sp>
        <p:nvSpPr>
          <p:cNvPr id="5" name="0098 Text: The screen supports the call; it does not compet"/>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The screen supports the call; it does not compete with it.</a:t>
            </a:r>
          </a:p>
        </p:txBody>
      </p:sp>
      <p:cxnSp>
        <p:nvCxnSpPr>
          <p:cNvPr id="6" name="0099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100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101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102 Panel"/>
          <p:cNvSpPr/>
          <p:nvPr/>
        </p:nvSpPr>
        <p:spPr>
          <a:xfrm>
            <a:off x="457200" y="2075688"/>
            <a:ext cx="3621024" cy="3447288"/>
          </a:xfrm>
          <a:prstGeom prst="roundRect">
            <a:avLst>
              <a:gd name="adj" fmla="val 39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103 Panel"/>
          <p:cNvSpPr/>
          <p:nvPr/>
        </p:nvSpPr>
        <p:spPr>
          <a:xfrm>
            <a:off x="4288536" y="2075688"/>
            <a:ext cx="3621024" cy="3447288"/>
          </a:xfrm>
          <a:prstGeom prst="roundRect">
            <a:avLst>
              <a:gd name="adj" fmla="val 39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0104 Panel"/>
          <p:cNvSpPr/>
          <p:nvPr/>
        </p:nvSpPr>
        <p:spPr>
          <a:xfrm>
            <a:off x="8119872" y="2075688"/>
            <a:ext cx="3621024" cy="3447288"/>
          </a:xfrm>
          <a:prstGeom prst="roundRect">
            <a:avLst>
              <a:gd name="adj" fmla="val 39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0105 phone icon"/>
          <p:cNvSpPr/>
          <p:nvPr/>
        </p:nvSpPr>
        <p:spPr>
          <a:xfrm>
            <a:off x="749808" y="2303556"/>
            <a:ext cx="219456" cy="395020"/>
          </a:xfrm>
          <a:prstGeom prst="roundRect">
            <a:avLst>
              <a:gd name="adj" fmla="val 25000"/>
            </a:avLst>
          </a:prstGeom>
          <a:noFill/>
          <a:ln w="20320">
            <a:solidFill>
              <a:srgbClr val="B42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 name="0106 Connector"/>
          <p:cNvCxnSpPr/>
          <p:nvPr/>
        </p:nvCxnSpPr>
        <p:spPr>
          <a:xfrm>
            <a:off x="815644" y="2356225"/>
            <a:ext cx="87783"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14" name="0107 Connector"/>
          <p:cNvCxnSpPr/>
          <p:nvPr/>
        </p:nvCxnSpPr>
        <p:spPr>
          <a:xfrm>
            <a:off x="828812" y="2645907"/>
            <a:ext cx="61447"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sp>
        <p:nvSpPr>
          <p:cNvPr id="15" name="0108 Text: Start with the call"/>
          <p:cNvSpPr txBox="1"/>
          <p:nvPr/>
        </p:nvSpPr>
        <p:spPr>
          <a:xfrm>
            <a:off x="1261872" y="2377440"/>
            <a:ext cx="2615184" cy="5120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Start with the call</a:t>
            </a:r>
          </a:p>
        </p:txBody>
      </p:sp>
      <p:sp>
        <p:nvSpPr>
          <p:cNvPr id="16" name="0109 clipboard icon"/>
          <p:cNvSpPr/>
          <p:nvPr/>
        </p:nvSpPr>
        <p:spPr>
          <a:xfrm>
            <a:off x="4554809" y="2356225"/>
            <a:ext cx="280903" cy="351129"/>
          </a:xfrm>
          <a:prstGeom prst="roundRect">
            <a:avLst>
              <a:gd name="adj" fmla="val 19531"/>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0110 clipboard icon"/>
          <p:cNvSpPr/>
          <p:nvPr/>
        </p:nvSpPr>
        <p:spPr>
          <a:xfrm>
            <a:off x="4629424" y="2303556"/>
            <a:ext cx="136062" cy="92171"/>
          </a:xfrm>
          <a:prstGeom prst="roundRect">
            <a:avLst>
              <a:gd name="adj" fmla="val 25000"/>
            </a:avLst>
          </a:prstGeom>
          <a:solidFill>
            <a:srgbClr val="F5F2EB"/>
          </a:solid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8" name="0111 Connector"/>
          <p:cNvCxnSpPr/>
          <p:nvPr/>
        </p:nvCxnSpPr>
        <p:spPr>
          <a:xfrm>
            <a:off x="4620646" y="2474732"/>
            <a:ext cx="14923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9" name="0112 Connector"/>
          <p:cNvCxnSpPr/>
          <p:nvPr/>
        </p:nvCxnSpPr>
        <p:spPr>
          <a:xfrm>
            <a:off x="4620646" y="2553736"/>
            <a:ext cx="14923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0" name="0113 Connector"/>
          <p:cNvCxnSpPr/>
          <p:nvPr/>
        </p:nvCxnSpPr>
        <p:spPr>
          <a:xfrm>
            <a:off x="4620646" y="2632740"/>
            <a:ext cx="100949"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21" name="0114 Text: During the call"/>
          <p:cNvSpPr txBox="1"/>
          <p:nvPr/>
        </p:nvSpPr>
        <p:spPr>
          <a:xfrm>
            <a:off x="5093208" y="2377440"/>
            <a:ext cx="2615184" cy="5120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During the call</a:t>
            </a:r>
          </a:p>
        </p:txBody>
      </p:sp>
      <p:sp>
        <p:nvSpPr>
          <p:cNvPr id="22" name="0115 mic icon"/>
          <p:cNvSpPr/>
          <p:nvPr/>
        </p:nvSpPr>
        <p:spPr>
          <a:xfrm>
            <a:off x="8465149" y="2303556"/>
            <a:ext cx="118506" cy="241401"/>
          </a:xfrm>
          <a:prstGeom prst="roundRect">
            <a:avLst>
              <a:gd name="adj" fmla="val 25000"/>
            </a:avLst>
          </a:prstGeom>
          <a:noFill/>
          <a:ln w="20320">
            <a:solidFill>
              <a:srgbClr val="087F5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3" name="0116 Connector"/>
          <p:cNvCxnSpPr/>
          <p:nvPr/>
        </p:nvCxnSpPr>
        <p:spPr>
          <a:xfrm>
            <a:off x="8386145" y="2439619"/>
            <a:ext cx="0" cy="96560"/>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24" name="0117 Connector"/>
          <p:cNvCxnSpPr/>
          <p:nvPr/>
        </p:nvCxnSpPr>
        <p:spPr>
          <a:xfrm>
            <a:off x="8386145" y="2536179"/>
            <a:ext cx="65837" cy="83394"/>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25" name="0118 Connector"/>
          <p:cNvCxnSpPr/>
          <p:nvPr/>
        </p:nvCxnSpPr>
        <p:spPr>
          <a:xfrm>
            <a:off x="8451982" y="2619573"/>
            <a:ext cx="149230" cy="0"/>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26" name="0119 Connector"/>
          <p:cNvCxnSpPr/>
          <p:nvPr/>
        </p:nvCxnSpPr>
        <p:spPr>
          <a:xfrm flipV="1">
            <a:off x="8601212" y="2536179"/>
            <a:ext cx="65836" cy="83394"/>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27" name="0120 Connector"/>
          <p:cNvCxnSpPr/>
          <p:nvPr/>
        </p:nvCxnSpPr>
        <p:spPr>
          <a:xfrm flipV="1">
            <a:off x="8667048" y="2439619"/>
            <a:ext cx="0" cy="96560"/>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28" name="0121 Connector"/>
          <p:cNvCxnSpPr/>
          <p:nvPr/>
        </p:nvCxnSpPr>
        <p:spPr>
          <a:xfrm>
            <a:off x="8526597" y="2619573"/>
            <a:ext cx="0" cy="92171"/>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29" name="0122 Connector"/>
          <p:cNvCxnSpPr/>
          <p:nvPr/>
        </p:nvCxnSpPr>
        <p:spPr>
          <a:xfrm>
            <a:off x="8438814" y="2716133"/>
            <a:ext cx="175565" cy="0"/>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sp>
        <p:nvSpPr>
          <p:cNvPr id="30" name="0123 Text: When guidance resumes"/>
          <p:cNvSpPr txBox="1"/>
          <p:nvPr/>
        </p:nvSpPr>
        <p:spPr>
          <a:xfrm>
            <a:off x="8924544" y="2377440"/>
            <a:ext cx="2615184" cy="5120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When guidance resumes</a:t>
            </a:r>
          </a:p>
        </p:txBody>
      </p:sp>
      <p:sp>
        <p:nvSpPr>
          <p:cNvPr id="31" name="0124 Panel"/>
          <p:cNvSpPr/>
          <p:nvPr/>
        </p:nvSpPr>
        <p:spPr>
          <a:xfrm>
            <a:off x="685800" y="3209544"/>
            <a:ext cx="3163824" cy="658368"/>
          </a:xfrm>
          <a:prstGeom prst="roundRect">
            <a:avLst>
              <a:gd name="adj" fmla="val 16666"/>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0125 Text: CALL FOR HELP"/>
          <p:cNvSpPr txBox="1"/>
          <p:nvPr/>
        </p:nvSpPr>
        <p:spPr>
          <a:xfrm>
            <a:off x="841248" y="3374136"/>
            <a:ext cx="2862072" cy="27432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Arial"/>
                <a:ea typeface="+mn-ea"/>
                <a:cs typeface="+mn-cs"/>
              </a:rPr>
              <a:t>CALL FOR HELP</a:t>
            </a:r>
          </a:p>
        </p:txBody>
      </p:sp>
      <p:sp>
        <p:nvSpPr>
          <p:cNvPr id="33" name="0126 Text: No form before the call.&#10;No model startup to wai"/>
          <p:cNvSpPr txBox="1"/>
          <p:nvPr/>
        </p:nvSpPr>
        <p:spPr>
          <a:xfrm>
            <a:off x="694944" y="4197096"/>
            <a:ext cx="3145536" cy="83210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50" b="0" i="0" u="none" strike="noStrike" kern="1200" cap="none" spc="0" normalizeH="0" baseline="0" noProof="0">
                <a:ln>
                  <a:noFill/>
                </a:ln>
                <a:solidFill>
                  <a:srgbClr val="657187"/>
                </a:solidFill>
                <a:effectLst/>
                <a:uLnTx/>
                <a:uFillTx/>
                <a:latin typeface="Arial"/>
                <a:ea typeface="+mn-ea"/>
                <a:cs typeface="+mn-cs"/>
              </a:rPr>
              <a:t>No form before the call.</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50" b="0" i="0" u="none" strike="noStrike" kern="1200" cap="none" spc="0" normalizeH="0" baseline="0" noProof="0">
                <a:ln>
                  <a:noFill/>
                </a:ln>
                <a:solidFill>
                  <a:srgbClr val="657187"/>
                </a:solidFill>
                <a:effectLst/>
                <a:uLnTx/>
                <a:uFillTx/>
                <a:latin typeface="Arial"/>
                <a:ea typeface="+mn-ea"/>
                <a:cs typeface="+mn-cs"/>
              </a:rPr>
              <a:t>No model startup to wait for.</a:t>
            </a:r>
          </a:p>
        </p:txBody>
      </p:sp>
      <p:sp>
        <p:nvSpPr>
          <p:cNvPr id="34" name="0127 Text: Call guide + quick event log"/>
          <p:cNvSpPr txBox="1"/>
          <p:nvPr/>
        </p:nvSpPr>
        <p:spPr>
          <a:xfrm>
            <a:off x="4517136" y="3200400"/>
            <a:ext cx="3154680" cy="6400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100" b="1" i="0" u="none" strike="noStrike" kern="1200" cap="none" spc="0" normalizeH="0" baseline="0" noProof="0">
                <a:ln>
                  <a:noFill/>
                </a:ln>
                <a:solidFill>
                  <a:srgbClr val="155EEF"/>
                </a:solidFill>
                <a:effectLst/>
                <a:uLnTx/>
                <a:uFillTx/>
                <a:latin typeface="Arial"/>
                <a:ea typeface="+mn-ea"/>
                <a:cs typeface="+mn-cs"/>
              </a:rPr>
              <a:t>Call guide + quick event log</a:t>
            </a:r>
          </a:p>
        </p:txBody>
      </p:sp>
      <p:sp>
        <p:nvSpPr>
          <p:cNvPr id="35" name="0128 Text: Location, situation,&#10;and reported actions"/>
          <p:cNvSpPr txBox="1"/>
          <p:nvPr/>
        </p:nvSpPr>
        <p:spPr>
          <a:xfrm>
            <a:off x="4526280" y="4069080"/>
            <a:ext cx="3127248" cy="58521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50" b="0" i="0" u="none" strike="noStrike" kern="1200" cap="none" spc="0" normalizeH="0" baseline="0" noProof="0">
                <a:ln>
                  <a:noFill/>
                </a:ln>
                <a:solidFill>
                  <a:srgbClr val="657187"/>
                </a:solidFill>
                <a:effectLst/>
                <a:uLnTx/>
                <a:uFillTx/>
                <a:latin typeface="Arial"/>
                <a:ea typeface="+mn-ea"/>
                <a:cs typeface="+mn-cs"/>
              </a:rPr>
              <a:t>Location, situation,</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50" b="0" i="0" u="none" strike="noStrike" kern="1200" cap="none" spc="0" normalizeH="0" baseline="0" noProof="0">
                <a:ln>
                  <a:noFill/>
                </a:ln>
                <a:solidFill>
                  <a:srgbClr val="657187"/>
                </a:solidFill>
                <a:effectLst/>
                <a:uLnTx/>
                <a:uFillTx/>
                <a:latin typeface="Arial"/>
                <a:ea typeface="+mn-ea"/>
                <a:cs typeface="+mn-cs"/>
              </a:rPr>
              <a:t>and reported actions</a:t>
            </a:r>
          </a:p>
        </p:txBody>
      </p:sp>
      <p:sp>
        <p:nvSpPr>
          <p:cNvPr id="36" name="0129 Label background"/>
          <p:cNvSpPr/>
          <p:nvPr/>
        </p:nvSpPr>
        <p:spPr>
          <a:xfrm>
            <a:off x="4526280" y="4937760"/>
            <a:ext cx="1755648" cy="283464"/>
          </a:xfrm>
          <a:prstGeom prst="roundRect">
            <a:avLst>
              <a:gd name="adj" fmla="val 250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0130 Text: Visual rhythm cue"/>
          <p:cNvSpPr txBox="1"/>
          <p:nvPr/>
        </p:nvSpPr>
        <p:spPr>
          <a:xfrm>
            <a:off x="4590288" y="4960620"/>
            <a:ext cx="1627631" cy="246888"/>
          </a:xfrm>
          <a:prstGeom prst="rect">
            <a:avLst/>
          </a:prstGeom>
          <a:noFill/>
          <a:effectLst/>
        </p:spPr>
        <p:txBody>
          <a:bodyPr wrap="square" lIns="0" tIns="0" rIns="0" bIns="0" anchor="ctr">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70" b="0" i="0" u="none" strike="noStrike" kern="1200" cap="none" spc="0" normalizeH="0" baseline="0" noProof="0">
                <a:ln>
                  <a:noFill/>
                </a:ln>
                <a:solidFill>
                  <a:srgbClr val="155EEF"/>
                </a:solidFill>
                <a:effectLst/>
                <a:uLnTx/>
                <a:uFillTx/>
                <a:latin typeface="Arial"/>
                <a:ea typeface="+mn-ea"/>
                <a:cs typeface="+mn-cs"/>
              </a:rPr>
              <a:t>Visual rhythm cue</a:t>
            </a:r>
          </a:p>
        </p:txBody>
      </p:sp>
      <p:sp>
        <p:nvSpPr>
          <p:cNvPr id="38" name="0131 Text: Fixed templates,&#10;read by the device"/>
          <p:cNvSpPr txBox="1"/>
          <p:nvPr/>
        </p:nvSpPr>
        <p:spPr>
          <a:xfrm>
            <a:off x="8348472" y="3209544"/>
            <a:ext cx="3145536" cy="7315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100" b="1" i="0" u="none" strike="noStrike" kern="1200" cap="none" spc="0" normalizeH="0" baseline="0" noProof="0">
                <a:ln>
                  <a:noFill/>
                </a:ln>
                <a:solidFill>
                  <a:srgbClr val="087F5B"/>
                </a:solidFill>
                <a:effectLst/>
                <a:uLnTx/>
                <a:uFillTx/>
                <a:latin typeface="Arial"/>
                <a:ea typeface="+mn-ea"/>
                <a:cs typeface="+mn-cs"/>
              </a:rPr>
              <a:t>Fixed templates,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100" b="1" i="0" u="none" strike="noStrike" kern="1200" cap="none" spc="0" normalizeH="0" baseline="0" noProof="0">
                <a:ln>
                  <a:noFill/>
                </a:ln>
                <a:solidFill>
                  <a:srgbClr val="087F5B"/>
                </a:solidFill>
                <a:effectLst/>
                <a:uLnTx/>
                <a:uFillTx/>
                <a:latin typeface="Arial"/>
                <a:ea typeface="+mn-ea"/>
                <a:cs typeface="+mn-cs"/>
              </a:rPr>
              <a:t>read by the device</a:t>
            </a:r>
          </a:p>
        </p:txBody>
      </p:sp>
      <p:sp>
        <p:nvSpPr>
          <p:cNvPr id="39" name="0132 Panel"/>
          <p:cNvSpPr/>
          <p:nvPr/>
        </p:nvSpPr>
        <p:spPr>
          <a:xfrm>
            <a:off x="8348472" y="4343400"/>
            <a:ext cx="932688" cy="475488"/>
          </a:xfrm>
          <a:prstGeom prst="roundRect">
            <a:avLst>
              <a:gd name="adj" fmla="val 17307"/>
            </a:avLst>
          </a:prstGeom>
          <a:solidFill>
            <a:srgbClr val="EA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0133 Text: Repeat"/>
          <p:cNvSpPr txBox="1"/>
          <p:nvPr/>
        </p:nvSpPr>
        <p:spPr>
          <a:xfrm>
            <a:off x="8366760" y="4480560"/>
            <a:ext cx="896112"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40" b="1" i="0" u="none" strike="noStrike" kern="1200" cap="none" spc="0" normalizeH="0" baseline="0" noProof="0">
                <a:ln>
                  <a:noFill/>
                </a:ln>
                <a:solidFill>
                  <a:srgbClr val="087F5B"/>
                </a:solidFill>
                <a:effectLst/>
                <a:uLnTx/>
                <a:uFillTx/>
                <a:latin typeface="Arial"/>
                <a:ea typeface="+mn-ea"/>
                <a:cs typeface="+mn-cs"/>
              </a:rPr>
              <a:t>Repeat</a:t>
            </a:r>
          </a:p>
        </p:txBody>
      </p:sp>
      <p:sp>
        <p:nvSpPr>
          <p:cNvPr id="41" name="0134 Panel"/>
          <p:cNvSpPr/>
          <p:nvPr/>
        </p:nvSpPr>
        <p:spPr>
          <a:xfrm>
            <a:off x="9390888" y="4343400"/>
            <a:ext cx="932688" cy="475488"/>
          </a:xfrm>
          <a:prstGeom prst="roundRect">
            <a:avLst>
              <a:gd name="adj" fmla="val 17307"/>
            </a:avLst>
          </a:prstGeom>
          <a:solidFill>
            <a:srgbClr val="EA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0135 Text: Stop"/>
          <p:cNvSpPr txBox="1"/>
          <p:nvPr/>
        </p:nvSpPr>
        <p:spPr>
          <a:xfrm>
            <a:off x="9409176" y="4480560"/>
            <a:ext cx="896112"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40" b="1" i="0" u="none" strike="noStrike" kern="1200" cap="none" spc="0" normalizeH="0" baseline="0" noProof="0">
                <a:ln>
                  <a:noFill/>
                </a:ln>
                <a:solidFill>
                  <a:srgbClr val="087F5B"/>
                </a:solidFill>
                <a:effectLst/>
                <a:uLnTx/>
                <a:uFillTx/>
                <a:latin typeface="Arial"/>
                <a:ea typeface="+mn-ea"/>
                <a:cs typeface="+mn-cs"/>
              </a:rPr>
              <a:t>Stop</a:t>
            </a:r>
          </a:p>
        </p:txBody>
      </p:sp>
      <p:sp>
        <p:nvSpPr>
          <p:cNvPr id="43" name="0136 Panel"/>
          <p:cNvSpPr/>
          <p:nvPr/>
        </p:nvSpPr>
        <p:spPr>
          <a:xfrm>
            <a:off x="10433304" y="4343400"/>
            <a:ext cx="932688" cy="475488"/>
          </a:xfrm>
          <a:prstGeom prst="roundRect">
            <a:avLst>
              <a:gd name="adj" fmla="val 17307"/>
            </a:avLst>
          </a:prstGeom>
          <a:solidFill>
            <a:srgbClr val="EA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0137 Text: Correct"/>
          <p:cNvSpPr txBox="1"/>
          <p:nvPr/>
        </p:nvSpPr>
        <p:spPr>
          <a:xfrm>
            <a:off x="10451592" y="4480560"/>
            <a:ext cx="896112"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40" b="1" i="0" u="none" strike="noStrike" kern="1200" cap="none" spc="0" normalizeH="0" baseline="0" noProof="0">
                <a:ln>
                  <a:noFill/>
                </a:ln>
                <a:solidFill>
                  <a:srgbClr val="087F5B"/>
                </a:solidFill>
                <a:effectLst/>
                <a:uLnTx/>
                <a:uFillTx/>
                <a:latin typeface="Arial"/>
                <a:ea typeface="+mn-ea"/>
                <a:cs typeface="+mn-cs"/>
              </a:rPr>
              <a:t>Correct</a:t>
            </a:r>
          </a:p>
        </p:txBody>
      </p:sp>
      <p:sp>
        <p:nvSpPr>
          <p:cNvPr id="45" name="0138 Text: Switch on explicit user report."/>
          <p:cNvSpPr txBox="1"/>
          <p:nvPr/>
        </p:nvSpPr>
        <p:spPr>
          <a:xfrm>
            <a:off x="8357616" y="4992624"/>
            <a:ext cx="3127248"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250" b="0" i="0" u="none" strike="noStrike" kern="1200" cap="none" spc="0" normalizeH="0" baseline="0" noProof="0">
                <a:ln>
                  <a:noFill/>
                </a:ln>
                <a:solidFill>
                  <a:srgbClr val="657187"/>
                </a:solidFill>
                <a:effectLst/>
                <a:uLnTx/>
                <a:uFillTx/>
                <a:latin typeface="Arial"/>
                <a:ea typeface="+mn-ea"/>
                <a:cs typeface="+mn-cs"/>
              </a:rPr>
              <a:t>Switch on explicit user report.</a:t>
            </a:r>
          </a:p>
        </p:txBody>
      </p:sp>
      <p:cxnSp>
        <p:nvCxnSpPr>
          <p:cNvPr id="46" name="0139 Connector"/>
          <p:cNvCxnSpPr/>
          <p:nvPr/>
        </p:nvCxnSpPr>
        <p:spPr>
          <a:xfrm flipV="1">
            <a:off x="607161" y="5803513"/>
            <a:ext cx="72421" cy="7571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7" name="0140 Connector"/>
          <p:cNvCxnSpPr/>
          <p:nvPr/>
        </p:nvCxnSpPr>
        <p:spPr>
          <a:xfrm>
            <a:off x="679582" y="5803513"/>
            <a:ext cx="10863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8" name="0141 Connector"/>
          <p:cNvCxnSpPr/>
          <p:nvPr/>
        </p:nvCxnSpPr>
        <p:spPr>
          <a:xfrm>
            <a:off x="788212" y="5803513"/>
            <a:ext cx="55962" cy="6583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9" name="0142 Connector"/>
          <p:cNvCxnSpPr/>
          <p:nvPr/>
        </p:nvCxnSpPr>
        <p:spPr>
          <a:xfrm flipV="1">
            <a:off x="607161" y="5793638"/>
            <a:ext cx="0" cy="8558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0" name="0143 Connector"/>
          <p:cNvCxnSpPr/>
          <p:nvPr/>
        </p:nvCxnSpPr>
        <p:spPr>
          <a:xfrm>
            <a:off x="607161" y="5879226"/>
            <a:ext cx="82296"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1" name="0144 Connector"/>
          <p:cNvCxnSpPr/>
          <p:nvPr/>
        </p:nvCxnSpPr>
        <p:spPr>
          <a:xfrm flipH="1">
            <a:off x="768461" y="5971397"/>
            <a:ext cx="69129" cy="7900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2" name="0145 Connector"/>
          <p:cNvCxnSpPr/>
          <p:nvPr/>
        </p:nvCxnSpPr>
        <p:spPr>
          <a:xfrm flipH="1">
            <a:off x="656539" y="6050401"/>
            <a:ext cx="111922"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3" name="0146 Connector"/>
          <p:cNvCxnSpPr/>
          <p:nvPr/>
        </p:nvCxnSpPr>
        <p:spPr>
          <a:xfrm flipH="1" flipV="1">
            <a:off x="600577" y="5981273"/>
            <a:ext cx="55962" cy="6912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4" name="0147 Connector"/>
          <p:cNvCxnSpPr/>
          <p:nvPr/>
        </p:nvCxnSpPr>
        <p:spPr>
          <a:xfrm>
            <a:off x="837590" y="5971397"/>
            <a:ext cx="0" cy="8558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5" name="0148 Connector"/>
          <p:cNvCxnSpPr/>
          <p:nvPr/>
        </p:nvCxnSpPr>
        <p:spPr>
          <a:xfrm flipH="1">
            <a:off x="755294" y="5971397"/>
            <a:ext cx="82296"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56" name="0149 Text: Redial → mute immediately → keep the record."/>
          <p:cNvSpPr txBox="1"/>
          <p:nvPr/>
        </p:nvSpPr>
        <p:spPr>
          <a:xfrm>
            <a:off x="1051560" y="5788152"/>
            <a:ext cx="10579608" cy="33832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100" b="1" i="0" u="none" strike="noStrike" kern="1200" cap="none" spc="0" normalizeH="0" baseline="0" noProof="0">
                <a:ln>
                  <a:noFill/>
                </a:ln>
                <a:solidFill>
                  <a:srgbClr val="1E2D3D"/>
                </a:solidFill>
                <a:effectLst/>
                <a:uLnTx/>
                <a:uFillTx/>
                <a:latin typeface="Arial"/>
                <a:ea typeface="+mn-ea"/>
                <a:cs typeface="+mn-cs"/>
              </a:rPr>
              <a:t>Redial → mute immediately → keep the record.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150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151 Text: SCENE INFORMATION"/>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SCENE INFORMATION</a:t>
            </a:r>
          </a:p>
        </p:txBody>
      </p:sp>
      <p:sp>
        <p:nvSpPr>
          <p:cNvPr id="4" name="0152 Text: Enter it once. Keep every view aligned."/>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Enter it once. Keep every view aligned.</a:t>
            </a:r>
          </a:p>
        </p:txBody>
      </p:sp>
      <p:sp>
        <p:nvSpPr>
          <p:cNvPr id="5" name="0153 Text: Keep the source, confirmation state, and update "/>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Keep the source, confirmation state, and update time with each field.</a:t>
            </a:r>
          </a:p>
        </p:txBody>
      </p:sp>
      <p:cxnSp>
        <p:nvCxnSpPr>
          <p:cNvPr id="6" name="0154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155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156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157 Panel"/>
          <p:cNvSpPr/>
          <p:nvPr/>
        </p:nvSpPr>
        <p:spPr>
          <a:xfrm>
            <a:off x="457200" y="2075688"/>
            <a:ext cx="2788920" cy="3529584"/>
          </a:xfrm>
          <a:prstGeom prst="roundRect">
            <a:avLst>
              <a:gd name="adj" fmla="val 4590"/>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158 Text: Capture the scene"/>
          <p:cNvSpPr txBox="1">
            <a:spLocks/>
          </p:cNvSpPr>
          <p:nvPr/>
        </p:nvSpPr>
        <p:spPr>
          <a:xfrm>
            <a:off x="685800" y="2286000"/>
            <a:ext cx="2331720" cy="30175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1E2D3D"/>
                </a:solidFill>
                <a:effectLst/>
                <a:uLnTx/>
                <a:uFillTx/>
                <a:latin typeface="Arial"/>
                <a:ea typeface="+mn-ea"/>
                <a:cs typeface="+mn-cs"/>
              </a:rPr>
              <a:t>Capture the scene</a:t>
            </a:r>
          </a:p>
        </p:txBody>
      </p:sp>
      <p:sp>
        <p:nvSpPr>
          <p:cNvPr id="11" name="0159 Circle"/>
          <p:cNvSpPr/>
          <p:nvPr/>
        </p:nvSpPr>
        <p:spPr>
          <a:xfrm>
            <a:off x="713232" y="2935224"/>
            <a:ext cx="73152" cy="73152"/>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0160 Text: Location and access"/>
          <p:cNvSpPr txBox="1"/>
          <p:nvPr/>
        </p:nvSpPr>
        <p:spPr>
          <a:xfrm>
            <a:off x="905256" y="2862072"/>
            <a:ext cx="2093976"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20" b="0" i="0" u="none" strike="noStrike" kern="1200" cap="none" spc="0" normalizeH="0" baseline="0" noProof="0">
                <a:ln>
                  <a:noFill/>
                </a:ln>
                <a:solidFill>
                  <a:srgbClr val="1E2D3D"/>
                </a:solidFill>
                <a:effectLst/>
                <a:uLnTx/>
                <a:uFillTx/>
                <a:latin typeface="Arial"/>
                <a:ea typeface="+mn-ea"/>
                <a:cs typeface="+mn-cs"/>
              </a:rPr>
              <a:t>Location and access</a:t>
            </a:r>
          </a:p>
        </p:txBody>
      </p:sp>
      <p:sp>
        <p:nvSpPr>
          <p:cNvPr id="13" name="0161 Circle"/>
          <p:cNvSpPr/>
          <p:nvPr/>
        </p:nvSpPr>
        <p:spPr>
          <a:xfrm>
            <a:off x="713232" y="3383280"/>
            <a:ext cx="73152" cy="73152"/>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0162 Text: What happened"/>
          <p:cNvSpPr txBox="1"/>
          <p:nvPr/>
        </p:nvSpPr>
        <p:spPr>
          <a:xfrm>
            <a:off x="905256" y="3310128"/>
            <a:ext cx="2093976"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20" b="0" i="0" u="none" strike="noStrike" kern="1200" cap="none" spc="0" normalizeH="0" baseline="0" noProof="0">
                <a:ln>
                  <a:noFill/>
                </a:ln>
                <a:solidFill>
                  <a:srgbClr val="1E2D3D"/>
                </a:solidFill>
                <a:effectLst/>
                <a:uLnTx/>
                <a:uFillTx/>
                <a:latin typeface="Arial"/>
                <a:ea typeface="+mn-ea"/>
                <a:cs typeface="+mn-cs"/>
              </a:rPr>
              <a:t>What happened</a:t>
            </a:r>
          </a:p>
        </p:txBody>
      </p:sp>
      <p:sp>
        <p:nvSpPr>
          <p:cNvPr id="15" name="0163 Circle"/>
          <p:cNvSpPr/>
          <p:nvPr/>
        </p:nvSpPr>
        <p:spPr>
          <a:xfrm>
            <a:off x="713232" y="3831335"/>
            <a:ext cx="73152" cy="73152"/>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0164 Text: Patient reports"/>
          <p:cNvSpPr txBox="1"/>
          <p:nvPr/>
        </p:nvSpPr>
        <p:spPr>
          <a:xfrm>
            <a:off x="905256" y="3758183"/>
            <a:ext cx="2093976"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20" b="0" i="0" u="none" strike="noStrike" kern="1200" cap="none" spc="0" normalizeH="0" baseline="0" noProof="0">
                <a:ln>
                  <a:noFill/>
                </a:ln>
                <a:solidFill>
                  <a:srgbClr val="1E2D3D"/>
                </a:solidFill>
                <a:effectLst/>
                <a:uLnTx/>
                <a:uFillTx/>
                <a:latin typeface="Arial"/>
                <a:ea typeface="+mn-ea"/>
                <a:cs typeface="+mn-cs"/>
              </a:rPr>
              <a:t>Patient reports</a:t>
            </a:r>
          </a:p>
        </p:txBody>
      </p:sp>
      <p:sp>
        <p:nvSpPr>
          <p:cNvPr id="17" name="0165 Circle"/>
          <p:cNvSpPr/>
          <p:nvPr/>
        </p:nvSpPr>
        <p:spPr>
          <a:xfrm>
            <a:off x="713232" y="4279392"/>
            <a:ext cx="73152" cy="73152"/>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0166 Text: People present"/>
          <p:cNvSpPr txBox="1"/>
          <p:nvPr/>
        </p:nvSpPr>
        <p:spPr>
          <a:xfrm>
            <a:off x="905256" y="4206240"/>
            <a:ext cx="2093976"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20" b="0" i="0" u="none" strike="noStrike" kern="1200" cap="none" spc="0" normalizeH="0" baseline="0" noProof="0">
                <a:ln>
                  <a:noFill/>
                </a:ln>
                <a:solidFill>
                  <a:srgbClr val="1E2D3D"/>
                </a:solidFill>
                <a:effectLst/>
                <a:uLnTx/>
                <a:uFillTx/>
                <a:latin typeface="Arial"/>
                <a:ea typeface="+mn-ea"/>
                <a:cs typeface="+mn-cs"/>
              </a:rPr>
              <a:t>People present</a:t>
            </a:r>
          </a:p>
        </p:txBody>
      </p:sp>
      <p:sp>
        <p:nvSpPr>
          <p:cNvPr id="19" name="0167 Circle"/>
          <p:cNvSpPr/>
          <p:nvPr/>
        </p:nvSpPr>
        <p:spPr>
          <a:xfrm>
            <a:off x="713232" y="4727448"/>
            <a:ext cx="73152" cy="73152"/>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0168 Text: Hazards"/>
          <p:cNvSpPr txBox="1"/>
          <p:nvPr/>
        </p:nvSpPr>
        <p:spPr>
          <a:xfrm>
            <a:off x="905256" y="4654296"/>
            <a:ext cx="2093976"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20" b="0" i="0" u="none" strike="noStrike" kern="1200" cap="none" spc="0" normalizeH="0" baseline="0" noProof="0">
                <a:ln>
                  <a:noFill/>
                </a:ln>
                <a:solidFill>
                  <a:srgbClr val="1E2D3D"/>
                </a:solidFill>
                <a:effectLst/>
                <a:uLnTx/>
                <a:uFillTx/>
                <a:latin typeface="Arial"/>
                <a:ea typeface="+mn-ea"/>
                <a:cs typeface="+mn-cs"/>
              </a:rPr>
              <a:t>Hazards</a:t>
            </a:r>
          </a:p>
        </p:txBody>
      </p:sp>
      <p:sp>
        <p:nvSpPr>
          <p:cNvPr id="21" name="0169 Text: GPS, entrance, floor, and notes"/>
          <p:cNvSpPr txBox="1"/>
          <p:nvPr/>
        </p:nvSpPr>
        <p:spPr>
          <a:xfrm>
            <a:off x="694944" y="5248656"/>
            <a:ext cx="2331720" cy="20116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050" b="0" i="0" u="none" strike="noStrike" kern="1200" cap="none" spc="0" normalizeH="0" baseline="0" noProof="0">
                <a:ln>
                  <a:noFill/>
                </a:ln>
                <a:solidFill>
                  <a:srgbClr val="657187"/>
                </a:solidFill>
                <a:effectLst/>
                <a:uLnTx/>
                <a:uFillTx/>
                <a:latin typeface="Arial"/>
                <a:ea typeface="+mn-ea"/>
                <a:cs typeface="+mn-cs"/>
              </a:rPr>
              <a:t>GPS, entrance, floor, and notes</a:t>
            </a:r>
          </a:p>
        </p:txBody>
      </p:sp>
      <p:cxnSp>
        <p:nvCxnSpPr>
          <p:cNvPr id="22" name="0170 Connector"/>
          <p:cNvCxnSpPr/>
          <p:nvPr/>
        </p:nvCxnSpPr>
        <p:spPr>
          <a:xfrm>
            <a:off x="3264408" y="3803904"/>
            <a:ext cx="457200" cy="0"/>
          </a:xfrm>
          <a:prstGeom prst="line">
            <a:avLst/>
          </a:prstGeom>
          <a:ln w="2540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0171 Panel"/>
          <p:cNvSpPr/>
          <p:nvPr/>
        </p:nvSpPr>
        <p:spPr>
          <a:xfrm>
            <a:off x="3776472" y="2075688"/>
            <a:ext cx="3886200" cy="3529584"/>
          </a:xfrm>
          <a:prstGeom prst="roundRect">
            <a:avLst>
              <a:gd name="adj" fmla="val 3886"/>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0172 Text: Shared scene snapshot"/>
          <p:cNvSpPr txBox="1"/>
          <p:nvPr/>
        </p:nvSpPr>
        <p:spPr>
          <a:xfrm>
            <a:off x="4032504" y="2322576"/>
            <a:ext cx="3401568" cy="3474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Arial"/>
                <a:ea typeface="+mn-ea"/>
                <a:cs typeface="+mn-cs"/>
              </a:rPr>
              <a:t>Shared scene snapshot</a:t>
            </a:r>
          </a:p>
        </p:txBody>
      </p:sp>
      <p:sp>
        <p:nvSpPr>
          <p:cNvPr id="25" name="0173 Text: Source"/>
          <p:cNvSpPr txBox="1"/>
          <p:nvPr/>
        </p:nvSpPr>
        <p:spPr>
          <a:xfrm>
            <a:off x="4059936" y="2999232"/>
            <a:ext cx="1298448"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ACC7E2"/>
                </a:solidFill>
                <a:effectLst/>
                <a:uLnTx/>
                <a:uFillTx/>
                <a:latin typeface="Arial"/>
                <a:ea typeface="+mn-ea"/>
                <a:cs typeface="+mn-cs"/>
              </a:rPr>
              <a:t>Source</a:t>
            </a:r>
          </a:p>
        </p:txBody>
      </p:sp>
      <p:sp>
        <p:nvSpPr>
          <p:cNvPr id="26" name="0174 Text: Who reported it"/>
          <p:cNvSpPr txBox="1"/>
          <p:nvPr/>
        </p:nvSpPr>
        <p:spPr>
          <a:xfrm>
            <a:off x="5367528" y="2999232"/>
            <a:ext cx="2029968"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50" b="0" i="0" u="none" strike="noStrike" kern="1200" cap="none" spc="0" normalizeH="0" baseline="0" noProof="0">
                <a:ln>
                  <a:noFill/>
                </a:ln>
                <a:solidFill>
                  <a:srgbClr val="FFFFFF"/>
                </a:solidFill>
                <a:effectLst/>
                <a:uLnTx/>
                <a:uFillTx/>
                <a:latin typeface="Arial"/>
                <a:ea typeface="+mn-ea"/>
                <a:cs typeface="+mn-cs"/>
              </a:rPr>
              <a:t>Who reported it</a:t>
            </a:r>
          </a:p>
        </p:txBody>
      </p:sp>
      <p:sp>
        <p:nvSpPr>
          <p:cNvPr id="27" name="0175 Text: Confirmation"/>
          <p:cNvSpPr txBox="1"/>
          <p:nvPr/>
        </p:nvSpPr>
        <p:spPr>
          <a:xfrm>
            <a:off x="4059936" y="3602736"/>
            <a:ext cx="1298448"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ACC7E2"/>
                </a:solidFill>
                <a:effectLst/>
                <a:uLnTx/>
                <a:uFillTx/>
                <a:latin typeface="Arial"/>
                <a:ea typeface="+mn-ea"/>
                <a:cs typeface="+mn-cs"/>
              </a:rPr>
              <a:t>Confirmation</a:t>
            </a:r>
          </a:p>
        </p:txBody>
      </p:sp>
      <p:sp>
        <p:nvSpPr>
          <p:cNvPr id="28" name="0176 Text: Confirmed or uncertain"/>
          <p:cNvSpPr txBox="1"/>
          <p:nvPr/>
        </p:nvSpPr>
        <p:spPr>
          <a:xfrm>
            <a:off x="5367528" y="3602736"/>
            <a:ext cx="2029968"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50" b="0" i="0" u="none" strike="noStrike" kern="1200" cap="none" spc="0" normalizeH="0" baseline="0" noProof="0">
                <a:ln>
                  <a:noFill/>
                </a:ln>
                <a:solidFill>
                  <a:srgbClr val="FFFFFF"/>
                </a:solidFill>
                <a:effectLst/>
                <a:uLnTx/>
                <a:uFillTx/>
                <a:latin typeface="Arial"/>
                <a:ea typeface="+mn-ea"/>
                <a:cs typeface="+mn-cs"/>
              </a:rPr>
              <a:t>Confirmed or uncertain</a:t>
            </a:r>
          </a:p>
        </p:txBody>
      </p:sp>
      <p:sp>
        <p:nvSpPr>
          <p:cNvPr id="29" name="0177 Text: Freshness"/>
          <p:cNvSpPr txBox="1"/>
          <p:nvPr/>
        </p:nvSpPr>
        <p:spPr>
          <a:xfrm>
            <a:off x="4059936" y="4206240"/>
            <a:ext cx="1298448"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ACC7E2"/>
                </a:solidFill>
                <a:effectLst/>
                <a:uLnTx/>
                <a:uFillTx/>
                <a:latin typeface="Arial"/>
                <a:ea typeface="+mn-ea"/>
                <a:cs typeface="+mn-cs"/>
              </a:rPr>
              <a:t>Freshness</a:t>
            </a:r>
          </a:p>
        </p:txBody>
      </p:sp>
      <p:sp>
        <p:nvSpPr>
          <p:cNvPr id="30" name="0178 Text: When it was updated"/>
          <p:cNvSpPr txBox="1"/>
          <p:nvPr/>
        </p:nvSpPr>
        <p:spPr>
          <a:xfrm>
            <a:off x="5367528" y="4206240"/>
            <a:ext cx="2029968"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50" b="0" i="0" u="none" strike="noStrike" kern="1200" cap="none" spc="0" normalizeH="0" baseline="0" noProof="0">
                <a:ln>
                  <a:noFill/>
                </a:ln>
                <a:solidFill>
                  <a:srgbClr val="FFFFFF"/>
                </a:solidFill>
                <a:effectLst/>
                <a:uLnTx/>
                <a:uFillTx/>
                <a:latin typeface="Arial"/>
                <a:ea typeface="+mn-ea"/>
                <a:cs typeface="+mn-cs"/>
              </a:rPr>
              <a:t>When it was updated</a:t>
            </a:r>
          </a:p>
        </p:txBody>
      </p:sp>
      <p:cxnSp>
        <p:nvCxnSpPr>
          <p:cNvPr id="31" name="0179 Connector"/>
          <p:cNvCxnSpPr/>
          <p:nvPr/>
        </p:nvCxnSpPr>
        <p:spPr>
          <a:xfrm>
            <a:off x="4050791" y="4919472"/>
            <a:ext cx="3337561" cy="0"/>
          </a:xfrm>
          <a:prstGeom prst="line">
            <a:avLst/>
          </a:prstGeom>
          <a:ln w="12700">
            <a:solidFill>
              <a:srgbClr val="425567"/>
            </a:solidFill>
          </a:ln>
          <a:effectLst/>
        </p:spPr>
        <p:style>
          <a:lnRef idx="2">
            <a:schemeClr val="accent1"/>
          </a:lnRef>
          <a:fillRef idx="0">
            <a:schemeClr val="accent1"/>
          </a:fillRef>
          <a:effectRef idx="0">
            <a:schemeClr val="accent1"/>
          </a:effectRef>
          <a:fontRef idx="minor">
            <a:schemeClr val="tx1"/>
          </a:fontRef>
        </p:style>
      </p:cxnSp>
      <p:sp>
        <p:nvSpPr>
          <p:cNvPr id="32" name="0180 Text: Unknown is a valid answer."/>
          <p:cNvSpPr txBox="1"/>
          <p:nvPr/>
        </p:nvSpPr>
        <p:spPr>
          <a:xfrm>
            <a:off x="4059936" y="5111496"/>
            <a:ext cx="333756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FFFFFF"/>
                </a:solidFill>
                <a:effectLst/>
                <a:uLnTx/>
                <a:uFillTx/>
                <a:latin typeface="Arial"/>
                <a:ea typeface="+mn-ea"/>
                <a:cs typeface="+mn-cs"/>
              </a:rPr>
              <a:t>Unknown is a valid answer.</a:t>
            </a:r>
          </a:p>
        </p:txBody>
      </p:sp>
      <p:sp>
        <p:nvSpPr>
          <p:cNvPr id="33" name="0181 Panel"/>
          <p:cNvSpPr/>
          <p:nvPr/>
        </p:nvSpPr>
        <p:spPr>
          <a:xfrm>
            <a:off x="8284464" y="2167128"/>
            <a:ext cx="3456432" cy="813816"/>
          </a:xfrm>
          <a:prstGeom prst="roundRect">
            <a:avLst>
              <a:gd name="adj" fmla="val 13483"/>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0182 Text: Call guide"/>
          <p:cNvSpPr txBox="1"/>
          <p:nvPr/>
        </p:nvSpPr>
        <p:spPr>
          <a:xfrm>
            <a:off x="8503920" y="2432304"/>
            <a:ext cx="3035808"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B42318"/>
                </a:solidFill>
                <a:effectLst/>
                <a:uLnTx/>
                <a:uFillTx/>
                <a:latin typeface="Arial"/>
                <a:ea typeface="+mn-ea"/>
                <a:cs typeface="+mn-cs"/>
              </a:rPr>
              <a:t>Call guide</a:t>
            </a:r>
          </a:p>
        </p:txBody>
      </p:sp>
      <p:cxnSp>
        <p:nvCxnSpPr>
          <p:cNvPr id="35" name="0183 Connector"/>
          <p:cNvCxnSpPr/>
          <p:nvPr/>
        </p:nvCxnSpPr>
        <p:spPr>
          <a:xfrm>
            <a:off x="7699248" y="3803904"/>
            <a:ext cx="265176" cy="0"/>
          </a:xfrm>
          <a:prstGeom prst="line">
            <a:avLst/>
          </a:prstGeom>
          <a:ln w="1905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6" name="0184 Connector"/>
          <p:cNvCxnSpPr/>
          <p:nvPr/>
        </p:nvCxnSpPr>
        <p:spPr>
          <a:xfrm flipV="1">
            <a:off x="7964424" y="2574036"/>
            <a:ext cx="0" cy="1229868"/>
          </a:xfrm>
          <a:prstGeom prst="line">
            <a:avLst/>
          </a:prstGeom>
          <a:ln w="1905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7" name="0185 Connector"/>
          <p:cNvCxnSpPr/>
          <p:nvPr/>
        </p:nvCxnSpPr>
        <p:spPr>
          <a:xfrm>
            <a:off x="7964424" y="2574036"/>
            <a:ext cx="274320" cy="0"/>
          </a:xfrm>
          <a:prstGeom prst="line">
            <a:avLst/>
          </a:prstGeom>
          <a:ln w="1905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8" name="0186 Panel"/>
          <p:cNvSpPr/>
          <p:nvPr/>
        </p:nvSpPr>
        <p:spPr>
          <a:xfrm>
            <a:off x="8284464" y="3282696"/>
            <a:ext cx="3456432" cy="813816"/>
          </a:xfrm>
          <a:prstGeom prst="roundRect">
            <a:avLst>
              <a:gd name="adj" fmla="val 13483"/>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0187 Text: Ambulance greeter"/>
          <p:cNvSpPr txBox="1"/>
          <p:nvPr/>
        </p:nvSpPr>
        <p:spPr>
          <a:xfrm>
            <a:off x="8503920" y="3547872"/>
            <a:ext cx="3035808"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5EEF"/>
                </a:solidFill>
                <a:effectLst/>
                <a:uLnTx/>
                <a:uFillTx/>
                <a:latin typeface="Arial"/>
                <a:ea typeface="+mn-ea"/>
                <a:cs typeface="+mn-cs"/>
              </a:rPr>
              <a:t>Ambulance greeter</a:t>
            </a:r>
          </a:p>
        </p:txBody>
      </p:sp>
      <p:cxnSp>
        <p:nvCxnSpPr>
          <p:cNvPr id="40" name="0188 Connector"/>
          <p:cNvCxnSpPr/>
          <p:nvPr/>
        </p:nvCxnSpPr>
        <p:spPr>
          <a:xfrm>
            <a:off x="7699248" y="3803904"/>
            <a:ext cx="265176" cy="0"/>
          </a:xfrm>
          <a:prstGeom prst="line">
            <a:avLst/>
          </a:prstGeom>
          <a:ln w="1905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1" name="0189 Connector"/>
          <p:cNvCxnSpPr/>
          <p:nvPr/>
        </p:nvCxnSpPr>
        <p:spPr>
          <a:xfrm flipV="1">
            <a:off x="7964424" y="3689604"/>
            <a:ext cx="0" cy="114300"/>
          </a:xfrm>
          <a:prstGeom prst="line">
            <a:avLst/>
          </a:prstGeom>
          <a:ln w="1905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2" name="0190 Connector"/>
          <p:cNvCxnSpPr/>
          <p:nvPr/>
        </p:nvCxnSpPr>
        <p:spPr>
          <a:xfrm>
            <a:off x="7964424" y="3689604"/>
            <a:ext cx="274320" cy="0"/>
          </a:xfrm>
          <a:prstGeom prst="line">
            <a:avLst/>
          </a:prstGeom>
          <a:ln w="1905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0191 Panel"/>
          <p:cNvSpPr/>
          <p:nvPr/>
        </p:nvSpPr>
        <p:spPr>
          <a:xfrm>
            <a:off x="8284464" y="4398264"/>
            <a:ext cx="3456432" cy="813816"/>
          </a:xfrm>
          <a:prstGeom prst="roundRect">
            <a:avLst>
              <a:gd name="adj" fmla="val 13483"/>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0192 Text: EMS handoff"/>
          <p:cNvSpPr txBox="1"/>
          <p:nvPr/>
        </p:nvSpPr>
        <p:spPr>
          <a:xfrm>
            <a:off x="8503920" y="4663440"/>
            <a:ext cx="3035808"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087F5B"/>
                </a:solidFill>
                <a:effectLst/>
                <a:uLnTx/>
                <a:uFillTx/>
                <a:latin typeface="Arial"/>
                <a:ea typeface="+mn-ea"/>
                <a:cs typeface="+mn-cs"/>
              </a:rPr>
              <a:t>EMS handoff</a:t>
            </a:r>
          </a:p>
        </p:txBody>
      </p:sp>
      <p:cxnSp>
        <p:nvCxnSpPr>
          <p:cNvPr id="45" name="0193 Connector"/>
          <p:cNvCxnSpPr/>
          <p:nvPr/>
        </p:nvCxnSpPr>
        <p:spPr>
          <a:xfrm>
            <a:off x="7699248" y="3803904"/>
            <a:ext cx="265176" cy="0"/>
          </a:xfrm>
          <a:prstGeom prst="line">
            <a:avLst/>
          </a:prstGeom>
          <a:ln w="1905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6" name="0194 Connector"/>
          <p:cNvCxnSpPr/>
          <p:nvPr/>
        </p:nvCxnSpPr>
        <p:spPr>
          <a:xfrm>
            <a:off x="7964424" y="3803904"/>
            <a:ext cx="0" cy="1001268"/>
          </a:xfrm>
          <a:prstGeom prst="line">
            <a:avLst/>
          </a:prstGeom>
          <a:ln w="1905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7" name="0195 Connector"/>
          <p:cNvCxnSpPr/>
          <p:nvPr/>
        </p:nvCxnSpPr>
        <p:spPr>
          <a:xfrm>
            <a:off x="7964424" y="4805172"/>
            <a:ext cx="274320" cy="0"/>
          </a:xfrm>
          <a:prstGeom prst="line">
            <a:avLst/>
          </a:prstGeom>
          <a:ln w="1905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8" name="0196 Panel"/>
          <p:cNvSpPr/>
          <p:nvPr/>
        </p:nvSpPr>
        <p:spPr>
          <a:xfrm>
            <a:off x="457200" y="5824728"/>
            <a:ext cx="11283696" cy="365760"/>
          </a:xfrm>
          <a:prstGeom prst="roundRect">
            <a:avLst>
              <a:gd name="adj" fmla="val 17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0197 Text: Timestamped events and append-only corrections k"/>
          <p:cNvSpPr txBox="1"/>
          <p:nvPr/>
        </p:nvSpPr>
        <p:spPr>
          <a:xfrm>
            <a:off x="640080" y="5888736"/>
            <a:ext cx="1089050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00" b="0" i="0" u="none" strike="noStrike" kern="1200" cap="none" spc="0" normalizeH="0" baseline="0" noProof="0">
                <a:ln>
                  <a:noFill/>
                </a:ln>
                <a:solidFill>
                  <a:srgbClr val="155EEF"/>
                </a:solidFill>
                <a:effectLst/>
                <a:uLnTx/>
                <a:uFillTx/>
                <a:latin typeface="Arial"/>
                <a:ea typeface="+mn-ea"/>
                <a:cs typeface="+mn-cs"/>
              </a:rPr>
              <a:t>Timestamped events and append-only corrections keep the history traceable.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198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199 Text: AED COORDINATION"/>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AED COORDINATION</a:t>
            </a:r>
          </a:p>
        </p:txBody>
      </p:sp>
      <p:sp>
        <p:nvSpPr>
          <p:cNvPr id="4" name="0200 Text: An inaccessible AED triggers a new assignment."/>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An inaccessible AED triggers a new assignment.</a:t>
            </a:r>
          </a:p>
        </p:txBody>
      </p:sp>
      <p:sp>
        <p:nvSpPr>
          <p:cNvPr id="5" name="0201 Text: Start dispatch once. Let each report drive the n"/>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Start dispatch once. Let each report drive the next step.</a:t>
            </a:r>
          </a:p>
        </p:txBody>
      </p:sp>
      <p:cxnSp>
        <p:nvCxnSpPr>
          <p:cNvPr id="6" name="0202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203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204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205 Panel"/>
          <p:cNvSpPr/>
          <p:nvPr/>
        </p:nvSpPr>
        <p:spPr>
          <a:xfrm>
            <a:off x="457200" y="2066543"/>
            <a:ext cx="2679192" cy="1801368"/>
          </a:xfrm>
          <a:prstGeom prst="roundRect">
            <a:avLst>
              <a:gd name="adj" fmla="val 659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206 Circle"/>
          <p:cNvSpPr/>
          <p:nvPr/>
        </p:nvSpPr>
        <p:spPr>
          <a:xfrm>
            <a:off x="737006" y="2262591"/>
            <a:ext cx="98755" cy="98755"/>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 name="0207 Connector"/>
          <p:cNvCxnSpPr/>
          <p:nvPr/>
        </p:nvCxnSpPr>
        <p:spPr>
          <a:xfrm>
            <a:off x="786383" y="2364638"/>
            <a:ext cx="0" cy="11521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2" name="0208 Connector"/>
          <p:cNvCxnSpPr/>
          <p:nvPr/>
        </p:nvCxnSpPr>
        <p:spPr>
          <a:xfrm flipH="1">
            <a:off x="674461" y="2397556"/>
            <a:ext cx="111922" cy="5925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3" name="0209 Connector"/>
          <p:cNvCxnSpPr/>
          <p:nvPr/>
        </p:nvCxnSpPr>
        <p:spPr>
          <a:xfrm>
            <a:off x="786383" y="2397556"/>
            <a:ext cx="98756" cy="4937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4" name="0210 Connector"/>
          <p:cNvCxnSpPr/>
          <p:nvPr/>
        </p:nvCxnSpPr>
        <p:spPr>
          <a:xfrm flipH="1">
            <a:off x="684336" y="2479852"/>
            <a:ext cx="102047" cy="8558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5" name="0211 Connector"/>
          <p:cNvCxnSpPr/>
          <p:nvPr/>
        </p:nvCxnSpPr>
        <p:spPr>
          <a:xfrm>
            <a:off x="786383" y="2479852"/>
            <a:ext cx="102048" cy="8558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16" name="0212 Text: Start dispatch"/>
          <p:cNvSpPr txBox="1"/>
          <p:nvPr/>
        </p:nvSpPr>
        <p:spPr>
          <a:xfrm>
            <a:off x="1088136" y="2276856"/>
            <a:ext cx="1847088" cy="3931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20" b="1" i="0" u="none" strike="noStrike" kern="1200" cap="none" spc="0" normalizeH="0" baseline="0" noProof="0">
                <a:ln>
                  <a:noFill/>
                </a:ln>
                <a:solidFill>
                  <a:srgbClr val="1E2D3D"/>
                </a:solidFill>
                <a:effectLst/>
                <a:uLnTx/>
                <a:uFillTx/>
                <a:latin typeface="Arial"/>
                <a:ea typeface="+mn-ea"/>
                <a:cs typeface="+mn-cs"/>
              </a:rPr>
              <a:t>Start dispatch</a:t>
            </a:r>
          </a:p>
        </p:txBody>
      </p:sp>
      <p:sp>
        <p:nvSpPr>
          <p:cNvPr id="17" name="0213 Text: Invite a runner&#10;and choose the goal"/>
          <p:cNvSpPr txBox="1"/>
          <p:nvPr/>
        </p:nvSpPr>
        <p:spPr>
          <a:xfrm>
            <a:off x="640080" y="2999232"/>
            <a:ext cx="2322576"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Invite a runner</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and choose the goal</a:t>
            </a:r>
          </a:p>
        </p:txBody>
      </p:sp>
      <p:cxnSp>
        <p:nvCxnSpPr>
          <p:cNvPr id="18" name="0214 Connector"/>
          <p:cNvCxnSpPr/>
          <p:nvPr/>
        </p:nvCxnSpPr>
        <p:spPr>
          <a:xfrm>
            <a:off x="3163824" y="2935224"/>
            <a:ext cx="128016" cy="0"/>
          </a:xfrm>
          <a:prstGeom prst="line">
            <a:avLst/>
          </a:prstGeom>
          <a:ln w="2286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0215 Panel"/>
          <p:cNvSpPr/>
          <p:nvPr/>
        </p:nvSpPr>
        <p:spPr>
          <a:xfrm>
            <a:off x="3328416" y="2066543"/>
            <a:ext cx="2679192" cy="1801368"/>
          </a:xfrm>
          <a:prstGeom prst="roundRect">
            <a:avLst>
              <a:gd name="adj" fmla="val 659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0216 Circle"/>
          <p:cNvSpPr/>
          <p:nvPr/>
        </p:nvSpPr>
        <p:spPr>
          <a:xfrm>
            <a:off x="3542385" y="2252715"/>
            <a:ext cx="230428" cy="230428"/>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0217 Circle"/>
          <p:cNvSpPr/>
          <p:nvPr/>
        </p:nvSpPr>
        <p:spPr>
          <a:xfrm>
            <a:off x="3614806" y="2321844"/>
            <a:ext cx="82296" cy="82296"/>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2" name="0218 Connector"/>
          <p:cNvCxnSpPr/>
          <p:nvPr/>
        </p:nvCxnSpPr>
        <p:spPr>
          <a:xfrm>
            <a:off x="3552261" y="2433767"/>
            <a:ext cx="105339" cy="14154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3" name="0219 Connector"/>
          <p:cNvCxnSpPr/>
          <p:nvPr/>
        </p:nvCxnSpPr>
        <p:spPr>
          <a:xfrm flipH="1">
            <a:off x="3657600" y="2437058"/>
            <a:ext cx="108630" cy="13825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24" name="0220 Text: Find a candidate"/>
          <p:cNvSpPr txBox="1"/>
          <p:nvPr/>
        </p:nvSpPr>
        <p:spPr>
          <a:xfrm>
            <a:off x="3959352" y="2276856"/>
            <a:ext cx="1847088" cy="3931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20" b="1" i="0" u="none" strike="noStrike" kern="1200" cap="none" spc="0" normalizeH="0" baseline="0" noProof="0">
                <a:ln>
                  <a:noFill/>
                </a:ln>
                <a:solidFill>
                  <a:srgbClr val="1E2D3D"/>
                </a:solidFill>
                <a:effectLst/>
                <a:uLnTx/>
                <a:uFillTx/>
                <a:latin typeface="Arial"/>
                <a:ea typeface="+mn-ea"/>
                <a:cs typeface="+mn-cs"/>
              </a:rPr>
              <a:t>Find a candidate</a:t>
            </a:r>
          </a:p>
        </p:txBody>
      </p:sp>
      <p:sp>
        <p:nvSpPr>
          <p:cNvPr id="25" name="0221 Text: Use location, hours,&#10;and available records"/>
          <p:cNvSpPr txBox="1"/>
          <p:nvPr/>
        </p:nvSpPr>
        <p:spPr>
          <a:xfrm>
            <a:off x="3511296" y="2999232"/>
            <a:ext cx="2322576"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Use location, hours,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and available records</a:t>
            </a:r>
          </a:p>
        </p:txBody>
      </p:sp>
      <p:cxnSp>
        <p:nvCxnSpPr>
          <p:cNvPr id="26" name="0222 Connector"/>
          <p:cNvCxnSpPr/>
          <p:nvPr/>
        </p:nvCxnSpPr>
        <p:spPr>
          <a:xfrm>
            <a:off x="6035040" y="2935224"/>
            <a:ext cx="128016" cy="0"/>
          </a:xfrm>
          <a:prstGeom prst="line">
            <a:avLst/>
          </a:prstGeom>
          <a:ln w="2286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7" name="0223 Panel"/>
          <p:cNvSpPr/>
          <p:nvPr/>
        </p:nvSpPr>
        <p:spPr>
          <a:xfrm>
            <a:off x="6199632" y="2066543"/>
            <a:ext cx="2679192" cy="1801368"/>
          </a:xfrm>
          <a:prstGeom prst="roundRect">
            <a:avLst>
              <a:gd name="adj" fmla="val 659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0224 Circle"/>
          <p:cNvSpPr/>
          <p:nvPr/>
        </p:nvSpPr>
        <p:spPr>
          <a:xfrm>
            <a:off x="6370807" y="2483144"/>
            <a:ext cx="79004" cy="79004"/>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0225 Circle"/>
          <p:cNvSpPr/>
          <p:nvPr/>
        </p:nvSpPr>
        <p:spPr>
          <a:xfrm>
            <a:off x="6607820" y="2256007"/>
            <a:ext cx="79004" cy="79004"/>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0" name="0226 Connector"/>
          <p:cNvCxnSpPr/>
          <p:nvPr/>
        </p:nvCxnSpPr>
        <p:spPr>
          <a:xfrm>
            <a:off x="6449811" y="2522646"/>
            <a:ext cx="8888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1" name="0227 Connector"/>
          <p:cNvCxnSpPr/>
          <p:nvPr/>
        </p:nvCxnSpPr>
        <p:spPr>
          <a:xfrm flipV="1">
            <a:off x="6538691" y="2473269"/>
            <a:ext cx="46086" cy="4937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2" name="0228 Connector"/>
          <p:cNvCxnSpPr/>
          <p:nvPr/>
        </p:nvCxnSpPr>
        <p:spPr>
          <a:xfrm flipV="1">
            <a:off x="6584777" y="2423891"/>
            <a:ext cx="0" cy="4937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3" name="0229 Connector"/>
          <p:cNvCxnSpPr/>
          <p:nvPr/>
        </p:nvCxnSpPr>
        <p:spPr>
          <a:xfrm flipH="1" flipV="1">
            <a:off x="6499189" y="2381097"/>
            <a:ext cx="85588" cy="4279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4" name="0230 Connector"/>
          <p:cNvCxnSpPr/>
          <p:nvPr/>
        </p:nvCxnSpPr>
        <p:spPr>
          <a:xfrm flipV="1">
            <a:off x="6499189" y="2328428"/>
            <a:ext cx="0" cy="5266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5" name="0231 Connector"/>
          <p:cNvCxnSpPr/>
          <p:nvPr/>
        </p:nvCxnSpPr>
        <p:spPr>
          <a:xfrm flipV="1">
            <a:off x="6499189" y="2295509"/>
            <a:ext cx="46086" cy="3291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6" name="0232 Connector"/>
          <p:cNvCxnSpPr/>
          <p:nvPr/>
        </p:nvCxnSpPr>
        <p:spPr>
          <a:xfrm>
            <a:off x="6545275" y="2295509"/>
            <a:ext cx="69128"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7" name="0233 Text: Send the task"/>
          <p:cNvSpPr txBox="1"/>
          <p:nvPr/>
        </p:nvSpPr>
        <p:spPr>
          <a:xfrm>
            <a:off x="6830568" y="2276856"/>
            <a:ext cx="1847088" cy="3931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20" b="1" i="0" u="none" strike="noStrike" kern="1200" cap="none" spc="0" normalizeH="0" baseline="0" noProof="0">
                <a:ln>
                  <a:noFill/>
                </a:ln>
                <a:solidFill>
                  <a:srgbClr val="1E2D3D"/>
                </a:solidFill>
                <a:effectLst/>
                <a:uLnTx/>
                <a:uFillTx/>
                <a:latin typeface="Arial"/>
                <a:ea typeface="+mn-ea"/>
                <a:cs typeface="+mn-cs"/>
              </a:rPr>
              <a:t>Send the task</a:t>
            </a:r>
          </a:p>
        </p:txBody>
      </p:sp>
      <p:sp>
        <p:nvSpPr>
          <p:cNvPr id="38" name="0234 Text: Show the destination&#10;and open navigation"/>
          <p:cNvSpPr txBox="1"/>
          <p:nvPr/>
        </p:nvSpPr>
        <p:spPr>
          <a:xfrm>
            <a:off x="6382512" y="2999232"/>
            <a:ext cx="2322576"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Show the destination</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and open navigation</a:t>
            </a:r>
          </a:p>
        </p:txBody>
      </p:sp>
      <p:cxnSp>
        <p:nvCxnSpPr>
          <p:cNvPr id="39" name="0235 Connector"/>
          <p:cNvCxnSpPr/>
          <p:nvPr/>
        </p:nvCxnSpPr>
        <p:spPr>
          <a:xfrm>
            <a:off x="8906256" y="2935224"/>
            <a:ext cx="128016" cy="0"/>
          </a:xfrm>
          <a:prstGeom prst="line">
            <a:avLst/>
          </a:prstGeom>
          <a:ln w="2286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0" name="0236 Panel"/>
          <p:cNvSpPr/>
          <p:nvPr/>
        </p:nvSpPr>
        <p:spPr>
          <a:xfrm>
            <a:off x="9070848" y="2066543"/>
            <a:ext cx="2679192" cy="1801368"/>
          </a:xfrm>
          <a:prstGeom prst="roundRect">
            <a:avLst>
              <a:gd name="adj" fmla="val 659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41" name="0237 Connector"/>
          <p:cNvCxnSpPr/>
          <p:nvPr/>
        </p:nvCxnSpPr>
        <p:spPr>
          <a:xfrm>
            <a:off x="9274942" y="2407432"/>
            <a:ext cx="88879" cy="98755"/>
          </a:xfrm>
          <a:prstGeom prst="line">
            <a:avLst/>
          </a:prstGeom>
          <a:ln w="2667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2" name="0238 Connector"/>
          <p:cNvCxnSpPr/>
          <p:nvPr/>
        </p:nvCxnSpPr>
        <p:spPr>
          <a:xfrm flipV="1">
            <a:off x="9363821" y="2298801"/>
            <a:ext cx="171176" cy="207386"/>
          </a:xfrm>
          <a:prstGeom prst="line">
            <a:avLst/>
          </a:prstGeom>
          <a:ln w="2667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43" name="0239 Text: Track the outcome"/>
          <p:cNvSpPr txBox="1"/>
          <p:nvPr/>
        </p:nvSpPr>
        <p:spPr>
          <a:xfrm>
            <a:off x="9701784" y="2276856"/>
            <a:ext cx="1847088" cy="3931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20" b="1" i="0" u="none" strike="noStrike" kern="1200" cap="none" spc="0" normalizeH="0" baseline="0" noProof="0">
                <a:ln>
                  <a:noFill/>
                </a:ln>
                <a:solidFill>
                  <a:srgbClr val="1E2D3D"/>
                </a:solidFill>
                <a:effectLst/>
                <a:uLnTx/>
                <a:uFillTx/>
                <a:latin typeface="Arial"/>
                <a:ea typeface="+mn-ea"/>
                <a:cs typeface="+mn-cs"/>
              </a:rPr>
              <a:t>Track the outcome</a:t>
            </a:r>
          </a:p>
        </p:txBody>
      </p:sp>
      <p:sp>
        <p:nvSpPr>
          <p:cNvPr id="44" name="0240 Text: En route → obtained&#10;→ delivered"/>
          <p:cNvSpPr txBox="1"/>
          <p:nvPr/>
        </p:nvSpPr>
        <p:spPr>
          <a:xfrm>
            <a:off x="9253728" y="2999232"/>
            <a:ext cx="2322576"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En route → obtained</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20" b="0" i="0" u="none" strike="noStrike" kern="1200" cap="none" spc="0" normalizeH="0" baseline="0" noProof="0">
                <a:ln>
                  <a:noFill/>
                </a:ln>
                <a:solidFill>
                  <a:srgbClr val="657187"/>
                </a:solidFill>
                <a:effectLst/>
                <a:uLnTx/>
                <a:uFillTx/>
                <a:latin typeface="Arial"/>
                <a:ea typeface="+mn-ea"/>
                <a:cs typeface="+mn-cs"/>
              </a:rPr>
              <a:t>→ delivered</a:t>
            </a:r>
          </a:p>
        </p:txBody>
      </p:sp>
      <p:sp>
        <p:nvSpPr>
          <p:cNvPr id="45" name="0241 Panel"/>
          <p:cNvSpPr/>
          <p:nvPr/>
        </p:nvSpPr>
        <p:spPr>
          <a:xfrm>
            <a:off x="457200" y="4242816"/>
            <a:ext cx="4965192" cy="1755648"/>
          </a:xfrm>
          <a:prstGeom prst="roundRect">
            <a:avLst>
              <a:gd name="adj" fmla="val 7291"/>
            </a:avLst>
          </a:prstGeom>
          <a:solidFill>
            <a:srgbClr val="ECF0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46" name="0242 Connector"/>
          <p:cNvCxnSpPr/>
          <p:nvPr/>
        </p:nvCxnSpPr>
        <p:spPr>
          <a:xfrm>
            <a:off x="676656" y="4736592"/>
            <a:ext cx="4480560" cy="0"/>
          </a:xfrm>
          <a:prstGeom prst="line">
            <a:avLst/>
          </a:prstGeom>
          <a:ln w="15240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7" name="0243 Connector"/>
          <p:cNvCxnSpPr/>
          <p:nvPr/>
        </p:nvCxnSpPr>
        <p:spPr>
          <a:xfrm>
            <a:off x="676656" y="5312664"/>
            <a:ext cx="4480560" cy="0"/>
          </a:xfrm>
          <a:prstGeom prst="line">
            <a:avLst/>
          </a:prstGeom>
          <a:ln w="15240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8" name="0244 Connector"/>
          <p:cNvCxnSpPr/>
          <p:nvPr/>
        </p:nvCxnSpPr>
        <p:spPr>
          <a:xfrm>
            <a:off x="1143000" y="4398264"/>
            <a:ext cx="0" cy="1435608"/>
          </a:xfrm>
          <a:prstGeom prst="line">
            <a:avLst/>
          </a:prstGeom>
          <a:ln w="15240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9" name="0245 Connector"/>
          <p:cNvCxnSpPr/>
          <p:nvPr/>
        </p:nvCxnSpPr>
        <p:spPr>
          <a:xfrm>
            <a:off x="2532888" y="4398264"/>
            <a:ext cx="0" cy="1435608"/>
          </a:xfrm>
          <a:prstGeom prst="line">
            <a:avLst/>
          </a:prstGeom>
          <a:ln w="15240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50" name="0246 Connector"/>
          <p:cNvCxnSpPr/>
          <p:nvPr/>
        </p:nvCxnSpPr>
        <p:spPr>
          <a:xfrm>
            <a:off x="4334256" y="4398264"/>
            <a:ext cx="0" cy="1435608"/>
          </a:xfrm>
          <a:prstGeom prst="line">
            <a:avLst/>
          </a:prstGeom>
          <a:ln w="152400">
            <a:solidFill>
              <a:srgbClr val="FFFFFF"/>
            </a:solidFill>
          </a:ln>
          <a:effectLst/>
        </p:spPr>
        <p:style>
          <a:lnRef idx="2">
            <a:schemeClr val="accent1"/>
          </a:lnRef>
          <a:fillRef idx="0">
            <a:schemeClr val="accent1"/>
          </a:fillRef>
          <a:effectRef idx="0">
            <a:schemeClr val="accent1"/>
          </a:effectRef>
          <a:fontRef idx="minor">
            <a:schemeClr val="tx1"/>
          </a:fontRef>
        </p:style>
      </p:cxnSp>
      <p:sp>
        <p:nvSpPr>
          <p:cNvPr id="51" name="0247 Circle"/>
          <p:cNvSpPr/>
          <p:nvPr/>
        </p:nvSpPr>
        <p:spPr>
          <a:xfrm>
            <a:off x="832104" y="5129784"/>
            <a:ext cx="274320" cy="274320"/>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0248 Circle"/>
          <p:cNvSpPr/>
          <p:nvPr/>
        </p:nvSpPr>
        <p:spPr>
          <a:xfrm>
            <a:off x="2295144" y="4617720"/>
            <a:ext cx="356616" cy="356616"/>
          </a:xfrm>
          <a:prstGeom prst="ellipse">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0249 Circle"/>
          <p:cNvSpPr/>
          <p:nvPr/>
        </p:nvSpPr>
        <p:spPr>
          <a:xfrm>
            <a:off x="4242816" y="4617720"/>
            <a:ext cx="356616" cy="356616"/>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0250 Text: A"/>
          <p:cNvSpPr txBox="1"/>
          <p:nvPr/>
        </p:nvSpPr>
        <p:spPr>
          <a:xfrm>
            <a:off x="2304288" y="4663440"/>
            <a:ext cx="338328" cy="21031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A</a:t>
            </a:r>
          </a:p>
        </p:txBody>
      </p:sp>
      <p:sp>
        <p:nvSpPr>
          <p:cNvPr id="55" name="0251 Text: B"/>
          <p:cNvSpPr txBox="1"/>
          <p:nvPr/>
        </p:nvSpPr>
        <p:spPr>
          <a:xfrm>
            <a:off x="4251960" y="4663440"/>
            <a:ext cx="338328" cy="21031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B</a:t>
            </a:r>
          </a:p>
        </p:txBody>
      </p:sp>
      <p:cxnSp>
        <p:nvCxnSpPr>
          <p:cNvPr id="56" name="0252 Connector"/>
          <p:cNvCxnSpPr/>
          <p:nvPr/>
        </p:nvCxnSpPr>
        <p:spPr>
          <a:xfrm>
            <a:off x="969264" y="5276088"/>
            <a:ext cx="722376" cy="0"/>
          </a:xfrm>
          <a:prstGeom prst="line">
            <a:avLst/>
          </a:prstGeom>
          <a:ln w="34290">
            <a:solidFill>
              <a:srgbClr val="155EEF"/>
            </a:solidFill>
            <a:prstDash val="dash"/>
          </a:ln>
          <a:effectLst/>
        </p:spPr>
        <p:style>
          <a:lnRef idx="2">
            <a:schemeClr val="accent1"/>
          </a:lnRef>
          <a:fillRef idx="0">
            <a:schemeClr val="accent1"/>
          </a:fillRef>
          <a:effectRef idx="0">
            <a:schemeClr val="accent1"/>
          </a:effectRef>
          <a:fontRef idx="minor">
            <a:schemeClr val="tx1"/>
          </a:fontRef>
        </p:style>
      </p:cxnSp>
      <p:cxnSp>
        <p:nvCxnSpPr>
          <p:cNvPr id="57" name="0253 Connector"/>
          <p:cNvCxnSpPr/>
          <p:nvPr/>
        </p:nvCxnSpPr>
        <p:spPr>
          <a:xfrm flipV="1">
            <a:off x="1691640" y="4800600"/>
            <a:ext cx="0" cy="475488"/>
          </a:xfrm>
          <a:prstGeom prst="line">
            <a:avLst/>
          </a:prstGeom>
          <a:ln w="34290">
            <a:solidFill>
              <a:srgbClr val="155EEF"/>
            </a:solidFill>
            <a:prstDash val="dash"/>
          </a:ln>
          <a:effectLst/>
        </p:spPr>
        <p:style>
          <a:lnRef idx="2">
            <a:schemeClr val="accent1"/>
          </a:lnRef>
          <a:fillRef idx="0">
            <a:schemeClr val="accent1"/>
          </a:fillRef>
          <a:effectRef idx="0">
            <a:schemeClr val="accent1"/>
          </a:effectRef>
          <a:fontRef idx="minor">
            <a:schemeClr val="tx1"/>
          </a:fontRef>
        </p:style>
      </p:cxnSp>
      <p:cxnSp>
        <p:nvCxnSpPr>
          <p:cNvPr id="58" name="0254 Connector"/>
          <p:cNvCxnSpPr/>
          <p:nvPr/>
        </p:nvCxnSpPr>
        <p:spPr>
          <a:xfrm>
            <a:off x="1691640" y="4800600"/>
            <a:ext cx="2505456" cy="0"/>
          </a:xfrm>
          <a:prstGeom prst="line">
            <a:avLst/>
          </a:prstGeom>
          <a:ln w="34290">
            <a:solidFill>
              <a:srgbClr val="155EEF"/>
            </a:solidFill>
            <a:prstDash val="dash"/>
          </a:ln>
          <a:effectLst/>
        </p:spPr>
        <p:style>
          <a:lnRef idx="2">
            <a:schemeClr val="accent1"/>
          </a:lnRef>
          <a:fillRef idx="0">
            <a:schemeClr val="accent1"/>
          </a:fillRef>
          <a:effectRef idx="0">
            <a:schemeClr val="accent1"/>
          </a:effectRef>
          <a:fontRef idx="minor">
            <a:schemeClr val="tx1"/>
          </a:fontRef>
        </p:style>
      </p:cxnSp>
      <p:sp>
        <p:nvSpPr>
          <p:cNvPr id="59" name="0255 Label background"/>
          <p:cNvSpPr/>
          <p:nvPr/>
        </p:nvSpPr>
        <p:spPr>
          <a:xfrm>
            <a:off x="722376" y="5568696"/>
            <a:ext cx="1874519" cy="283464"/>
          </a:xfrm>
          <a:prstGeom prst="roundRect">
            <a:avLst>
              <a:gd name="adj" fmla="val 25000"/>
            </a:avLst>
          </a:prstGeom>
          <a:solidFill>
            <a:srgbClr val="FFF0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0256 Text: A: access blocked"/>
          <p:cNvSpPr txBox="1"/>
          <p:nvPr/>
        </p:nvSpPr>
        <p:spPr>
          <a:xfrm>
            <a:off x="786384" y="5591556"/>
            <a:ext cx="1746503" cy="246888"/>
          </a:xfrm>
          <a:prstGeom prst="rect">
            <a:avLst/>
          </a:prstGeom>
          <a:noFill/>
          <a:effectLst/>
        </p:spPr>
        <p:txBody>
          <a:bodyPr wrap="square" lIns="0" tIns="0" rIns="0" bIns="0" anchor="ctr">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00" b="0" i="0" u="none" strike="noStrike" kern="1200" cap="none" spc="0" normalizeH="0" baseline="0" noProof="0">
                <a:ln>
                  <a:noFill/>
                </a:ln>
                <a:solidFill>
                  <a:srgbClr val="B42318"/>
                </a:solidFill>
                <a:effectLst/>
                <a:uLnTx/>
                <a:uFillTx/>
                <a:latin typeface="Arial"/>
                <a:ea typeface="+mn-ea"/>
                <a:cs typeface="+mn-cs"/>
              </a:rPr>
              <a:t>A: access blocked</a:t>
            </a:r>
          </a:p>
        </p:txBody>
      </p:sp>
      <p:sp>
        <p:nvSpPr>
          <p:cNvPr id="61" name="0257 Label background"/>
          <p:cNvSpPr/>
          <p:nvPr/>
        </p:nvSpPr>
        <p:spPr>
          <a:xfrm>
            <a:off x="2971800" y="5568696"/>
            <a:ext cx="2167128" cy="283464"/>
          </a:xfrm>
          <a:prstGeom prst="roundRect">
            <a:avLst>
              <a:gd name="adj" fmla="val 250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0258 Text: B: new destination"/>
          <p:cNvSpPr txBox="1"/>
          <p:nvPr/>
        </p:nvSpPr>
        <p:spPr>
          <a:xfrm>
            <a:off x="3035808" y="5591556"/>
            <a:ext cx="2039112" cy="246888"/>
          </a:xfrm>
          <a:prstGeom prst="rect">
            <a:avLst/>
          </a:prstGeom>
          <a:noFill/>
          <a:effectLst/>
        </p:spPr>
        <p:txBody>
          <a:bodyPr wrap="square" lIns="0" tIns="0" rIns="0" bIns="0" anchor="ctr">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00" b="0" i="0" u="none" strike="noStrike" kern="1200" cap="none" spc="0" normalizeH="0" baseline="0" noProof="0">
                <a:ln>
                  <a:noFill/>
                </a:ln>
                <a:solidFill>
                  <a:srgbClr val="155EEF"/>
                </a:solidFill>
                <a:effectLst/>
                <a:uLnTx/>
                <a:uFillTx/>
                <a:latin typeface="Arial"/>
                <a:ea typeface="+mn-ea"/>
                <a:cs typeface="+mn-cs"/>
              </a:rPr>
              <a:t>B: new destination</a:t>
            </a:r>
          </a:p>
        </p:txBody>
      </p:sp>
      <p:sp>
        <p:nvSpPr>
          <p:cNvPr id="63" name="0259 Text: Report once. The backend reassigns."/>
          <p:cNvSpPr txBox="1"/>
          <p:nvPr/>
        </p:nvSpPr>
        <p:spPr>
          <a:xfrm>
            <a:off x="5824728" y="4288536"/>
            <a:ext cx="5614416" cy="5760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300" b="1" i="0" u="none" strike="noStrike" kern="1200" cap="none" spc="0" normalizeH="0" baseline="0" noProof="0">
                <a:ln>
                  <a:noFill/>
                </a:ln>
                <a:solidFill>
                  <a:srgbClr val="1E2D3D"/>
                </a:solidFill>
                <a:effectLst/>
                <a:uLnTx/>
                <a:uFillTx/>
                <a:latin typeface="Arial"/>
                <a:ea typeface="+mn-ea"/>
                <a:cs typeface="+mn-cs"/>
              </a:rPr>
              <a:t>Report once. The backend reassigns.</a:t>
            </a:r>
          </a:p>
        </p:txBody>
      </p:sp>
      <p:sp>
        <p:nvSpPr>
          <p:cNvPr id="64" name="0260 Text: Exclude the inaccessible AED.&#10;Return a new desti"/>
          <p:cNvSpPr txBox="1"/>
          <p:nvPr/>
        </p:nvSpPr>
        <p:spPr>
          <a:xfrm>
            <a:off x="5852160" y="4928616"/>
            <a:ext cx="5577840" cy="5760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Exclude the inaccessible AED.</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657187"/>
                </a:solidFill>
                <a:effectLst/>
                <a:uLnTx/>
                <a:uFillTx/>
                <a:latin typeface="Arial"/>
                <a:ea typeface="+mn-ea"/>
                <a:cs typeface="+mn-cs"/>
              </a:rPr>
              <a:t>Return a new destination or “no candidate.”</a:t>
            </a:r>
          </a:p>
        </p:txBody>
      </p:sp>
      <p:sp>
        <p:nvSpPr>
          <p:cNvPr id="65" name="0261 Text: Completion still requires the helper’s report."/>
          <p:cNvSpPr txBox="1"/>
          <p:nvPr/>
        </p:nvSpPr>
        <p:spPr>
          <a:xfrm>
            <a:off x="5852160" y="5660136"/>
            <a:ext cx="557784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1" i="0" u="none" strike="noStrike" kern="1200" cap="none" spc="0" normalizeH="0" baseline="0" noProof="0">
                <a:ln>
                  <a:noFill/>
                </a:ln>
                <a:solidFill>
                  <a:srgbClr val="155EEF"/>
                </a:solidFill>
                <a:effectLst/>
                <a:uLnTx/>
                <a:uFillTx/>
                <a:latin typeface="Arial"/>
                <a:ea typeface="+mn-ea"/>
                <a:cs typeface="+mn-cs"/>
              </a:rPr>
              <a:t>Completion still requires the helper’s report.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262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263 Text: HELPERS AND HANDOFF"/>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HELPERS AND HANDOFF</a:t>
            </a:r>
          </a:p>
        </p:txBody>
      </p:sp>
      <p:sp>
        <p:nvSpPr>
          <p:cNvPr id="4" name="0264 Text: The handoff should not start from scratch."/>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The handoff should not start from scratch.</a:t>
            </a:r>
          </a:p>
        </p:txBody>
      </p:sp>
      <p:sp>
        <p:nvSpPr>
          <p:cNvPr id="5" name="0265 Text: Give each role the information needed for its pa"/>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Give each role the information needed for its part of the job.</a:t>
            </a:r>
          </a:p>
        </p:txBody>
      </p:sp>
      <p:cxnSp>
        <p:nvCxnSpPr>
          <p:cNvPr id="6" name="0266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267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268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269 Panel"/>
          <p:cNvSpPr/>
          <p:nvPr/>
        </p:nvSpPr>
        <p:spPr>
          <a:xfrm>
            <a:off x="457200" y="2066543"/>
            <a:ext cx="2834640" cy="4023360"/>
          </a:xfrm>
          <a:prstGeom prst="roundRect">
            <a:avLst>
              <a:gd name="adj" fmla="val 451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270 Text: Scan to join"/>
          <p:cNvSpPr txBox="1">
            <a:spLocks/>
          </p:cNvSpPr>
          <p:nvPr/>
        </p:nvSpPr>
        <p:spPr>
          <a:xfrm>
            <a:off x="694944" y="2276856"/>
            <a:ext cx="2377440" cy="53035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300" b="1" i="0" u="none" strike="noStrike" kern="1200" cap="none" spc="0" normalizeH="0" baseline="0" noProof="0">
                <a:ln>
                  <a:noFill/>
                </a:ln>
                <a:solidFill>
                  <a:srgbClr val="1E2D3D"/>
                </a:solidFill>
                <a:effectLst/>
                <a:uLnTx/>
                <a:uFillTx/>
                <a:latin typeface="Arial"/>
                <a:ea typeface="+mn-ea"/>
                <a:cs typeface="+mn-cs"/>
              </a:rPr>
              <a:t>Scan to join</a:t>
            </a:r>
          </a:p>
        </p:txBody>
      </p:sp>
      <p:sp>
        <p:nvSpPr>
          <p:cNvPr id="11" name="0271 Editable QR illustration cell"/>
          <p:cNvSpPr/>
          <p:nvPr/>
        </p:nvSpPr>
        <p:spPr>
          <a:xfrm>
            <a:off x="758952"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0272 Editable QR illustration cell"/>
          <p:cNvSpPr/>
          <p:nvPr/>
        </p:nvSpPr>
        <p:spPr>
          <a:xfrm>
            <a:off x="824788"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0273 Editable QR illustration cell"/>
          <p:cNvSpPr/>
          <p:nvPr/>
        </p:nvSpPr>
        <p:spPr>
          <a:xfrm>
            <a:off x="890625"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0274 Editable QR illustration cell"/>
          <p:cNvSpPr/>
          <p:nvPr/>
        </p:nvSpPr>
        <p:spPr>
          <a:xfrm>
            <a:off x="956462"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0275 Editable QR illustration cell"/>
          <p:cNvSpPr/>
          <p:nvPr/>
        </p:nvSpPr>
        <p:spPr>
          <a:xfrm>
            <a:off x="1022299"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0276 Editable QR illustration cell"/>
          <p:cNvSpPr/>
          <p:nvPr/>
        </p:nvSpPr>
        <p:spPr>
          <a:xfrm>
            <a:off x="1088136"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0277 Editable QR illustration cell"/>
          <p:cNvSpPr/>
          <p:nvPr/>
        </p:nvSpPr>
        <p:spPr>
          <a:xfrm>
            <a:off x="1153972"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0278 Editable QR illustration cell"/>
          <p:cNvSpPr/>
          <p:nvPr/>
        </p:nvSpPr>
        <p:spPr>
          <a:xfrm>
            <a:off x="1285646"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0279 Editable QR illustration cell"/>
          <p:cNvSpPr/>
          <p:nvPr/>
        </p:nvSpPr>
        <p:spPr>
          <a:xfrm>
            <a:off x="1351483"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0280 Editable QR illustration cell"/>
          <p:cNvSpPr/>
          <p:nvPr/>
        </p:nvSpPr>
        <p:spPr>
          <a:xfrm>
            <a:off x="1417319"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0281 Editable QR illustration cell"/>
          <p:cNvSpPr/>
          <p:nvPr/>
        </p:nvSpPr>
        <p:spPr>
          <a:xfrm>
            <a:off x="1483156"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0282 Editable QR illustration cell"/>
          <p:cNvSpPr/>
          <p:nvPr/>
        </p:nvSpPr>
        <p:spPr>
          <a:xfrm>
            <a:off x="1548993" y="288950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0283 Editable QR illustration cell"/>
          <p:cNvSpPr/>
          <p:nvPr/>
        </p:nvSpPr>
        <p:spPr>
          <a:xfrm>
            <a:off x="758952" y="2955340"/>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0284 Editable QR illustration cell"/>
          <p:cNvSpPr/>
          <p:nvPr/>
        </p:nvSpPr>
        <p:spPr>
          <a:xfrm>
            <a:off x="1022299" y="2955340"/>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0285 Editable QR illustration cell"/>
          <p:cNvSpPr/>
          <p:nvPr/>
        </p:nvSpPr>
        <p:spPr>
          <a:xfrm>
            <a:off x="1219809" y="2955340"/>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0286 Editable QR illustration cell"/>
          <p:cNvSpPr/>
          <p:nvPr/>
        </p:nvSpPr>
        <p:spPr>
          <a:xfrm>
            <a:off x="1285646" y="2955340"/>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0287 Editable QR illustration cell"/>
          <p:cNvSpPr/>
          <p:nvPr/>
        </p:nvSpPr>
        <p:spPr>
          <a:xfrm>
            <a:off x="1548993" y="2955340"/>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0288 Editable QR illustration cell"/>
          <p:cNvSpPr/>
          <p:nvPr/>
        </p:nvSpPr>
        <p:spPr>
          <a:xfrm>
            <a:off x="758952" y="3021177"/>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0289 Editable QR illustration cell"/>
          <p:cNvSpPr/>
          <p:nvPr/>
        </p:nvSpPr>
        <p:spPr>
          <a:xfrm>
            <a:off x="890625" y="3021177"/>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0290 Editable QR illustration cell"/>
          <p:cNvSpPr/>
          <p:nvPr/>
        </p:nvSpPr>
        <p:spPr>
          <a:xfrm>
            <a:off x="1022299" y="3021177"/>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0291 Editable QR illustration cell"/>
          <p:cNvSpPr/>
          <p:nvPr/>
        </p:nvSpPr>
        <p:spPr>
          <a:xfrm>
            <a:off x="1219809" y="3021177"/>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0292 Editable QR illustration cell"/>
          <p:cNvSpPr/>
          <p:nvPr/>
        </p:nvSpPr>
        <p:spPr>
          <a:xfrm>
            <a:off x="1285646" y="3021177"/>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0293 Editable QR illustration cell"/>
          <p:cNvSpPr/>
          <p:nvPr/>
        </p:nvSpPr>
        <p:spPr>
          <a:xfrm>
            <a:off x="1417319" y="3021177"/>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0294 Editable QR illustration cell"/>
          <p:cNvSpPr/>
          <p:nvPr/>
        </p:nvSpPr>
        <p:spPr>
          <a:xfrm>
            <a:off x="1548993" y="3021177"/>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0295 Editable QR illustration cell"/>
          <p:cNvSpPr/>
          <p:nvPr/>
        </p:nvSpPr>
        <p:spPr>
          <a:xfrm>
            <a:off x="758952" y="308701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0296 Editable QR illustration cell"/>
          <p:cNvSpPr/>
          <p:nvPr/>
        </p:nvSpPr>
        <p:spPr>
          <a:xfrm>
            <a:off x="1022299" y="308701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0297 Editable QR illustration cell"/>
          <p:cNvSpPr/>
          <p:nvPr/>
        </p:nvSpPr>
        <p:spPr>
          <a:xfrm>
            <a:off x="1088136" y="308701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0298 Editable QR illustration cell"/>
          <p:cNvSpPr/>
          <p:nvPr/>
        </p:nvSpPr>
        <p:spPr>
          <a:xfrm>
            <a:off x="1153972" y="308701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0299 Editable QR illustration cell"/>
          <p:cNvSpPr/>
          <p:nvPr/>
        </p:nvSpPr>
        <p:spPr>
          <a:xfrm>
            <a:off x="1285646" y="308701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0300 Editable QR illustration cell"/>
          <p:cNvSpPr/>
          <p:nvPr/>
        </p:nvSpPr>
        <p:spPr>
          <a:xfrm>
            <a:off x="1548993" y="308701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0301 Editable QR illustration cell"/>
          <p:cNvSpPr/>
          <p:nvPr/>
        </p:nvSpPr>
        <p:spPr>
          <a:xfrm>
            <a:off x="758952"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0302 Editable QR illustration cell"/>
          <p:cNvSpPr/>
          <p:nvPr/>
        </p:nvSpPr>
        <p:spPr>
          <a:xfrm>
            <a:off x="824788"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0303 Editable QR illustration cell"/>
          <p:cNvSpPr/>
          <p:nvPr/>
        </p:nvSpPr>
        <p:spPr>
          <a:xfrm>
            <a:off x="890625"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0304 Editable QR illustration cell"/>
          <p:cNvSpPr/>
          <p:nvPr/>
        </p:nvSpPr>
        <p:spPr>
          <a:xfrm>
            <a:off x="956462"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0305 Editable QR illustration cell"/>
          <p:cNvSpPr/>
          <p:nvPr/>
        </p:nvSpPr>
        <p:spPr>
          <a:xfrm>
            <a:off x="1022299"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0306 Editable QR illustration cell"/>
          <p:cNvSpPr/>
          <p:nvPr/>
        </p:nvSpPr>
        <p:spPr>
          <a:xfrm>
            <a:off x="1285646"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0307 Editable QR illustration cell"/>
          <p:cNvSpPr/>
          <p:nvPr/>
        </p:nvSpPr>
        <p:spPr>
          <a:xfrm>
            <a:off x="1351483"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0308 Editable QR illustration cell"/>
          <p:cNvSpPr/>
          <p:nvPr/>
        </p:nvSpPr>
        <p:spPr>
          <a:xfrm>
            <a:off x="1417319"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0309 Editable QR illustration cell"/>
          <p:cNvSpPr/>
          <p:nvPr/>
        </p:nvSpPr>
        <p:spPr>
          <a:xfrm>
            <a:off x="1483156"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0310 Editable QR illustration cell"/>
          <p:cNvSpPr/>
          <p:nvPr/>
        </p:nvSpPr>
        <p:spPr>
          <a:xfrm>
            <a:off x="1548993" y="315285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0311 Editable QR illustration cell"/>
          <p:cNvSpPr/>
          <p:nvPr/>
        </p:nvSpPr>
        <p:spPr>
          <a:xfrm>
            <a:off x="758952" y="321868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0312 Editable QR illustration cell"/>
          <p:cNvSpPr/>
          <p:nvPr/>
        </p:nvSpPr>
        <p:spPr>
          <a:xfrm>
            <a:off x="824788" y="321868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0313 Editable QR illustration cell"/>
          <p:cNvSpPr/>
          <p:nvPr/>
        </p:nvSpPr>
        <p:spPr>
          <a:xfrm>
            <a:off x="1088136" y="321868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0314 Editable QR illustration cell"/>
          <p:cNvSpPr/>
          <p:nvPr/>
        </p:nvSpPr>
        <p:spPr>
          <a:xfrm>
            <a:off x="1153972" y="321868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0315 Editable QR illustration cell"/>
          <p:cNvSpPr/>
          <p:nvPr/>
        </p:nvSpPr>
        <p:spPr>
          <a:xfrm>
            <a:off x="1417319" y="321868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0316 Editable QR illustration cell"/>
          <p:cNvSpPr/>
          <p:nvPr/>
        </p:nvSpPr>
        <p:spPr>
          <a:xfrm>
            <a:off x="1483156" y="321868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0317 Editable QR illustration cell"/>
          <p:cNvSpPr/>
          <p:nvPr/>
        </p:nvSpPr>
        <p:spPr>
          <a:xfrm>
            <a:off x="890625" y="328452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8" name="0318 Editable QR illustration cell"/>
          <p:cNvSpPr/>
          <p:nvPr/>
        </p:nvSpPr>
        <p:spPr>
          <a:xfrm>
            <a:off x="1022299" y="328452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0319 Editable QR illustration cell"/>
          <p:cNvSpPr/>
          <p:nvPr/>
        </p:nvSpPr>
        <p:spPr>
          <a:xfrm>
            <a:off x="1219809" y="328452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0320 Editable QR illustration cell"/>
          <p:cNvSpPr/>
          <p:nvPr/>
        </p:nvSpPr>
        <p:spPr>
          <a:xfrm>
            <a:off x="1351483" y="328452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0321 Editable QR illustration cell"/>
          <p:cNvSpPr/>
          <p:nvPr/>
        </p:nvSpPr>
        <p:spPr>
          <a:xfrm>
            <a:off x="1548993" y="3284524"/>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0322 Editable QR illustration cell"/>
          <p:cNvSpPr/>
          <p:nvPr/>
        </p:nvSpPr>
        <p:spPr>
          <a:xfrm>
            <a:off x="890625" y="335036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0323 Editable QR illustration cell"/>
          <p:cNvSpPr/>
          <p:nvPr/>
        </p:nvSpPr>
        <p:spPr>
          <a:xfrm>
            <a:off x="1022299" y="335036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4" name="0324 Editable QR illustration cell"/>
          <p:cNvSpPr/>
          <p:nvPr/>
        </p:nvSpPr>
        <p:spPr>
          <a:xfrm>
            <a:off x="1219809" y="335036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0325 Editable QR illustration cell"/>
          <p:cNvSpPr/>
          <p:nvPr/>
        </p:nvSpPr>
        <p:spPr>
          <a:xfrm>
            <a:off x="1351483" y="335036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0326 Editable QR illustration cell"/>
          <p:cNvSpPr/>
          <p:nvPr/>
        </p:nvSpPr>
        <p:spPr>
          <a:xfrm>
            <a:off x="1548993" y="3350361"/>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0327 Editable QR illustration cell"/>
          <p:cNvSpPr/>
          <p:nvPr/>
        </p:nvSpPr>
        <p:spPr>
          <a:xfrm>
            <a:off x="758952"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8" name="0328 Editable QR illustration cell"/>
          <p:cNvSpPr/>
          <p:nvPr/>
        </p:nvSpPr>
        <p:spPr>
          <a:xfrm>
            <a:off x="824788"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0329 Editable QR illustration cell"/>
          <p:cNvSpPr/>
          <p:nvPr/>
        </p:nvSpPr>
        <p:spPr>
          <a:xfrm>
            <a:off x="890625"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0" name="0330 Editable QR illustration cell"/>
          <p:cNvSpPr/>
          <p:nvPr/>
        </p:nvSpPr>
        <p:spPr>
          <a:xfrm>
            <a:off x="956462"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0331 Editable QR illustration cell"/>
          <p:cNvSpPr/>
          <p:nvPr/>
        </p:nvSpPr>
        <p:spPr>
          <a:xfrm>
            <a:off x="1022299"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0332 Editable QR illustration cell"/>
          <p:cNvSpPr/>
          <p:nvPr/>
        </p:nvSpPr>
        <p:spPr>
          <a:xfrm>
            <a:off x="1088136"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3" name="0333 Editable QR illustration cell"/>
          <p:cNvSpPr/>
          <p:nvPr/>
        </p:nvSpPr>
        <p:spPr>
          <a:xfrm>
            <a:off x="1153972"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4" name="0334 Editable QR illustration cell"/>
          <p:cNvSpPr/>
          <p:nvPr/>
        </p:nvSpPr>
        <p:spPr>
          <a:xfrm>
            <a:off x="1417319"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0335 Editable QR illustration cell"/>
          <p:cNvSpPr/>
          <p:nvPr/>
        </p:nvSpPr>
        <p:spPr>
          <a:xfrm>
            <a:off x="1483156" y="341619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6" name="0336 Editable QR illustration cell"/>
          <p:cNvSpPr/>
          <p:nvPr/>
        </p:nvSpPr>
        <p:spPr>
          <a:xfrm>
            <a:off x="758952" y="348203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0337 Editable QR illustration cell"/>
          <p:cNvSpPr/>
          <p:nvPr/>
        </p:nvSpPr>
        <p:spPr>
          <a:xfrm>
            <a:off x="1022299" y="348203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0338 Editable QR illustration cell"/>
          <p:cNvSpPr/>
          <p:nvPr/>
        </p:nvSpPr>
        <p:spPr>
          <a:xfrm>
            <a:off x="758952" y="3547872"/>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0339 Editable QR illustration cell"/>
          <p:cNvSpPr/>
          <p:nvPr/>
        </p:nvSpPr>
        <p:spPr>
          <a:xfrm>
            <a:off x="890625" y="3547872"/>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0340 Editable QR illustration cell"/>
          <p:cNvSpPr/>
          <p:nvPr/>
        </p:nvSpPr>
        <p:spPr>
          <a:xfrm>
            <a:off x="1022299" y="3547872"/>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0341 Editable QR illustration cell"/>
          <p:cNvSpPr/>
          <p:nvPr/>
        </p:nvSpPr>
        <p:spPr>
          <a:xfrm>
            <a:off x="1088136" y="3547872"/>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2" name="0342 Editable QR illustration cell"/>
          <p:cNvSpPr/>
          <p:nvPr/>
        </p:nvSpPr>
        <p:spPr>
          <a:xfrm>
            <a:off x="1153972" y="3547872"/>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3" name="0343 Editable QR illustration cell"/>
          <p:cNvSpPr/>
          <p:nvPr/>
        </p:nvSpPr>
        <p:spPr>
          <a:xfrm>
            <a:off x="1417319" y="3547872"/>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0344 Editable QR illustration cell"/>
          <p:cNvSpPr/>
          <p:nvPr/>
        </p:nvSpPr>
        <p:spPr>
          <a:xfrm>
            <a:off x="1483156" y="3547872"/>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5" name="0345 Editable QR illustration cell"/>
          <p:cNvSpPr/>
          <p:nvPr/>
        </p:nvSpPr>
        <p:spPr>
          <a:xfrm>
            <a:off x="758952" y="361370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6" name="0346 Editable QR illustration cell"/>
          <p:cNvSpPr/>
          <p:nvPr/>
        </p:nvSpPr>
        <p:spPr>
          <a:xfrm>
            <a:off x="1022299" y="361370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0347 Editable QR illustration cell"/>
          <p:cNvSpPr/>
          <p:nvPr/>
        </p:nvSpPr>
        <p:spPr>
          <a:xfrm>
            <a:off x="1219809" y="361370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8" name="0348 Editable QR illustration cell"/>
          <p:cNvSpPr/>
          <p:nvPr/>
        </p:nvSpPr>
        <p:spPr>
          <a:xfrm>
            <a:off x="1351483" y="361370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9" name="0349 Editable QR illustration cell"/>
          <p:cNvSpPr/>
          <p:nvPr/>
        </p:nvSpPr>
        <p:spPr>
          <a:xfrm>
            <a:off x="1548993" y="3613708"/>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0350 Editable QR illustration cell"/>
          <p:cNvSpPr/>
          <p:nvPr/>
        </p:nvSpPr>
        <p:spPr>
          <a:xfrm>
            <a:off x="758952"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0351 Editable QR illustration cell"/>
          <p:cNvSpPr/>
          <p:nvPr/>
        </p:nvSpPr>
        <p:spPr>
          <a:xfrm>
            <a:off x="824788"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2" name="0352 Editable QR illustration cell"/>
          <p:cNvSpPr/>
          <p:nvPr/>
        </p:nvSpPr>
        <p:spPr>
          <a:xfrm>
            <a:off x="890625"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0353 Editable QR illustration cell"/>
          <p:cNvSpPr/>
          <p:nvPr/>
        </p:nvSpPr>
        <p:spPr>
          <a:xfrm>
            <a:off x="956462"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4" name="0354 Editable QR illustration cell"/>
          <p:cNvSpPr/>
          <p:nvPr/>
        </p:nvSpPr>
        <p:spPr>
          <a:xfrm>
            <a:off x="1022299"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5" name="0355 Editable QR illustration cell"/>
          <p:cNvSpPr/>
          <p:nvPr/>
        </p:nvSpPr>
        <p:spPr>
          <a:xfrm>
            <a:off x="1219809"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0356 Editable QR illustration cell"/>
          <p:cNvSpPr/>
          <p:nvPr/>
        </p:nvSpPr>
        <p:spPr>
          <a:xfrm>
            <a:off x="1351483"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7" name="0357 Editable QR illustration cell"/>
          <p:cNvSpPr/>
          <p:nvPr/>
        </p:nvSpPr>
        <p:spPr>
          <a:xfrm>
            <a:off x="1548993" y="3679545"/>
            <a:ext cx="60569" cy="60569"/>
          </a:xfrm>
          <a:prstGeom prst="rect">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8" name="0358 Text: One-time&#10;invitation"/>
          <p:cNvSpPr txBox="1"/>
          <p:nvPr/>
        </p:nvSpPr>
        <p:spPr>
          <a:xfrm>
            <a:off x="1883664" y="2962656"/>
            <a:ext cx="1170432" cy="6675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1" i="0" u="none" strike="noStrike" kern="1200" cap="none" spc="0" normalizeH="0" baseline="0" noProof="0">
                <a:ln>
                  <a:noFill/>
                </a:ln>
                <a:solidFill>
                  <a:srgbClr val="155EEF"/>
                </a:solidFill>
                <a:effectLst/>
                <a:uLnTx/>
                <a:uFillTx/>
                <a:latin typeface="Arial"/>
                <a:ea typeface="+mn-ea"/>
                <a:cs typeface="+mn-cs"/>
              </a:rPr>
              <a:t>One-time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1" i="0" u="none" strike="noStrike" kern="1200" cap="none" spc="0" normalizeH="0" baseline="0" noProof="0">
                <a:ln>
                  <a:noFill/>
                </a:ln>
                <a:solidFill>
                  <a:srgbClr val="155EEF"/>
                </a:solidFill>
                <a:effectLst/>
                <a:uLnTx/>
                <a:uFillTx/>
                <a:latin typeface="Arial"/>
                <a:ea typeface="+mn-ea"/>
                <a:cs typeface="+mn-cs"/>
              </a:rPr>
              <a:t>invitation</a:t>
            </a:r>
          </a:p>
        </p:txBody>
      </p:sp>
      <p:cxnSp>
        <p:nvCxnSpPr>
          <p:cNvPr id="99" name="0359 Connector"/>
          <p:cNvCxnSpPr/>
          <p:nvPr/>
        </p:nvCxnSpPr>
        <p:spPr>
          <a:xfrm>
            <a:off x="694944" y="4050791"/>
            <a:ext cx="2340864" cy="0"/>
          </a:xfrm>
          <a:prstGeom prst="line">
            <a:avLst/>
          </a:prstGeom>
          <a:ln w="20320">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100" name="0360 Text: Runner"/>
          <p:cNvSpPr txBox="1"/>
          <p:nvPr/>
        </p:nvSpPr>
        <p:spPr>
          <a:xfrm>
            <a:off x="713232" y="4279392"/>
            <a:ext cx="9144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155EEF"/>
                </a:solidFill>
                <a:effectLst/>
                <a:uLnTx/>
                <a:uFillTx/>
                <a:latin typeface="Arial"/>
                <a:ea typeface="+mn-ea"/>
                <a:cs typeface="+mn-cs"/>
              </a:rPr>
              <a:t>Runner</a:t>
            </a:r>
          </a:p>
        </p:txBody>
      </p:sp>
      <p:sp>
        <p:nvSpPr>
          <p:cNvPr id="101" name="0361 Text: Assigned task"/>
          <p:cNvSpPr txBox="1"/>
          <p:nvPr/>
        </p:nvSpPr>
        <p:spPr>
          <a:xfrm>
            <a:off x="1700784" y="4279392"/>
            <a:ext cx="1307592"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260" b="0" i="0" u="none" strike="noStrike" kern="1200" cap="none" spc="0" normalizeH="0" baseline="0" noProof="0">
                <a:ln>
                  <a:noFill/>
                </a:ln>
                <a:solidFill>
                  <a:srgbClr val="657187"/>
                </a:solidFill>
                <a:effectLst/>
                <a:uLnTx/>
                <a:uFillTx/>
                <a:latin typeface="Arial"/>
                <a:ea typeface="+mn-ea"/>
                <a:cs typeface="+mn-cs"/>
              </a:rPr>
              <a:t>Assigned task</a:t>
            </a:r>
          </a:p>
        </p:txBody>
      </p:sp>
      <p:sp>
        <p:nvSpPr>
          <p:cNvPr id="102" name="0362 Text: Greeter"/>
          <p:cNvSpPr txBox="1"/>
          <p:nvPr/>
        </p:nvSpPr>
        <p:spPr>
          <a:xfrm>
            <a:off x="713232" y="4773168"/>
            <a:ext cx="9144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155EEF"/>
                </a:solidFill>
                <a:effectLst/>
                <a:uLnTx/>
                <a:uFillTx/>
                <a:latin typeface="Arial"/>
                <a:ea typeface="+mn-ea"/>
                <a:cs typeface="+mn-cs"/>
              </a:rPr>
              <a:t>Greeter</a:t>
            </a:r>
          </a:p>
        </p:txBody>
      </p:sp>
      <p:sp>
        <p:nvSpPr>
          <p:cNvPr id="103" name="0363 Text: Scene snapshot"/>
          <p:cNvSpPr txBox="1"/>
          <p:nvPr/>
        </p:nvSpPr>
        <p:spPr>
          <a:xfrm>
            <a:off x="1700784" y="4773168"/>
            <a:ext cx="1307592"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260" b="0" i="0" u="none" strike="noStrike" kern="1200" cap="none" spc="0" normalizeH="0" baseline="0" noProof="0">
                <a:ln>
                  <a:noFill/>
                </a:ln>
                <a:solidFill>
                  <a:srgbClr val="657187"/>
                </a:solidFill>
                <a:effectLst/>
                <a:uLnTx/>
                <a:uFillTx/>
                <a:latin typeface="Arial"/>
                <a:ea typeface="+mn-ea"/>
                <a:cs typeface="+mn-cs"/>
              </a:rPr>
              <a:t>Scene snapshot</a:t>
            </a:r>
          </a:p>
        </p:txBody>
      </p:sp>
      <p:sp>
        <p:nvSpPr>
          <p:cNvPr id="104" name="0364 Text: EMS"/>
          <p:cNvSpPr txBox="1"/>
          <p:nvPr/>
        </p:nvSpPr>
        <p:spPr>
          <a:xfrm>
            <a:off x="713232" y="5266944"/>
            <a:ext cx="9144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50" b="1" i="0" u="none" strike="noStrike" kern="1200" cap="none" spc="0" normalizeH="0" baseline="0" noProof="0">
                <a:ln>
                  <a:noFill/>
                </a:ln>
                <a:solidFill>
                  <a:srgbClr val="087F5B"/>
                </a:solidFill>
                <a:effectLst/>
                <a:uLnTx/>
                <a:uFillTx/>
                <a:latin typeface="Arial"/>
                <a:ea typeface="+mn-ea"/>
                <a:cs typeface="+mn-cs"/>
              </a:rPr>
              <a:t>EMS</a:t>
            </a:r>
          </a:p>
        </p:txBody>
      </p:sp>
      <p:sp>
        <p:nvSpPr>
          <p:cNvPr id="105" name="0365 Text: Full handoff"/>
          <p:cNvSpPr txBox="1"/>
          <p:nvPr/>
        </p:nvSpPr>
        <p:spPr>
          <a:xfrm>
            <a:off x="1700784" y="5266944"/>
            <a:ext cx="1307592"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260" b="0" i="0" u="none" strike="noStrike" kern="1200" cap="none" spc="0" normalizeH="0" baseline="0" noProof="0">
                <a:ln>
                  <a:noFill/>
                </a:ln>
                <a:solidFill>
                  <a:srgbClr val="657187"/>
                </a:solidFill>
                <a:effectLst/>
                <a:uLnTx/>
                <a:uFillTx/>
                <a:latin typeface="Arial"/>
                <a:ea typeface="+mn-ea"/>
                <a:cs typeface="+mn-cs"/>
              </a:rPr>
              <a:t>Full handoff</a:t>
            </a:r>
          </a:p>
        </p:txBody>
      </p:sp>
      <p:sp>
        <p:nvSpPr>
          <p:cNvPr id="106" name="0366 Panel"/>
          <p:cNvSpPr/>
          <p:nvPr/>
        </p:nvSpPr>
        <p:spPr>
          <a:xfrm>
            <a:off x="3505809" y="2057400"/>
            <a:ext cx="2743340" cy="4023360"/>
          </a:xfrm>
          <a:prstGeom prst="roundRect">
            <a:avLst>
              <a:gd name="adj" fmla="val 4929"/>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7" name="0367 Panel"/>
          <p:cNvSpPr/>
          <p:nvPr/>
        </p:nvSpPr>
        <p:spPr>
          <a:xfrm>
            <a:off x="3529584" y="2066543"/>
            <a:ext cx="2724912" cy="649224"/>
          </a:xfrm>
          <a:prstGeom prst="roundRect">
            <a:avLst>
              <a:gd name="adj" fmla="val 14084"/>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8" name="0368 Text: Snapshot"/>
          <p:cNvSpPr txBox="1"/>
          <p:nvPr/>
        </p:nvSpPr>
        <p:spPr>
          <a:xfrm>
            <a:off x="3840480" y="2267712"/>
            <a:ext cx="2231136"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Arial"/>
                <a:ea typeface="+mn-ea"/>
                <a:cs typeface="+mn-cs"/>
              </a:rPr>
              <a:t>Snapshot</a:t>
            </a:r>
          </a:p>
        </p:txBody>
      </p:sp>
      <p:sp>
        <p:nvSpPr>
          <p:cNvPr id="109" name="0369 Text: The current scene"/>
          <p:cNvSpPr txBox="1"/>
          <p:nvPr/>
        </p:nvSpPr>
        <p:spPr>
          <a:xfrm>
            <a:off x="3840480" y="2898648"/>
            <a:ext cx="2240280"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00" b="1" i="0" u="none" strike="noStrike" kern="1200" cap="none" spc="0" normalizeH="0" baseline="0" noProof="0">
                <a:ln>
                  <a:noFill/>
                </a:ln>
                <a:solidFill>
                  <a:srgbClr val="155EEF"/>
                </a:solidFill>
                <a:effectLst/>
                <a:uLnTx/>
                <a:uFillTx/>
                <a:latin typeface="Arial"/>
                <a:ea typeface="+mn-ea"/>
                <a:cs typeface="+mn-cs"/>
              </a:rPr>
              <a:t>The current scene</a:t>
            </a:r>
          </a:p>
        </p:txBody>
      </p:sp>
      <p:sp>
        <p:nvSpPr>
          <p:cNvPr id="110" name="0370 Panel"/>
          <p:cNvSpPr/>
          <p:nvPr/>
        </p:nvSpPr>
        <p:spPr>
          <a:xfrm>
            <a:off x="6373368" y="2066543"/>
            <a:ext cx="2596896" cy="4023360"/>
          </a:xfrm>
          <a:prstGeom prst="roundRect">
            <a:avLst>
              <a:gd name="adj" fmla="val 4929"/>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0371 Panel"/>
          <p:cNvSpPr/>
          <p:nvPr/>
        </p:nvSpPr>
        <p:spPr>
          <a:xfrm>
            <a:off x="6373368" y="2066543"/>
            <a:ext cx="2596896" cy="649224"/>
          </a:xfrm>
          <a:prstGeom prst="roundRect">
            <a:avLst>
              <a:gd name="adj" fmla="val 14084"/>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0372 Text: MIST"/>
          <p:cNvSpPr txBox="1"/>
          <p:nvPr/>
        </p:nvSpPr>
        <p:spPr>
          <a:xfrm>
            <a:off x="6556248" y="2267712"/>
            <a:ext cx="2231136"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Arial"/>
                <a:ea typeface="+mn-ea"/>
                <a:cs typeface="+mn-cs"/>
              </a:rPr>
              <a:t>MIST</a:t>
            </a:r>
          </a:p>
        </p:txBody>
      </p:sp>
      <p:sp>
        <p:nvSpPr>
          <p:cNvPr id="113" name="0373 Text: Recorded evidence"/>
          <p:cNvSpPr txBox="1"/>
          <p:nvPr/>
        </p:nvSpPr>
        <p:spPr>
          <a:xfrm>
            <a:off x="6556248" y="2898648"/>
            <a:ext cx="2240280"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00" b="1" i="0" u="none" strike="noStrike" kern="1200" cap="none" spc="0" normalizeH="0" baseline="0" noProof="0">
                <a:ln>
                  <a:noFill/>
                </a:ln>
                <a:solidFill>
                  <a:srgbClr val="087F5B"/>
                </a:solidFill>
                <a:effectLst/>
                <a:uLnTx/>
                <a:uFillTx/>
                <a:latin typeface="Arial"/>
                <a:ea typeface="+mn-ea"/>
                <a:cs typeface="+mn-cs"/>
              </a:rPr>
              <a:t>Recorded evidence</a:t>
            </a:r>
          </a:p>
        </p:txBody>
      </p:sp>
      <p:sp>
        <p:nvSpPr>
          <p:cNvPr id="114" name="0374 Panel"/>
          <p:cNvSpPr/>
          <p:nvPr/>
        </p:nvSpPr>
        <p:spPr>
          <a:xfrm>
            <a:off x="9089136" y="2066543"/>
            <a:ext cx="2596896" cy="4023360"/>
          </a:xfrm>
          <a:prstGeom prst="roundRect">
            <a:avLst>
              <a:gd name="adj" fmla="val 4929"/>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5" name="0375 Panel"/>
          <p:cNvSpPr/>
          <p:nvPr/>
        </p:nvSpPr>
        <p:spPr>
          <a:xfrm>
            <a:off x="9089136" y="2066543"/>
            <a:ext cx="2596896" cy="649224"/>
          </a:xfrm>
          <a:prstGeom prst="roundRect">
            <a:avLst>
              <a:gd name="adj" fmla="val 14084"/>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6" name="0376 Text: Timeline"/>
          <p:cNvSpPr txBox="1"/>
          <p:nvPr/>
        </p:nvSpPr>
        <p:spPr>
          <a:xfrm>
            <a:off x="9272016" y="2267712"/>
            <a:ext cx="2231136"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Arial"/>
                <a:ea typeface="+mn-ea"/>
                <a:cs typeface="+mn-cs"/>
              </a:rPr>
              <a:t>Timeline</a:t>
            </a:r>
          </a:p>
        </p:txBody>
      </p:sp>
      <p:sp>
        <p:nvSpPr>
          <p:cNvPr id="117" name="0377 Text: What happened, when"/>
          <p:cNvSpPr txBox="1"/>
          <p:nvPr/>
        </p:nvSpPr>
        <p:spPr>
          <a:xfrm>
            <a:off x="9272016" y="2898648"/>
            <a:ext cx="2240280"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00" b="1" i="0" u="none" strike="noStrike" kern="1200" cap="none" spc="0" normalizeH="0" baseline="0" noProof="0">
                <a:ln>
                  <a:noFill/>
                </a:ln>
                <a:solidFill>
                  <a:srgbClr val="155EEF"/>
                </a:solidFill>
                <a:effectLst/>
                <a:uLnTx/>
                <a:uFillTx/>
                <a:latin typeface="Arial"/>
                <a:ea typeface="+mn-ea"/>
                <a:cs typeface="+mn-cs"/>
              </a:rPr>
              <a:t>What happened, when</a:t>
            </a:r>
          </a:p>
        </p:txBody>
      </p:sp>
      <p:sp>
        <p:nvSpPr>
          <p:cNvPr id="118" name="0378 Text: Location&#10;Patient reports&#10;Known hazards"/>
          <p:cNvSpPr txBox="1"/>
          <p:nvPr/>
        </p:nvSpPr>
        <p:spPr>
          <a:xfrm>
            <a:off x="3840480" y="3602736"/>
            <a:ext cx="2185416" cy="13898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1E2D3D"/>
                </a:solidFill>
                <a:effectLst/>
                <a:uLnTx/>
                <a:uFillTx/>
                <a:latin typeface="Arial"/>
                <a:ea typeface="+mn-ea"/>
                <a:cs typeface="+mn-cs"/>
              </a:rPr>
              <a:t>Location</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1E2D3D"/>
                </a:solidFill>
                <a:effectLst/>
                <a:uLnTx/>
                <a:uFillTx/>
                <a:latin typeface="Arial"/>
                <a:ea typeface="+mn-ea"/>
                <a:cs typeface="+mn-cs"/>
              </a:rPr>
              <a:t>Patient reports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700" b="0" i="0" u="none" strike="noStrike" kern="1200" cap="none" spc="0" normalizeH="0" baseline="0" noProof="0">
                <a:ln>
                  <a:noFill/>
                </a:ln>
                <a:solidFill>
                  <a:srgbClr val="1E2D3D"/>
                </a:solidFill>
                <a:effectLst/>
                <a:uLnTx/>
                <a:uFillTx/>
                <a:latin typeface="Arial"/>
                <a:ea typeface="+mn-ea"/>
                <a:cs typeface="+mn-cs"/>
              </a:rPr>
              <a:t>Known hazards</a:t>
            </a:r>
          </a:p>
        </p:txBody>
      </p:sp>
      <p:sp>
        <p:nvSpPr>
          <p:cNvPr id="119" name="0379 Label background"/>
          <p:cNvSpPr/>
          <p:nvPr/>
        </p:nvSpPr>
        <p:spPr>
          <a:xfrm>
            <a:off x="3840480" y="5577840"/>
            <a:ext cx="2231136" cy="283464"/>
          </a:xfrm>
          <a:prstGeom prst="roundRect">
            <a:avLst>
              <a:gd name="adj" fmla="val 250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0" name="0380 Text: Same scene revision"/>
          <p:cNvSpPr txBox="1"/>
          <p:nvPr/>
        </p:nvSpPr>
        <p:spPr>
          <a:xfrm>
            <a:off x="3904488" y="5600700"/>
            <a:ext cx="2103120" cy="246888"/>
          </a:xfrm>
          <a:prstGeom prst="rect">
            <a:avLst/>
          </a:prstGeom>
          <a:noFill/>
          <a:effectLst/>
        </p:spPr>
        <p:txBody>
          <a:bodyPr wrap="square" lIns="0" tIns="0" rIns="0" bIns="0" anchor="ctr">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040" b="0" i="0" u="none" strike="noStrike" kern="1200" cap="none" spc="0" normalizeH="0" baseline="0" noProof="0">
                <a:ln>
                  <a:noFill/>
                </a:ln>
                <a:solidFill>
                  <a:srgbClr val="155EEF"/>
                </a:solidFill>
                <a:effectLst/>
                <a:uLnTx/>
                <a:uFillTx/>
                <a:latin typeface="Arial"/>
                <a:ea typeface="+mn-ea"/>
                <a:cs typeface="+mn-cs"/>
              </a:rPr>
              <a:t>Same scene revision</a:t>
            </a:r>
          </a:p>
        </p:txBody>
      </p:sp>
      <p:sp>
        <p:nvSpPr>
          <p:cNvPr id="121" name="0381 Text: M"/>
          <p:cNvSpPr txBox="1"/>
          <p:nvPr/>
        </p:nvSpPr>
        <p:spPr>
          <a:xfrm>
            <a:off x="6574536" y="3584448"/>
            <a:ext cx="310896"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087F5B"/>
                </a:solidFill>
                <a:effectLst/>
                <a:uLnTx/>
                <a:uFillTx/>
                <a:latin typeface="Arial"/>
                <a:ea typeface="+mn-ea"/>
                <a:cs typeface="+mn-cs"/>
              </a:rPr>
              <a:t>M</a:t>
            </a:r>
          </a:p>
        </p:txBody>
      </p:sp>
      <p:sp>
        <p:nvSpPr>
          <p:cNvPr id="122" name="0382 Text: Mechanism"/>
          <p:cNvSpPr txBox="1"/>
          <p:nvPr/>
        </p:nvSpPr>
        <p:spPr>
          <a:xfrm>
            <a:off x="6940296" y="3584448"/>
            <a:ext cx="1810512" cy="3474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1E2D3D"/>
                </a:solidFill>
                <a:effectLst/>
                <a:uLnTx/>
                <a:uFillTx/>
                <a:latin typeface="Arial"/>
                <a:ea typeface="+mn-ea"/>
                <a:cs typeface="+mn-cs"/>
              </a:rPr>
              <a:t>Mechanism</a:t>
            </a:r>
          </a:p>
        </p:txBody>
      </p:sp>
      <p:sp>
        <p:nvSpPr>
          <p:cNvPr id="123" name="0383 Text: I"/>
          <p:cNvSpPr txBox="1"/>
          <p:nvPr/>
        </p:nvSpPr>
        <p:spPr>
          <a:xfrm>
            <a:off x="6574536" y="4023360"/>
            <a:ext cx="310896"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087F5B"/>
                </a:solidFill>
                <a:effectLst/>
                <a:uLnTx/>
                <a:uFillTx/>
                <a:latin typeface="Arial"/>
                <a:ea typeface="+mn-ea"/>
                <a:cs typeface="+mn-cs"/>
              </a:rPr>
              <a:t>I</a:t>
            </a:r>
          </a:p>
        </p:txBody>
      </p:sp>
      <p:sp>
        <p:nvSpPr>
          <p:cNvPr id="124" name="0384 Text: Injuries"/>
          <p:cNvSpPr txBox="1"/>
          <p:nvPr/>
        </p:nvSpPr>
        <p:spPr>
          <a:xfrm>
            <a:off x="6940296" y="4023360"/>
            <a:ext cx="1810512" cy="3474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1E2D3D"/>
                </a:solidFill>
                <a:effectLst/>
                <a:uLnTx/>
                <a:uFillTx/>
                <a:latin typeface="Arial"/>
                <a:ea typeface="+mn-ea"/>
                <a:cs typeface="+mn-cs"/>
              </a:rPr>
              <a:t>Injuries</a:t>
            </a:r>
          </a:p>
        </p:txBody>
      </p:sp>
      <p:sp>
        <p:nvSpPr>
          <p:cNvPr id="125" name="0385 Text: S"/>
          <p:cNvSpPr txBox="1"/>
          <p:nvPr/>
        </p:nvSpPr>
        <p:spPr>
          <a:xfrm>
            <a:off x="6574536" y="4462272"/>
            <a:ext cx="310896"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087F5B"/>
                </a:solidFill>
                <a:effectLst/>
                <a:uLnTx/>
                <a:uFillTx/>
                <a:latin typeface="Arial"/>
                <a:ea typeface="+mn-ea"/>
                <a:cs typeface="+mn-cs"/>
              </a:rPr>
              <a:t>S</a:t>
            </a:r>
          </a:p>
        </p:txBody>
      </p:sp>
      <p:sp>
        <p:nvSpPr>
          <p:cNvPr id="126" name="0386 Text: Signs"/>
          <p:cNvSpPr txBox="1"/>
          <p:nvPr/>
        </p:nvSpPr>
        <p:spPr>
          <a:xfrm>
            <a:off x="6940296" y="4462272"/>
            <a:ext cx="1810512" cy="3474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1E2D3D"/>
                </a:solidFill>
                <a:effectLst/>
                <a:uLnTx/>
                <a:uFillTx/>
                <a:latin typeface="Arial"/>
                <a:ea typeface="+mn-ea"/>
                <a:cs typeface="+mn-cs"/>
              </a:rPr>
              <a:t>Signs</a:t>
            </a:r>
          </a:p>
        </p:txBody>
      </p:sp>
      <p:sp>
        <p:nvSpPr>
          <p:cNvPr id="127" name="0387 Text: T"/>
          <p:cNvSpPr txBox="1"/>
          <p:nvPr/>
        </p:nvSpPr>
        <p:spPr>
          <a:xfrm>
            <a:off x="6574536" y="4901183"/>
            <a:ext cx="310896"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087F5B"/>
                </a:solidFill>
                <a:effectLst/>
                <a:uLnTx/>
                <a:uFillTx/>
                <a:latin typeface="Arial"/>
                <a:ea typeface="+mn-ea"/>
                <a:cs typeface="+mn-cs"/>
              </a:rPr>
              <a:t>T</a:t>
            </a:r>
          </a:p>
        </p:txBody>
      </p:sp>
      <p:sp>
        <p:nvSpPr>
          <p:cNvPr id="128" name="0388 Text: Reported treatment"/>
          <p:cNvSpPr txBox="1"/>
          <p:nvPr/>
        </p:nvSpPr>
        <p:spPr>
          <a:xfrm>
            <a:off x="6940296" y="4901183"/>
            <a:ext cx="1810512" cy="3474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1E2D3D"/>
                </a:solidFill>
                <a:effectLst/>
                <a:uLnTx/>
                <a:uFillTx/>
                <a:latin typeface="Arial"/>
                <a:ea typeface="+mn-ea"/>
                <a:cs typeface="+mn-cs"/>
              </a:rPr>
              <a:t>Reported treatment</a:t>
            </a:r>
          </a:p>
        </p:txBody>
      </p:sp>
      <p:sp>
        <p:nvSpPr>
          <p:cNvPr id="129" name="0389 Circle"/>
          <p:cNvSpPr/>
          <p:nvPr/>
        </p:nvSpPr>
        <p:spPr>
          <a:xfrm>
            <a:off x="9326880" y="3630168"/>
            <a:ext cx="100584" cy="100584"/>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0" name="0390 Text: Report"/>
          <p:cNvSpPr txBox="1"/>
          <p:nvPr/>
        </p:nvSpPr>
        <p:spPr>
          <a:xfrm>
            <a:off x="9601200" y="3575304"/>
            <a:ext cx="18288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30" b="1" i="0" u="none" strike="noStrike" kern="1200" cap="none" spc="0" normalizeH="0" baseline="0" noProof="0">
                <a:ln>
                  <a:noFill/>
                </a:ln>
                <a:solidFill>
                  <a:srgbClr val="1E2D3D"/>
                </a:solidFill>
                <a:effectLst/>
                <a:uLnTx/>
                <a:uFillTx/>
                <a:latin typeface="Arial"/>
                <a:ea typeface="+mn-ea"/>
                <a:cs typeface="+mn-cs"/>
              </a:rPr>
              <a:t>Report</a:t>
            </a:r>
          </a:p>
        </p:txBody>
      </p:sp>
      <p:sp>
        <p:nvSpPr>
          <p:cNvPr id="131" name="0391 Text: Source + time"/>
          <p:cNvSpPr txBox="1"/>
          <p:nvPr/>
        </p:nvSpPr>
        <p:spPr>
          <a:xfrm>
            <a:off x="9601200" y="3840480"/>
            <a:ext cx="182880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140" b="0" i="0" u="none" strike="noStrike" kern="1200" cap="none" spc="0" normalizeH="0" baseline="0" noProof="0">
                <a:ln>
                  <a:noFill/>
                </a:ln>
                <a:solidFill>
                  <a:srgbClr val="657187"/>
                </a:solidFill>
                <a:effectLst/>
                <a:uLnTx/>
                <a:uFillTx/>
                <a:latin typeface="Arial"/>
                <a:ea typeface="+mn-ea"/>
                <a:cs typeface="+mn-cs"/>
              </a:rPr>
              <a:t>Source + time</a:t>
            </a:r>
          </a:p>
        </p:txBody>
      </p:sp>
      <p:sp>
        <p:nvSpPr>
          <p:cNvPr id="132" name="0392 Circle"/>
          <p:cNvSpPr/>
          <p:nvPr/>
        </p:nvSpPr>
        <p:spPr>
          <a:xfrm>
            <a:off x="9326880" y="4233672"/>
            <a:ext cx="100584" cy="100584"/>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3" name="0393 Text: Update"/>
          <p:cNvSpPr txBox="1"/>
          <p:nvPr/>
        </p:nvSpPr>
        <p:spPr>
          <a:xfrm>
            <a:off x="9601200" y="4178808"/>
            <a:ext cx="18288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30" b="1" i="0" u="none" strike="noStrike" kern="1200" cap="none" spc="0" normalizeH="0" baseline="0" noProof="0">
                <a:ln>
                  <a:noFill/>
                </a:ln>
                <a:solidFill>
                  <a:srgbClr val="1E2D3D"/>
                </a:solidFill>
                <a:effectLst/>
                <a:uLnTx/>
                <a:uFillTx/>
                <a:latin typeface="Arial"/>
                <a:ea typeface="+mn-ea"/>
                <a:cs typeface="+mn-cs"/>
              </a:rPr>
              <a:t>Update</a:t>
            </a:r>
          </a:p>
        </p:txBody>
      </p:sp>
      <p:sp>
        <p:nvSpPr>
          <p:cNvPr id="134" name="0394 Text: Confirmed or unknown"/>
          <p:cNvSpPr txBox="1"/>
          <p:nvPr/>
        </p:nvSpPr>
        <p:spPr>
          <a:xfrm>
            <a:off x="9601200" y="4443984"/>
            <a:ext cx="182880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140" b="0" i="0" u="none" strike="noStrike" kern="1200" cap="none" spc="0" normalizeH="0" baseline="0" noProof="0">
                <a:ln>
                  <a:noFill/>
                </a:ln>
                <a:solidFill>
                  <a:srgbClr val="657187"/>
                </a:solidFill>
                <a:effectLst/>
                <a:uLnTx/>
                <a:uFillTx/>
                <a:latin typeface="Arial"/>
                <a:ea typeface="+mn-ea"/>
                <a:cs typeface="+mn-cs"/>
              </a:rPr>
              <a:t>Confirmed or unknown</a:t>
            </a:r>
          </a:p>
        </p:txBody>
      </p:sp>
      <p:sp>
        <p:nvSpPr>
          <p:cNvPr id="135" name="0395 Circle"/>
          <p:cNvSpPr/>
          <p:nvPr/>
        </p:nvSpPr>
        <p:spPr>
          <a:xfrm>
            <a:off x="9326880" y="4837176"/>
            <a:ext cx="100584" cy="100584"/>
          </a:xfrm>
          <a:prstGeom prst="ellipse">
            <a:avLst/>
          </a:prstGeom>
          <a:solidFill>
            <a:srgbClr val="155E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6" name="0396 Text: Helper"/>
          <p:cNvSpPr txBox="1"/>
          <p:nvPr/>
        </p:nvSpPr>
        <p:spPr>
          <a:xfrm>
            <a:off x="9601200" y="4782312"/>
            <a:ext cx="18288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30" b="1" i="0" u="none" strike="noStrike" kern="1200" cap="none" spc="0" normalizeH="0" baseline="0" noProof="0">
                <a:ln>
                  <a:noFill/>
                </a:ln>
                <a:solidFill>
                  <a:srgbClr val="1E2D3D"/>
                </a:solidFill>
                <a:effectLst/>
                <a:uLnTx/>
                <a:uFillTx/>
                <a:latin typeface="Arial"/>
                <a:ea typeface="+mn-ea"/>
                <a:cs typeface="+mn-cs"/>
              </a:rPr>
              <a:t>Helper</a:t>
            </a:r>
          </a:p>
        </p:txBody>
      </p:sp>
      <p:sp>
        <p:nvSpPr>
          <p:cNvPr id="137" name="0397 Text: Progress and outcome"/>
          <p:cNvSpPr txBox="1"/>
          <p:nvPr/>
        </p:nvSpPr>
        <p:spPr>
          <a:xfrm>
            <a:off x="9601200" y="5047488"/>
            <a:ext cx="182880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140" b="0" i="0" u="none" strike="noStrike" kern="1200" cap="none" spc="0" normalizeH="0" baseline="0" noProof="0">
                <a:ln>
                  <a:noFill/>
                </a:ln>
                <a:solidFill>
                  <a:srgbClr val="657187"/>
                </a:solidFill>
                <a:effectLst/>
                <a:uLnTx/>
                <a:uFillTx/>
                <a:latin typeface="Arial"/>
                <a:ea typeface="+mn-ea"/>
                <a:cs typeface="+mn-cs"/>
              </a:rPr>
              <a:t>Progress and outcome</a:t>
            </a:r>
          </a:p>
        </p:txBody>
      </p:sp>
      <p:sp>
        <p:nvSpPr>
          <p:cNvPr id="138" name="0398 Text: Refresh with stale-data cues"/>
          <p:cNvSpPr txBox="1"/>
          <p:nvPr/>
        </p:nvSpPr>
        <p:spPr>
          <a:xfrm>
            <a:off x="9336024" y="5605272"/>
            <a:ext cx="2139696"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010" b="0" i="0" u="none" strike="noStrike" kern="1200" cap="none" spc="0" normalizeH="0" baseline="0" noProof="0">
                <a:ln>
                  <a:noFill/>
                </a:ln>
                <a:solidFill>
                  <a:srgbClr val="657187"/>
                </a:solidFill>
                <a:effectLst/>
                <a:uLnTx/>
                <a:uFillTx/>
                <a:latin typeface="Arial"/>
                <a:ea typeface="+mn-ea"/>
                <a:cs typeface="+mn-cs"/>
              </a:rPr>
              <a:t>Refresh with stale-data cues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399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400 Text: GEMINI AND RULES"/>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GEMINI AND RULES</a:t>
            </a:r>
          </a:p>
        </p:txBody>
      </p:sp>
      <p:sp>
        <p:nvSpPr>
          <p:cNvPr id="4" name="0401 Text: Gemini turns speech into something people can ch"/>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Gemini turns speech into something people can check.</a:t>
            </a:r>
          </a:p>
        </p:txBody>
      </p:sp>
      <p:sp>
        <p:nvSpPr>
          <p:cNvPr id="5" name="0402 Text: The model proposes an observation. A person conf"/>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The model proposes an observation. A person confirms it before it becomes evidence.</a:t>
            </a:r>
          </a:p>
        </p:txBody>
      </p:sp>
      <p:cxnSp>
        <p:nvCxnSpPr>
          <p:cNvPr id="6" name="0403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404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405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406 Panel"/>
          <p:cNvSpPr/>
          <p:nvPr/>
        </p:nvSpPr>
        <p:spPr>
          <a:xfrm>
            <a:off x="457200" y="2066543"/>
            <a:ext cx="3621024" cy="2542032"/>
          </a:xfrm>
          <a:prstGeom prst="roundRect">
            <a:avLst>
              <a:gd name="adj" fmla="val 5035"/>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407 Panel"/>
          <p:cNvSpPr/>
          <p:nvPr/>
        </p:nvSpPr>
        <p:spPr>
          <a:xfrm>
            <a:off x="4288536" y="2066543"/>
            <a:ext cx="3621024" cy="2542032"/>
          </a:xfrm>
          <a:prstGeom prst="roundRect">
            <a:avLst>
              <a:gd name="adj" fmla="val 5035"/>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0408 Panel"/>
          <p:cNvSpPr/>
          <p:nvPr/>
        </p:nvSpPr>
        <p:spPr>
          <a:xfrm>
            <a:off x="8119872" y="2066543"/>
            <a:ext cx="3621024" cy="2542032"/>
          </a:xfrm>
          <a:prstGeom prst="roundRect">
            <a:avLst>
              <a:gd name="adj" fmla="val 5035"/>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0409 mic icon"/>
          <p:cNvSpPr/>
          <p:nvPr/>
        </p:nvSpPr>
        <p:spPr>
          <a:xfrm>
            <a:off x="810615" y="2302459"/>
            <a:ext cx="111099" cy="226314"/>
          </a:xfrm>
          <a:prstGeom prst="roundRect">
            <a:avLst>
              <a:gd name="adj" fmla="val 25000"/>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 name="0410 Connector"/>
          <p:cNvCxnSpPr/>
          <p:nvPr/>
        </p:nvCxnSpPr>
        <p:spPr>
          <a:xfrm>
            <a:off x="736549" y="2430018"/>
            <a:ext cx="0" cy="9052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4" name="0411 Connector"/>
          <p:cNvCxnSpPr/>
          <p:nvPr/>
        </p:nvCxnSpPr>
        <p:spPr>
          <a:xfrm>
            <a:off x="736549" y="2520543"/>
            <a:ext cx="61722" cy="7818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5" name="0412 Connector"/>
          <p:cNvCxnSpPr/>
          <p:nvPr/>
        </p:nvCxnSpPr>
        <p:spPr>
          <a:xfrm>
            <a:off x="798271" y="2598724"/>
            <a:ext cx="139903"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6" name="0413 Connector"/>
          <p:cNvCxnSpPr/>
          <p:nvPr/>
        </p:nvCxnSpPr>
        <p:spPr>
          <a:xfrm flipV="1">
            <a:off x="938174" y="2520543"/>
            <a:ext cx="61722" cy="7818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7" name="0414 Connector"/>
          <p:cNvCxnSpPr/>
          <p:nvPr/>
        </p:nvCxnSpPr>
        <p:spPr>
          <a:xfrm flipV="1">
            <a:off x="999896" y="2430018"/>
            <a:ext cx="0" cy="9052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8" name="0415 Connector"/>
          <p:cNvCxnSpPr/>
          <p:nvPr/>
        </p:nvCxnSpPr>
        <p:spPr>
          <a:xfrm>
            <a:off x="868222" y="2598724"/>
            <a:ext cx="0" cy="8641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9" name="0416 Connector"/>
          <p:cNvCxnSpPr/>
          <p:nvPr/>
        </p:nvCxnSpPr>
        <p:spPr>
          <a:xfrm>
            <a:off x="785926" y="2689250"/>
            <a:ext cx="164592"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20" name="0417 Text: Spoken report"/>
          <p:cNvSpPr txBox="1"/>
          <p:nvPr/>
        </p:nvSpPr>
        <p:spPr>
          <a:xfrm>
            <a:off x="1261872" y="2368296"/>
            <a:ext cx="25603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2D3D"/>
                </a:solidFill>
                <a:effectLst/>
                <a:uLnTx/>
                <a:uFillTx/>
                <a:latin typeface="Arial"/>
                <a:ea typeface="+mn-ea"/>
                <a:cs typeface="+mn-cs"/>
              </a:rPr>
              <a:t>Spoken report</a:t>
            </a:r>
          </a:p>
        </p:txBody>
      </p:sp>
      <p:sp>
        <p:nvSpPr>
          <p:cNvPr id="21" name="0418 Text: “They are&#10;not responding.”"/>
          <p:cNvSpPr txBox="1"/>
          <p:nvPr/>
        </p:nvSpPr>
        <p:spPr>
          <a:xfrm>
            <a:off x="731520" y="3090672"/>
            <a:ext cx="3099816" cy="9326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600" b="1" i="0" u="none" strike="noStrike" kern="1200" cap="none" spc="0" normalizeH="0" baseline="0" noProof="0">
                <a:ln>
                  <a:noFill/>
                </a:ln>
                <a:solidFill>
                  <a:srgbClr val="1E2D3D"/>
                </a:solidFill>
                <a:effectLst/>
                <a:uLnTx/>
                <a:uFillTx/>
                <a:latin typeface="Arial"/>
                <a:ea typeface="+mn-ea"/>
                <a:cs typeface="+mn-cs"/>
              </a:rPr>
              <a:t>“They are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2600" b="1" i="0" u="none" strike="noStrike" kern="1200" cap="none" spc="0" normalizeH="0" baseline="0" noProof="0">
                <a:ln>
                  <a:noFill/>
                </a:ln>
                <a:solidFill>
                  <a:srgbClr val="1E2D3D"/>
                </a:solidFill>
                <a:effectLst/>
                <a:uLnTx/>
                <a:uFillTx/>
                <a:latin typeface="Arial"/>
                <a:ea typeface="+mn-ea"/>
                <a:cs typeface="+mn-cs"/>
              </a:rPr>
              <a:t>not responding.”</a:t>
            </a:r>
          </a:p>
        </p:txBody>
      </p:sp>
      <p:cxnSp>
        <p:nvCxnSpPr>
          <p:cNvPr id="22" name="0419 Connector"/>
          <p:cNvCxnSpPr/>
          <p:nvPr/>
        </p:nvCxnSpPr>
        <p:spPr>
          <a:xfrm>
            <a:off x="4690872" y="2315809"/>
            <a:ext cx="53766" cy="12289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3" name="0420 Connector"/>
          <p:cNvCxnSpPr/>
          <p:nvPr/>
        </p:nvCxnSpPr>
        <p:spPr>
          <a:xfrm>
            <a:off x="4744638" y="2438704"/>
            <a:ext cx="130577" cy="5760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4" name="0421 Connector"/>
          <p:cNvCxnSpPr/>
          <p:nvPr/>
        </p:nvCxnSpPr>
        <p:spPr>
          <a:xfrm flipH="1">
            <a:off x="4744638" y="2496312"/>
            <a:ext cx="130577" cy="5376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5" name="0422 Connector"/>
          <p:cNvCxnSpPr/>
          <p:nvPr/>
        </p:nvCxnSpPr>
        <p:spPr>
          <a:xfrm flipH="1">
            <a:off x="4690872" y="2550078"/>
            <a:ext cx="53766" cy="12673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6" name="0423 Connector"/>
          <p:cNvCxnSpPr/>
          <p:nvPr/>
        </p:nvCxnSpPr>
        <p:spPr>
          <a:xfrm flipH="1" flipV="1">
            <a:off x="4637105" y="2550078"/>
            <a:ext cx="53767" cy="12673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7" name="0424 Connector"/>
          <p:cNvCxnSpPr/>
          <p:nvPr/>
        </p:nvCxnSpPr>
        <p:spPr>
          <a:xfrm flipH="1" flipV="1">
            <a:off x="4506528" y="2496312"/>
            <a:ext cx="130577" cy="5376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8" name="0425 Connector"/>
          <p:cNvCxnSpPr/>
          <p:nvPr/>
        </p:nvCxnSpPr>
        <p:spPr>
          <a:xfrm flipV="1">
            <a:off x="4506528" y="2438704"/>
            <a:ext cx="130577" cy="5760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9" name="0426 Connector"/>
          <p:cNvCxnSpPr/>
          <p:nvPr/>
        </p:nvCxnSpPr>
        <p:spPr>
          <a:xfrm flipV="1">
            <a:off x="4637105" y="2315809"/>
            <a:ext cx="53767" cy="12289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0" name="0427 Text: Gemini Live + ADK"/>
          <p:cNvSpPr txBox="1"/>
          <p:nvPr/>
        </p:nvSpPr>
        <p:spPr>
          <a:xfrm>
            <a:off x="5084064" y="2350008"/>
            <a:ext cx="2560320"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2D3D"/>
                </a:solidFill>
                <a:effectLst/>
                <a:uLnTx/>
                <a:uFillTx/>
                <a:latin typeface="Arial"/>
                <a:ea typeface="+mn-ea"/>
                <a:cs typeface="+mn-cs"/>
              </a:rPr>
              <a:t>Gemini Live + ADK</a:t>
            </a:r>
          </a:p>
        </p:txBody>
      </p:sp>
      <p:sp>
        <p:nvSpPr>
          <p:cNvPr id="31" name="0428 Text: responsive: false"/>
          <p:cNvSpPr txBox="1"/>
          <p:nvPr/>
        </p:nvSpPr>
        <p:spPr>
          <a:xfrm>
            <a:off x="4553712" y="3172968"/>
            <a:ext cx="3035808"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000" b="0" i="0" u="none" strike="noStrike" kern="1200" cap="none" spc="0" normalizeH="0" baseline="0" noProof="0">
                <a:ln>
                  <a:noFill/>
                </a:ln>
                <a:solidFill>
                  <a:srgbClr val="155EEF"/>
                </a:solidFill>
                <a:effectLst/>
                <a:uLnTx/>
                <a:uFillTx/>
                <a:latin typeface="Consolas"/>
                <a:ea typeface="+mn-ea"/>
                <a:cs typeface="+mn-cs"/>
              </a:rPr>
              <a:t>responsive: false</a:t>
            </a:r>
          </a:p>
        </p:txBody>
      </p:sp>
      <p:sp>
        <p:nvSpPr>
          <p:cNvPr id="32" name="0429 Label background"/>
          <p:cNvSpPr/>
          <p:nvPr/>
        </p:nvSpPr>
        <p:spPr>
          <a:xfrm>
            <a:off x="4553712" y="3867912"/>
            <a:ext cx="2587752" cy="338328"/>
          </a:xfrm>
          <a:prstGeom prst="roundRect">
            <a:avLst>
              <a:gd name="adj" fmla="val 25000"/>
            </a:avLst>
          </a:prstGeom>
          <a:solidFill>
            <a:srgbClr val="FFF4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0430 Text: PROPOSED · NOT CONFIRMED"/>
          <p:cNvSpPr txBox="1"/>
          <p:nvPr/>
        </p:nvSpPr>
        <p:spPr>
          <a:xfrm>
            <a:off x="4617720" y="3890772"/>
            <a:ext cx="2459736" cy="301752"/>
          </a:xfrm>
          <a:prstGeom prst="rect">
            <a:avLst/>
          </a:prstGeom>
          <a:noFill/>
          <a:effectLst/>
        </p:spPr>
        <p:txBody>
          <a:bodyPr wrap="square" lIns="0" tIns="0" rIns="0" bIns="0" anchor="ctr">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010" b="0" i="0" u="none" strike="noStrike" kern="1200" cap="none" spc="0" normalizeH="0" baseline="0" noProof="0">
                <a:ln>
                  <a:noFill/>
                </a:ln>
                <a:solidFill>
                  <a:srgbClr val="B64B00"/>
                </a:solidFill>
                <a:effectLst/>
                <a:uLnTx/>
                <a:uFillTx/>
                <a:latin typeface="Arial"/>
                <a:ea typeface="+mn-ea"/>
                <a:cs typeface="+mn-cs"/>
              </a:rPr>
              <a:t>PROPOSED · NOT CONFIRMED</a:t>
            </a:r>
          </a:p>
        </p:txBody>
      </p:sp>
      <p:cxnSp>
        <p:nvCxnSpPr>
          <p:cNvPr id="34" name="0431 Connector"/>
          <p:cNvCxnSpPr/>
          <p:nvPr/>
        </p:nvCxnSpPr>
        <p:spPr>
          <a:xfrm>
            <a:off x="8401507" y="2470708"/>
            <a:ext cx="98755" cy="109728"/>
          </a:xfrm>
          <a:prstGeom prst="line">
            <a:avLst/>
          </a:prstGeom>
          <a:ln w="2667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35" name="0432 Connector"/>
          <p:cNvCxnSpPr/>
          <p:nvPr/>
        </p:nvCxnSpPr>
        <p:spPr>
          <a:xfrm flipV="1">
            <a:off x="8500262" y="2350008"/>
            <a:ext cx="190195" cy="230428"/>
          </a:xfrm>
          <a:prstGeom prst="line">
            <a:avLst/>
          </a:prstGeom>
          <a:ln w="26670">
            <a:solidFill>
              <a:srgbClr val="087F5B"/>
            </a:solidFill>
          </a:ln>
          <a:effectLst/>
        </p:spPr>
        <p:style>
          <a:lnRef idx="2">
            <a:schemeClr val="accent1"/>
          </a:lnRef>
          <a:fillRef idx="0">
            <a:schemeClr val="accent1"/>
          </a:fillRef>
          <a:effectRef idx="0">
            <a:schemeClr val="accent1"/>
          </a:effectRef>
          <a:fontRef idx="minor">
            <a:schemeClr val="tx1"/>
          </a:fontRef>
        </p:style>
      </p:cxnSp>
      <p:sp>
        <p:nvSpPr>
          <p:cNvPr id="36" name="0433 Text: User confirmation"/>
          <p:cNvSpPr txBox="1"/>
          <p:nvPr/>
        </p:nvSpPr>
        <p:spPr>
          <a:xfrm>
            <a:off x="8942832" y="2368296"/>
            <a:ext cx="2468880"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2D3D"/>
                </a:solidFill>
                <a:effectLst/>
                <a:uLnTx/>
                <a:uFillTx/>
                <a:latin typeface="Arial"/>
                <a:ea typeface="+mn-ea"/>
                <a:cs typeface="+mn-cs"/>
              </a:rPr>
              <a:t>User confirmation</a:t>
            </a:r>
          </a:p>
        </p:txBody>
      </p:sp>
      <p:sp>
        <p:nvSpPr>
          <p:cNvPr id="37" name="0434 Text: Does that match&#10;what you observed?"/>
          <p:cNvSpPr txBox="1"/>
          <p:nvPr/>
        </p:nvSpPr>
        <p:spPr>
          <a:xfrm>
            <a:off x="8394192" y="3108960"/>
            <a:ext cx="3044952"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900" b="0" i="0" u="none" strike="noStrike" kern="1200" cap="none" spc="0" normalizeH="0" baseline="0" noProof="0">
                <a:ln>
                  <a:noFill/>
                </a:ln>
                <a:solidFill>
                  <a:srgbClr val="1E2D3D"/>
                </a:solidFill>
                <a:effectLst/>
                <a:uLnTx/>
                <a:uFillTx/>
                <a:latin typeface="Arial"/>
                <a:ea typeface="+mn-ea"/>
                <a:cs typeface="+mn-cs"/>
              </a:rPr>
              <a:t>Does that match</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900" b="0" i="0" u="none" strike="noStrike" kern="1200" cap="none" spc="0" normalizeH="0" baseline="0" noProof="0">
                <a:ln>
                  <a:noFill/>
                </a:ln>
                <a:solidFill>
                  <a:srgbClr val="1E2D3D"/>
                </a:solidFill>
                <a:effectLst/>
                <a:uLnTx/>
                <a:uFillTx/>
                <a:latin typeface="Arial"/>
                <a:ea typeface="+mn-ea"/>
                <a:cs typeface="+mn-cs"/>
              </a:rPr>
              <a:t>what you observed?</a:t>
            </a:r>
          </a:p>
        </p:txBody>
      </p:sp>
      <p:sp>
        <p:nvSpPr>
          <p:cNvPr id="38" name="0435 Panel"/>
          <p:cNvSpPr/>
          <p:nvPr/>
        </p:nvSpPr>
        <p:spPr>
          <a:xfrm>
            <a:off x="8348472" y="3886200"/>
            <a:ext cx="960120" cy="420624"/>
          </a:xfrm>
          <a:prstGeom prst="roundRect">
            <a:avLst>
              <a:gd name="adj" fmla="val 17391"/>
            </a:avLst>
          </a:prstGeom>
          <a:solidFill>
            <a:srgbClr val="EA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0436 Text: Yes"/>
          <p:cNvSpPr txBox="1"/>
          <p:nvPr/>
        </p:nvSpPr>
        <p:spPr>
          <a:xfrm>
            <a:off x="8371332" y="4005072"/>
            <a:ext cx="914400"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70" b="1" i="0" u="none" strike="noStrike" kern="1200" cap="none" spc="0" normalizeH="0" baseline="0" noProof="0">
                <a:ln>
                  <a:noFill/>
                </a:ln>
                <a:solidFill>
                  <a:srgbClr val="087F5B"/>
                </a:solidFill>
                <a:effectLst/>
                <a:uLnTx/>
                <a:uFillTx/>
                <a:latin typeface="Arial"/>
                <a:ea typeface="+mn-ea"/>
                <a:cs typeface="+mn-cs"/>
              </a:rPr>
              <a:t>Yes</a:t>
            </a:r>
          </a:p>
        </p:txBody>
      </p:sp>
      <p:sp>
        <p:nvSpPr>
          <p:cNvPr id="40" name="0437 Panel"/>
          <p:cNvSpPr/>
          <p:nvPr/>
        </p:nvSpPr>
        <p:spPr>
          <a:xfrm>
            <a:off x="9409176" y="3886200"/>
            <a:ext cx="960120" cy="420624"/>
          </a:xfrm>
          <a:prstGeom prst="roundRect">
            <a:avLst>
              <a:gd name="adj" fmla="val 17391"/>
            </a:avLst>
          </a:prstGeom>
          <a:solidFill>
            <a:srgbClr val="FFF0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0438 Text: No"/>
          <p:cNvSpPr txBox="1"/>
          <p:nvPr/>
        </p:nvSpPr>
        <p:spPr>
          <a:xfrm>
            <a:off x="9432036" y="4005072"/>
            <a:ext cx="914400"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70" b="1" i="0" u="none" strike="noStrike" kern="1200" cap="none" spc="0" normalizeH="0" baseline="0" noProof="0">
                <a:ln>
                  <a:noFill/>
                </a:ln>
                <a:solidFill>
                  <a:srgbClr val="B42318"/>
                </a:solidFill>
                <a:effectLst/>
                <a:uLnTx/>
                <a:uFillTx/>
                <a:latin typeface="Arial"/>
                <a:ea typeface="+mn-ea"/>
                <a:cs typeface="+mn-cs"/>
              </a:rPr>
              <a:t>No</a:t>
            </a:r>
          </a:p>
        </p:txBody>
      </p:sp>
      <p:sp>
        <p:nvSpPr>
          <p:cNvPr id="42" name="0439 Panel"/>
          <p:cNvSpPr/>
          <p:nvPr/>
        </p:nvSpPr>
        <p:spPr>
          <a:xfrm>
            <a:off x="10469880" y="3886200"/>
            <a:ext cx="960120" cy="420624"/>
          </a:xfrm>
          <a:prstGeom prst="roundRect">
            <a:avLst>
              <a:gd name="adj" fmla="val 17391"/>
            </a:avLst>
          </a:prstGeom>
          <a:solidFill>
            <a:srgbClr val="ECF0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0440 Text: Unknown"/>
          <p:cNvSpPr txBox="1"/>
          <p:nvPr/>
        </p:nvSpPr>
        <p:spPr>
          <a:xfrm>
            <a:off x="10492740" y="4005072"/>
            <a:ext cx="914400" cy="20116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70" b="1" i="0" u="none" strike="noStrike" kern="1200" cap="none" spc="0" normalizeH="0" baseline="0" noProof="0">
                <a:ln>
                  <a:noFill/>
                </a:ln>
                <a:solidFill>
                  <a:srgbClr val="657187"/>
                </a:solidFill>
                <a:effectLst/>
                <a:uLnTx/>
                <a:uFillTx/>
                <a:latin typeface="Arial"/>
                <a:ea typeface="+mn-ea"/>
                <a:cs typeface="+mn-cs"/>
              </a:rPr>
              <a:t>Unknown</a:t>
            </a:r>
          </a:p>
        </p:txBody>
      </p:sp>
      <p:cxnSp>
        <p:nvCxnSpPr>
          <p:cNvPr id="44" name="0441 Connector"/>
          <p:cNvCxnSpPr/>
          <p:nvPr/>
        </p:nvCxnSpPr>
        <p:spPr>
          <a:xfrm>
            <a:off x="4105656" y="3364992"/>
            <a:ext cx="155448" cy="0"/>
          </a:xfrm>
          <a:prstGeom prst="line">
            <a:avLst/>
          </a:prstGeom>
          <a:ln w="2413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5" name="0442 Connector"/>
          <p:cNvCxnSpPr/>
          <p:nvPr/>
        </p:nvCxnSpPr>
        <p:spPr>
          <a:xfrm>
            <a:off x="7936992" y="3364992"/>
            <a:ext cx="155448" cy="0"/>
          </a:xfrm>
          <a:prstGeom prst="line">
            <a:avLst/>
          </a:prstGeom>
          <a:ln w="2413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0443 Panel"/>
          <p:cNvSpPr/>
          <p:nvPr/>
        </p:nvSpPr>
        <p:spPr>
          <a:xfrm>
            <a:off x="457200" y="4919472"/>
            <a:ext cx="11283696" cy="694944"/>
          </a:xfrm>
          <a:prstGeom prst="roundRect">
            <a:avLst>
              <a:gd name="adj" fmla="val 15789"/>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0444 Text: Confirm"/>
          <p:cNvSpPr txBox="1"/>
          <p:nvPr/>
        </p:nvSpPr>
        <p:spPr>
          <a:xfrm>
            <a:off x="722376" y="5138928"/>
            <a:ext cx="1298448" cy="32004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55EEF"/>
                </a:solidFill>
                <a:effectLst/>
                <a:uLnTx/>
                <a:uFillTx/>
                <a:latin typeface="Arial"/>
                <a:ea typeface="+mn-ea"/>
                <a:cs typeface="+mn-cs"/>
              </a:rPr>
              <a:t>Confirm</a:t>
            </a:r>
          </a:p>
        </p:txBody>
      </p:sp>
      <p:cxnSp>
        <p:nvCxnSpPr>
          <p:cNvPr id="48" name="0445 Connector"/>
          <p:cNvCxnSpPr/>
          <p:nvPr/>
        </p:nvCxnSpPr>
        <p:spPr>
          <a:xfrm>
            <a:off x="2075688" y="5285232"/>
            <a:ext cx="576072" cy="0"/>
          </a:xfrm>
          <a:prstGeom prst="line">
            <a:avLst/>
          </a:prstGeom>
          <a:ln w="1905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0446 Text: Record"/>
          <p:cNvSpPr txBox="1"/>
          <p:nvPr/>
        </p:nvSpPr>
        <p:spPr>
          <a:xfrm>
            <a:off x="2770632" y="5138928"/>
            <a:ext cx="1344168" cy="32004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55EEF"/>
                </a:solidFill>
                <a:effectLst/>
                <a:uLnTx/>
                <a:uFillTx/>
                <a:latin typeface="Arial"/>
                <a:ea typeface="+mn-ea"/>
                <a:cs typeface="+mn-cs"/>
              </a:rPr>
              <a:t>Record</a:t>
            </a:r>
          </a:p>
        </p:txBody>
      </p:sp>
      <p:cxnSp>
        <p:nvCxnSpPr>
          <p:cNvPr id="50" name="0447 Connector"/>
          <p:cNvCxnSpPr/>
          <p:nvPr/>
        </p:nvCxnSpPr>
        <p:spPr>
          <a:xfrm>
            <a:off x="4169663" y="5285232"/>
            <a:ext cx="557785" cy="0"/>
          </a:xfrm>
          <a:prstGeom prst="line">
            <a:avLst/>
          </a:prstGeom>
          <a:ln w="1905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0448 Text: Evaluate pinned rules"/>
          <p:cNvSpPr txBox="1"/>
          <p:nvPr/>
        </p:nvSpPr>
        <p:spPr>
          <a:xfrm>
            <a:off x="4846320" y="5138928"/>
            <a:ext cx="2999232" cy="32004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55EEF"/>
                </a:solidFill>
                <a:effectLst/>
                <a:uLnTx/>
                <a:uFillTx/>
                <a:latin typeface="Arial"/>
                <a:ea typeface="+mn-ea"/>
                <a:cs typeface="+mn-cs"/>
              </a:rPr>
              <a:t>Evaluate pinned rules</a:t>
            </a:r>
          </a:p>
        </p:txBody>
      </p:sp>
      <p:cxnSp>
        <p:nvCxnSpPr>
          <p:cNvPr id="52" name="0449 Connector"/>
          <p:cNvCxnSpPr/>
          <p:nvPr/>
        </p:nvCxnSpPr>
        <p:spPr>
          <a:xfrm>
            <a:off x="7900416" y="5285232"/>
            <a:ext cx="347472" cy="0"/>
          </a:xfrm>
          <a:prstGeom prst="line">
            <a:avLst/>
          </a:prstGeom>
          <a:ln w="1905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0450 Text: Speak fixed template"/>
          <p:cNvSpPr txBox="1"/>
          <p:nvPr/>
        </p:nvSpPr>
        <p:spPr>
          <a:xfrm>
            <a:off x="8366760" y="5138928"/>
            <a:ext cx="3099816" cy="32004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55EEF"/>
                </a:solidFill>
                <a:effectLst/>
                <a:uLnTx/>
                <a:uFillTx/>
                <a:latin typeface="Arial"/>
                <a:ea typeface="+mn-ea"/>
                <a:cs typeface="+mn-cs"/>
              </a:rPr>
              <a:t>Speak fixed template</a:t>
            </a:r>
          </a:p>
        </p:txBody>
      </p:sp>
      <p:sp>
        <p:nvSpPr>
          <p:cNvPr id="54" name="0451 Text: Demonstration rule content requires clinical rev"/>
          <p:cNvSpPr txBox="1"/>
          <p:nvPr/>
        </p:nvSpPr>
        <p:spPr>
          <a:xfrm>
            <a:off x="594360" y="5925312"/>
            <a:ext cx="10972800" cy="2468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0" normalizeH="0" baseline="0" noProof="0">
                <a:ln>
                  <a:noFill/>
                </a:ln>
                <a:solidFill>
                  <a:srgbClr val="B42318"/>
                </a:solidFill>
                <a:effectLst/>
                <a:uLnTx/>
                <a:uFillTx/>
                <a:latin typeface="Arial"/>
                <a:ea typeface="+mn-ea"/>
                <a:cs typeface="+mn-cs"/>
              </a:rPr>
              <a:t>Demonstration rule content requires clinical review before real-world use.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452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453 Text: ARCHITECTURE"/>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ARCHITECTURE</a:t>
            </a:r>
          </a:p>
        </p:txBody>
      </p:sp>
      <p:sp>
        <p:nvSpPr>
          <p:cNvPr id="4" name="0454 Text: One app, with a clear job for each service."/>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One app, with a clear job for each service.</a:t>
            </a:r>
          </a:p>
        </p:txBody>
      </p:sp>
      <p:sp>
        <p:nvSpPr>
          <p:cNvPr id="5" name="0455 Text: REST for records and tasks. Live WebSocket for m"/>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REST for records and tasks. Live WebSocket for media and control.</a:t>
            </a:r>
          </a:p>
        </p:txBody>
      </p:sp>
      <p:cxnSp>
        <p:nvCxnSpPr>
          <p:cNvPr id="6" name="0456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457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458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459 Panel"/>
          <p:cNvSpPr/>
          <p:nvPr/>
        </p:nvSpPr>
        <p:spPr>
          <a:xfrm>
            <a:off x="457200" y="2029968"/>
            <a:ext cx="2496312" cy="3986784"/>
          </a:xfrm>
          <a:prstGeom prst="roundRect">
            <a:avLst>
              <a:gd name="adj" fmla="val 512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460 Text: React / TypeScript"/>
          <p:cNvSpPr txBox="1"/>
          <p:nvPr/>
        </p:nvSpPr>
        <p:spPr>
          <a:xfrm>
            <a:off x="640080" y="2240280"/>
            <a:ext cx="2121408"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E2D3D"/>
                </a:solidFill>
                <a:effectLst/>
                <a:uLnTx/>
                <a:uFillTx/>
                <a:latin typeface="Arial"/>
                <a:ea typeface="+mn-ea"/>
                <a:cs typeface="+mn-cs"/>
              </a:rPr>
              <a:t>React / TypeScript</a:t>
            </a:r>
          </a:p>
        </p:txBody>
      </p:sp>
      <p:sp>
        <p:nvSpPr>
          <p:cNvPr id="11" name="0461 Text: Role-based views&#10;for one incident"/>
          <p:cNvSpPr txBox="1"/>
          <p:nvPr/>
        </p:nvSpPr>
        <p:spPr>
          <a:xfrm>
            <a:off x="658368" y="2843784"/>
            <a:ext cx="2093976" cy="65836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Role-based views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for one incident</a:t>
            </a:r>
          </a:p>
        </p:txBody>
      </p:sp>
      <p:cxnSp>
        <p:nvCxnSpPr>
          <p:cNvPr id="12" name="0462 Connector"/>
          <p:cNvCxnSpPr/>
          <p:nvPr/>
        </p:nvCxnSpPr>
        <p:spPr>
          <a:xfrm>
            <a:off x="658368" y="3611880"/>
            <a:ext cx="2075688" cy="0"/>
          </a:xfrm>
          <a:prstGeom prst="line">
            <a:avLst/>
          </a:prstGeom>
          <a:ln w="20320">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13" name="0463 Text: Local runtime"/>
          <p:cNvSpPr txBox="1"/>
          <p:nvPr/>
        </p:nvSpPr>
        <p:spPr>
          <a:xfrm>
            <a:off x="658368" y="3813048"/>
            <a:ext cx="2093976" cy="30175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00" b="1" i="0" u="none" strike="noStrike" kern="1200" cap="none" spc="0" normalizeH="0" baseline="0" noProof="0">
                <a:ln>
                  <a:noFill/>
                </a:ln>
                <a:solidFill>
                  <a:srgbClr val="155EEF"/>
                </a:solidFill>
                <a:effectLst/>
                <a:uLnTx/>
                <a:uFillTx/>
                <a:latin typeface="Arial"/>
                <a:ea typeface="+mn-ea"/>
                <a:cs typeface="+mn-cs"/>
              </a:rPr>
              <a:t>Local runtime</a:t>
            </a:r>
          </a:p>
        </p:txBody>
      </p:sp>
      <p:sp>
        <p:nvSpPr>
          <p:cNvPr id="14" name="0464 Text: Audio gate&#10;IndexedDB outbox&#10;TypeScript rules"/>
          <p:cNvSpPr txBox="1"/>
          <p:nvPr/>
        </p:nvSpPr>
        <p:spPr>
          <a:xfrm>
            <a:off x="658368" y="4288536"/>
            <a:ext cx="2093976" cy="128930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50" b="0" i="0" u="none" strike="noStrike" kern="1200" cap="none" spc="0" normalizeH="0" baseline="0" noProof="0">
                <a:ln>
                  <a:noFill/>
                </a:ln>
                <a:solidFill>
                  <a:srgbClr val="1E2D3D"/>
                </a:solidFill>
                <a:effectLst/>
                <a:uLnTx/>
                <a:uFillTx/>
                <a:latin typeface="Arial"/>
                <a:ea typeface="+mn-ea"/>
                <a:cs typeface="+mn-cs"/>
              </a:rPr>
              <a:t>Audio gate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50" b="0" i="0" u="none" strike="noStrike" kern="1200" cap="none" spc="0" normalizeH="0" baseline="0" noProof="0">
                <a:ln>
                  <a:noFill/>
                </a:ln>
                <a:solidFill>
                  <a:srgbClr val="1E2D3D"/>
                </a:solidFill>
                <a:effectLst/>
                <a:uLnTx/>
                <a:uFillTx/>
                <a:latin typeface="Arial"/>
                <a:ea typeface="+mn-ea"/>
                <a:cs typeface="+mn-cs"/>
              </a:rPr>
              <a:t>IndexedDB outbox</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50" b="0" i="0" u="none" strike="noStrike" kern="1200" cap="none" spc="0" normalizeH="0" baseline="0" noProof="0">
                <a:ln>
                  <a:noFill/>
                </a:ln>
                <a:solidFill>
                  <a:srgbClr val="1E2D3D"/>
                </a:solidFill>
                <a:effectLst/>
                <a:uLnTx/>
                <a:uFillTx/>
                <a:latin typeface="Arial"/>
                <a:ea typeface="+mn-ea"/>
                <a:cs typeface="+mn-cs"/>
              </a:rPr>
              <a:t>TypeScript rules</a:t>
            </a:r>
          </a:p>
        </p:txBody>
      </p:sp>
      <p:sp>
        <p:nvSpPr>
          <p:cNvPr id="15" name="0465 Panel"/>
          <p:cNvSpPr/>
          <p:nvPr/>
        </p:nvSpPr>
        <p:spPr>
          <a:xfrm>
            <a:off x="3657600" y="2029968"/>
            <a:ext cx="3995928" cy="3986784"/>
          </a:xfrm>
          <a:prstGeom prst="roundRect">
            <a:avLst>
              <a:gd name="adj" fmla="val 3211"/>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0466 Panel"/>
          <p:cNvSpPr/>
          <p:nvPr/>
        </p:nvSpPr>
        <p:spPr>
          <a:xfrm>
            <a:off x="3831336" y="2231136"/>
            <a:ext cx="3648456" cy="493776"/>
          </a:xfrm>
          <a:prstGeom prst="roundRect">
            <a:avLst>
              <a:gd name="adj" fmla="val 14814"/>
            </a:avLst>
          </a:prstGeom>
          <a:solidFill>
            <a:srgbClr val="ECF0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0467 Text: Nginx → Node proxy · same origin"/>
          <p:cNvSpPr txBox="1"/>
          <p:nvPr/>
        </p:nvSpPr>
        <p:spPr>
          <a:xfrm>
            <a:off x="3931920" y="2377440"/>
            <a:ext cx="3456432"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60" b="1" i="0" u="none" strike="noStrike" kern="1200" cap="none" spc="0" normalizeH="0" baseline="0" noProof="0">
                <a:ln>
                  <a:noFill/>
                </a:ln>
                <a:solidFill>
                  <a:srgbClr val="1E2D3D"/>
                </a:solidFill>
                <a:effectLst/>
                <a:uLnTx/>
                <a:uFillTx/>
                <a:latin typeface="Arial"/>
                <a:ea typeface="+mn-ea"/>
                <a:cs typeface="+mn-cs"/>
              </a:rPr>
              <a:t>Nginx → Node proxy · same origin</a:t>
            </a:r>
          </a:p>
        </p:txBody>
      </p:sp>
      <p:sp>
        <p:nvSpPr>
          <p:cNvPr id="18" name="0468 Panel"/>
          <p:cNvSpPr/>
          <p:nvPr/>
        </p:nvSpPr>
        <p:spPr>
          <a:xfrm>
            <a:off x="3831336" y="3044952"/>
            <a:ext cx="3648456" cy="1161288"/>
          </a:xfrm>
          <a:prstGeom prst="roundRect">
            <a:avLst>
              <a:gd name="adj" fmla="val 9448"/>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0469 Text: Flask API + Live gateway"/>
          <p:cNvSpPr txBox="1"/>
          <p:nvPr/>
        </p:nvSpPr>
        <p:spPr>
          <a:xfrm>
            <a:off x="4041648" y="3255264"/>
            <a:ext cx="3218688" cy="356616"/>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a:ea typeface="+mn-ea"/>
                <a:cs typeface="+mn-cs"/>
              </a:rPr>
              <a:t>Flask API + Live gateway</a:t>
            </a:r>
          </a:p>
        </p:txBody>
      </p:sp>
      <p:sp>
        <p:nvSpPr>
          <p:cNvPr id="20" name="0470 Text: Events · access · rules · AED tasks"/>
          <p:cNvSpPr txBox="1"/>
          <p:nvPr/>
        </p:nvSpPr>
        <p:spPr>
          <a:xfrm>
            <a:off x="4023360" y="3767328"/>
            <a:ext cx="3255264"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270" b="0" i="0" u="none" strike="noStrike" kern="1200" cap="none" spc="0" normalizeH="0" baseline="0" noProof="0">
                <a:ln>
                  <a:noFill/>
                </a:ln>
                <a:solidFill>
                  <a:srgbClr val="D5E2EE"/>
                </a:solidFill>
                <a:effectLst/>
                <a:uLnTx/>
                <a:uFillTx/>
                <a:latin typeface="Arial"/>
                <a:ea typeface="+mn-ea"/>
                <a:cs typeface="+mn-cs"/>
              </a:rPr>
              <a:t>Events · access · rules · AED tasks</a:t>
            </a:r>
          </a:p>
        </p:txBody>
      </p:sp>
      <p:cxnSp>
        <p:nvCxnSpPr>
          <p:cNvPr id="21" name="0471 Connector"/>
          <p:cNvCxnSpPr/>
          <p:nvPr/>
        </p:nvCxnSpPr>
        <p:spPr>
          <a:xfrm>
            <a:off x="5650992" y="2734056"/>
            <a:ext cx="0" cy="246888"/>
          </a:xfrm>
          <a:prstGeom prst="line">
            <a:avLst/>
          </a:prstGeom>
          <a:ln w="2286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0472 Connector"/>
          <p:cNvCxnSpPr/>
          <p:nvPr/>
        </p:nvCxnSpPr>
        <p:spPr>
          <a:xfrm>
            <a:off x="5650992" y="4224528"/>
            <a:ext cx="0" cy="310896"/>
          </a:xfrm>
          <a:prstGeom prst="line">
            <a:avLst/>
          </a:prstGeom>
          <a:ln w="2286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0473 Panel"/>
          <p:cNvSpPr/>
          <p:nvPr/>
        </p:nvSpPr>
        <p:spPr>
          <a:xfrm>
            <a:off x="3977639" y="4608576"/>
            <a:ext cx="3346704" cy="1024128"/>
          </a:xfrm>
          <a:prstGeom prst="roundRect">
            <a:avLst>
              <a:gd name="adj" fmla="val 8928"/>
            </a:avLst>
          </a:prstGeom>
          <a:solidFill>
            <a:srgbClr val="EDF3FF"/>
          </a:solidFill>
          <a:ln w="1270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0474 Database icon"/>
          <p:cNvSpPr/>
          <p:nvPr/>
        </p:nvSpPr>
        <p:spPr>
          <a:xfrm>
            <a:off x="4183562" y="4853269"/>
            <a:ext cx="319674" cy="365942"/>
          </a:xfrm>
          <a:prstGeom prst="can">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0475 Text: PostgreSQL"/>
          <p:cNvSpPr txBox="1"/>
          <p:nvPr/>
        </p:nvSpPr>
        <p:spPr>
          <a:xfrm>
            <a:off x="4736592" y="4782312"/>
            <a:ext cx="2386584"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100" b="1" i="0" u="none" strike="noStrike" kern="1200" cap="none" spc="0" normalizeH="0" baseline="0" noProof="0">
                <a:ln>
                  <a:noFill/>
                </a:ln>
                <a:solidFill>
                  <a:srgbClr val="155EEF"/>
                </a:solidFill>
                <a:effectLst/>
                <a:uLnTx/>
                <a:uFillTx/>
                <a:latin typeface="Arial"/>
                <a:ea typeface="+mn-ea"/>
                <a:cs typeface="+mn-cs"/>
              </a:rPr>
              <a:t>PostgreSQL</a:t>
            </a:r>
          </a:p>
        </p:txBody>
      </p:sp>
      <p:sp>
        <p:nvSpPr>
          <p:cNvPr id="26" name="0476 Text: Events, snapshots, grants, AED catalog"/>
          <p:cNvSpPr txBox="1"/>
          <p:nvPr/>
        </p:nvSpPr>
        <p:spPr>
          <a:xfrm>
            <a:off x="4151376" y="5303520"/>
            <a:ext cx="2990088" cy="21031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100" b="0" i="0" u="none" strike="noStrike" kern="1200" cap="none" spc="0" normalizeH="0" baseline="0" noProof="0">
                <a:ln>
                  <a:noFill/>
                </a:ln>
                <a:solidFill>
                  <a:srgbClr val="155EEF"/>
                </a:solidFill>
                <a:effectLst/>
                <a:uLnTx/>
                <a:uFillTx/>
                <a:latin typeface="Arial"/>
                <a:ea typeface="+mn-ea"/>
                <a:cs typeface="+mn-cs"/>
              </a:rPr>
              <a:t>Events, snapshots, grants, AED catalog</a:t>
            </a:r>
          </a:p>
        </p:txBody>
      </p:sp>
      <p:cxnSp>
        <p:nvCxnSpPr>
          <p:cNvPr id="27" name="0477 Connector"/>
          <p:cNvCxnSpPr/>
          <p:nvPr/>
        </p:nvCxnSpPr>
        <p:spPr>
          <a:xfrm>
            <a:off x="2980944" y="2761488"/>
            <a:ext cx="612648" cy="0"/>
          </a:xfrm>
          <a:prstGeom prst="line">
            <a:avLst/>
          </a:prstGeom>
          <a:ln w="2413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0478 Text: REST&#10;+ Live"/>
          <p:cNvSpPr txBox="1"/>
          <p:nvPr/>
        </p:nvSpPr>
        <p:spPr>
          <a:xfrm>
            <a:off x="2990088" y="2258568"/>
            <a:ext cx="603504" cy="39319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200"/>
              </a:spcAft>
              <a:buClrTx/>
              <a:buSzTx/>
              <a:buFontTx/>
              <a:buNone/>
              <a:tabLst/>
              <a:defRPr/>
            </a:pPr>
            <a:r>
              <a:rPr kumimoji="0" lang="en-US" sz="930" b="1" i="0" u="none" strike="noStrike" kern="1200" cap="none" spc="0" normalizeH="0" baseline="0" noProof="0">
                <a:ln>
                  <a:noFill/>
                </a:ln>
                <a:solidFill>
                  <a:srgbClr val="657187"/>
                </a:solidFill>
                <a:effectLst/>
                <a:uLnTx/>
                <a:uFillTx/>
                <a:latin typeface="Arial"/>
                <a:ea typeface="+mn-ea"/>
                <a:cs typeface="+mn-cs"/>
              </a:rPr>
              <a:t>REST</a:t>
            </a:r>
          </a:p>
          <a:p>
            <a:pPr marL="0" marR="0" lvl="0" indent="0" algn="ctr" defTabSz="457200" rtl="0" eaLnBrk="1" fontAlgn="auto" latinLnBrk="0" hangingPunct="1">
              <a:lnSpc>
                <a:spcPct val="108000"/>
              </a:lnSpc>
              <a:spcBef>
                <a:spcPts val="0"/>
              </a:spcBef>
              <a:spcAft>
                <a:spcPts val="200"/>
              </a:spcAft>
              <a:buClrTx/>
              <a:buSzTx/>
              <a:buFontTx/>
              <a:buNone/>
              <a:tabLst/>
              <a:defRPr/>
            </a:pPr>
            <a:r>
              <a:rPr kumimoji="0" lang="en-US" sz="930" b="1" i="0" u="none" strike="noStrike" kern="1200" cap="none" spc="0" normalizeH="0" baseline="0" noProof="0">
                <a:ln>
                  <a:noFill/>
                </a:ln>
                <a:solidFill>
                  <a:srgbClr val="657187"/>
                </a:solidFill>
                <a:effectLst/>
                <a:uLnTx/>
                <a:uFillTx/>
                <a:latin typeface="Arial"/>
                <a:ea typeface="+mn-ea"/>
                <a:cs typeface="+mn-cs"/>
              </a:rPr>
              <a:t>+ Live</a:t>
            </a:r>
          </a:p>
        </p:txBody>
      </p:sp>
      <p:sp>
        <p:nvSpPr>
          <p:cNvPr id="29" name="0479 Panel"/>
          <p:cNvSpPr/>
          <p:nvPr/>
        </p:nvSpPr>
        <p:spPr>
          <a:xfrm>
            <a:off x="8430768" y="2029968"/>
            <a:ext cx="3300984" cy="950976"/>
          </a:xfrm>
          <a:prstGeom prst="roundRect">
            <a:avLst>
              <a:gd name="adj" fmla="val 11538"/>
            </a:avLst>
          </a:prstGeom>
          <a:solidFill>
            <a:srgbClr val="EDF3FF"/>
          </a:solidFill>
          <a:ln w="1270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0480 Text: Gemini Live API + ADK"/>
          <p:cNvSpPr txBox="1"/>
          <p:nvPr/>
        </p:nvSpPr>
        <p:spPr>
          <a:xfrm>
            <a:off x="8641080" y="2194560"/>
            <a:ext cx="2862072"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60" b="1" i="0" u="none" strike="noStrike" kern="1200" cap="none" spc="0" normalizeH="0" baseline="0" noProof="0">
                <a:ln>
                  <a:noFill/>
                </a:ln>
                <a:solidFill>
                  <a:srgbClr val="155EEF"/>
                </a:solidFill>
                <a:effectLst/>
                <a:uLnTx/>
                <a:uFillTx/>
                <a:latin typeface="Arial"/>
                <a:ea typeface="+mn-ea"/>
                <a:cs typeface="+mn-cs"/>
              </a:rPr>
              <a:t>Gemini Live API + ADK</a:t>
            </a:r>
          </a:p>
        </p:txBody>
      </p:sp>
      <p:sp>
        <p:nvSpPr>
          <p:cNvPr id="31" name="0481 Text: Audio → proposed observations"/>
          <p:cNvSpPr txBox="1"/>
          <p:nvPr/>
        </p:nvSpPr>
        <p:spPr>
          <a:xfrm>
            <a:off x="8650224" y="2633472"/>
            <a:ext cx="2862072"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00" b="0" i="0" u="none" strike="noStrike" kern="1200" cap="none" spc="0" normalizeH="0" baseline="0" noProof="0">
                <a:ln>
                  <a:noFill/>
                </a:ln>
                <a:solidFill>
                  <a:srgbClr val="1E2D3D"/>
                </a:solidFill>
                <a:effectLst/>
                <a:uLnTx/>
                <a:uFillTx/>
                <a:latin typeface="Arial"/>
                <a:ea typeface="+mn-ea"/>
                <a:cs typeface="+mn-cs"/>
              </a:rPr>
              <a:t>Audio → proposed observations</a:t>
            </a:r>
          </a:p>
        </p:txBody>
      </p:sp>
      <p:sp>
        <p:nvSpPr>
          <p:cNvPr id="32" name="0482 Panel"/>
          <p:cNvSpPr/>
          <p:nvPr/>
        </p:nvSpPr>
        <p:spPr>
          <a:xfrm>
            <a:off x="8430768" y="3218688"/>
            <a:ext cx="3300984" cy="932688"/>
          </a:xfrm>
          <a:prstGeom prst="roundRect">
            <a:avLst>
              <a:gd name="adj" fmla="val 11764"/>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0483 Text: Google Maps"/>
          <p:cNvSpPr txBox="1"/>
          <p:nvPr/>
        </p:nvSpPr>
        <p:spPr>
          <a:xfrm>
            <a:off x="8641080" y="3392424"/>
            <a:ext cx="2843784"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1E2D3D"/>
                </a:solidFill>
                <a:effectLst/>
                <a:uLnTx/>
                <a:uFillTx/>
                <a:latin typeface="Arial"/>
                <a:ea typeface="+mn-ea"/>
                <a:cs typeface="+mn-cs"/>
              </a:rPr>
              <a:t>Google Maps</a:t>
            </a:r>
          </a:p>
        </p:txBody>
      </p:sp>
      <p:sp>
        <p:nvSpPr>
          <p:cNvPr id="34" name="0484 Text: Browser map + directions link"/>
          <p:cNvSpPr txBox="1"/>
          <p:nvPr/>
        </p:nvSpPr>
        <p:spPr>
          <a:xfrm>
            <a:off x="8650224" y="3803904"/>
            <a:ext cx="2862072"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290" b="0" i="0" u="none" strike="noStrike" kern="1200" cap="none" spc="0" normalizeH="0" baseline="0" noProof="0">
                <a:ln>
                  <a:noFill/>
                </a:ln>
                <a:solidFill>
                  <a:srgbClr val="657187"/>
                </a:solidFill>
                <a:effectLst/>
                <a:uLnTx/>
                <a:uFillTx/>
                <a:latin typeface="Arial"/>
                <a:ea typeface="+mn-ea"/>
                <a:cs typeface="+mn-cs"/>
              </a:rPr>
              <a:t>Browser map + directions link</a:t>
            </a:r>
          </a:p>
        </p:txBody>
      </p:sp>
      <p:sp>
        <p:nvSpPr>
          <p:cNvPr id="35" name="0485 Panel"/>
          <p:cNvSpPr/>
          <p:nvPr/>
        </p:nvSpPr>
        <p:spPr>
          <a:xfrm>
            <a:off x="8430768" y="4425696"/>
            <a:ext cx="3300984" cy="713232"/>
          </a:xfrm>
          <a:prstGeom prst="roundRect">
            <a:avLst>
              <a:gd name="adj" fmla="val 15384"/>
            </a:avLst>
          </a:prstGeom>
          <a:solidFill>
            <a:srgbClr val="EAF6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0486 Text: MOHW AED CSV"/>
          <p:cNvSpPr txBox="1"/>
          <p:nvPr/>
        </p:nvSpPr>
        <p:spPr>
          <a:xfrm>
            <a:off x="8641080" y="4562856"/>
            <a:ext cx="283464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087F5B"/>
                </a:solidFill>
                <a:effectLst/>
                <a:uLnTx/>
                <a:uFillTx/>
                <a:latin typeface="Arial"/>
                <a:ea typeface="+mn-ea"/>
                <a:cs typeface="+mn-cs"/>
              </a:rPr>
              <a:t>MOHW AED CSV</a:t>
            </a:r>
          </a:p>
        </p:txBody>
      </p:sp>
      <p:sp>
        <p:nvSpPr>
          <p:cNvPr id="37" name="0487 Text: Validated import → catalog"/>
          <p:cNvSpPr txBox="1"/>
          <p:nvPr/>
        </p:nvSpPr>
        <p:spPr>
          <a:xfrm>
            <a:off x="8650224" y="4873752"/>
            <a:ext cx="2852928" cy="1920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260" b="0" i="0" u="none" strike="noStrike" kern="1200" cap="none" spc="0" normalizeH="0" baseline="0" noProof="0">
                <a:ln>
                  <a:noFill/>
                </a:ln>
                <a:solidFill>
                  <a:srgbClr val="087F5B"/>
                </a:solidFill>
                <a:effectLst/>
                <a:uLnTx/>
                <a:uFillTx/>
                <a:latin typeface="Arial"/>
                <a:ea typeface="+mn-ea"/>
                <a:cs typeface="+mn-cs"/>
              </a:rPr>
              <a:t>Validated import → catalog</a:t>
            </a:r>
          </a:p>
        </p:txBody>
      </p:sp>
      <p:sp>
        <p:nvSpPr>
          <p:cNvPr id="38" name="0488 Panel"/>
          <p:cNvSpPr/>
          <p:nvPr/>
        </p:nvSpPr>
        <p:spPr>
          <a:xfrm>
            <a:off x="8430768" y="5404104"/>
            <a:ext cx="3300984" cy="667512"/>
          </a:xfrm>
          <a:prstGeom prst="roundRect">
            <a:avLst>
              <a:gd name="adj" fmla="val 16438"/>
            </a:avLst>
          </a:prstGeom>
          <a:solidFill>
            <a:srgbClr val="FFF4DF"/>
          </a:solidFill>
          <a:ln w="12700">
            <a:solidFill>
              <a:srgbClr val="B64B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0489 Text: Google Routes API"/>
          <p:cNvSpPr txBox="1"/>
          <p:nvPr/>
        </p:nvSpPr>
        <p:spPr>
          <a:xfrm>
            <a:off x="8622792" y="5522976"/>
            <a:ext cx="2889504" cy="2468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660" b="1" i="0" u="none" strike="noStrike" kern="1200" cap="none" spc="0" normalizeH="0" baseline="0" noProof="0">
                <a:ln>
                  <a:noFill/>
                </a:ln>
                <a:solidFill>
                  <a:srgbClr val="B64B00"/>
                </a:solidFill>
                <a:effectLst/>
                <a:uLnTx/>
                <a:uFillTx/>
                <a:latin typeface="Arial"/>
                <a:ea typeface="+mn-ea"/>
                <a:cs typeface="+mn-cs"/>
              </a:rPr>
              <a:t>Google Routes API</a:t>
            </a:r>
          </a:p>
        </p:txBody>
      </p:sp>
      <p:sp>
        <p:nvSpPr>
          <p:cNvPr id="40" name="0490 Text: Next: walking-time estimates"/>
          <p:cNvSpPr txBox="1"/>
          <p:nvPr/>
        </p:nvSpPr>
        <p:spPr>
          <a:xfrm>
            <a:off x="8631936" y="5824728"/>
            <a:ext cx="2862072"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150" b="0" i="0" u="none" strike="noStrike" kern="1200" cap="none" spc="0" normalizeH="0" baseline="0" noProof="0">
                <a:ln>
                  <a:noFill/>
                </a:ln>
                <a:solidFill>
                  <a:srgbClr val="B64B00"/>
                </a:solidFill>
                <a:effectLst/>
                <a:uLnTx/>
                <a:uFillTx/>
                <a:latin typeface="Arial"/>
                <a:ea typeface="+mn-ea"/>
                <a:cs typeface="+mn-cs"/>
              </a:rPr>
              <a:t>Next: walking-time estimates</a:t>
            </a:r>
          </a:p>
        </p:txBody>
      </p:sp>
      <p:cxnSp>
        <p:nvCxnSpPr>
          <p:cNvPr id="41" name="0491 Connector"/>
          <p:cNvCxnSpPr/>
          <p:nvPr/>
        </p:nvCxnSpPr>
        <p:spPr>
          <a:xfrm>
            <a:off x="7498079" y="3273552"/>
            <a:ext cx="521209" cy="0"/>
          </a:xfrm>
          <a:prstGeom prst="line">
            <a:avLst/>
          </a:prstGeom>
          <a:ln w="19685">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2" name="0492 Connector"/>
          <p:cNvCxnSpPr/>
          <p:nvPr/>
        </p:nvCxnSpPr>
        <p:spPr>
          <a:xfrm flipV="1">
            <a:off x="8019288" y="2514600"/>
            <a:ext cx="0" cy="758952"/>
          </a:xfrm>
          <a:prstGeom prst="line">
            <a:avLst/>
          </a:prstGeom>
          <a:ln w="19685">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3" name="0493 Connector"/>
          <p:cNvCxnSpPr/>
          <p:nvPr/>
        </p:nvCxnSpPr>
        <p:spPr>
          <a:xfrm>
            <a:off x="8019288" y="2514600"/>
            <a:ext cx="347472" cy="0"/>
          </a:xfrm>
          <a:prstGeom prst="line">
            <a:avLst/>
          </a:prstGeom>
          <a:ln w="19685">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4" name="0494 Connector"/>
          <p:cNvCxnSpPr/>
          <p:nvPr/>
        </p:nvCxnSpPr>
        <p:spPr>
          <a:xfrm flipH="1">
            <a:off x="7891272" y="4791456"/>
            <a:ext cx="484632" cy="0"/>
          </a:xfrm>
          <a:prstGeom prst="line">
            <a:avLst/>
          </a:prstGeom>
          <a:ln w="1905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45" name="0495 Connector"/>
          <p:cNvCxnSpPr/>
          <p:nvPr/>
        </p:nvCxnSpPr>
        <p:spPr>
          <a:xfrm>
            <a:off x="7891272" y="4791456"/>
            <a:ext cx="0" cy="310896"/>
          </a:xfrm>
          <a:prstGeom prst="line">
            <a:avLst/>
          </a:prstGeom>
          <a:ln w="1905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46" name="0496 Connector"/>
          <p:cNvCxnSpPr/>
          <p:nvPr/>
        </p:nvCxnSpPr>
        <p:spPr>
          <a:xfrm flipH="1">
            <a:off x="7360920" y="5102352"/>
            <a:ext cx="530352" cy="0"/>
          </a:xfrm>
          <a:prstGeom prst="line">
            <a:avLst/>
          </a:prstGeom>
          <a:ln w="19050">
            <a:solidFill>
              <a:srgbClr val="087F5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7" name="0497 Connector"/>
          <p:cNvCxnSpPr/>
          <p:nvPr/>
        </p:nvCxnSpPr>
        <p:spPr>
          <a:xfrm>
            <a:off x="7498079" y="3977639"/>
            <a:ext cx="484633" cy="0"/>
          </a:xfrm>
          <a:prstGeom prst="line">
            <a:avLst/>
          </a:prstGeom>
          <a:ln w="19050">
            <a:solidFill>
              <a:srgbClr val="B64B00"/>
            </a:solidFill>
            <a:prstDash val="dash"/>
          </a:ln>
          <a:effectLst/>
        </p:spPr>
        <p:style>
          <a:lnRef idx="2">
            <a:schemeClr val="accent1"/>
          </a:lnRef>
          <a:fillRef idx="0">
            <a:schemeClr val="accent1"/>
          </a:fillRef>
          <a:effectRef idx="0">
            <a:schemeClr val="accent1"/>
          </a:effectRef>
          <a:fontRef idx="minor">
            <a:schemeClr val="tx1"/>
          </a:fontRef>
        </p:style>
      </p:cxnSp>
      <p:cxnSp>
        <p:nvCxnSpPr>
          <p:cNvPr id="48" name="0498 Connector"/>
          <p:cNvCxnSpPr/>
          <p:nvPr/>
        </p:nvCxnSpPr>
        <p:spPr>
          <a:xfrm>
            <a:off x="7982712" y="3977639"/>
            <a:ext cx="0" cy="1746505"/>
          </a:xfrm>
          <a:prstGeom prst="line">
            <a:avLst/>
          </a:prstGeom>
          <a:ln w="19050">
            <a:solidFill>
              <a:srgbClr val="B64B00"/>
            </a:solidFill>
            <a:prstDash val="dash"/>
          </a:ln>
          <a:effectLst/>
        </p:spPr>
        <p:style>
          <a:lnRef idx="2">
            <a:schemeClr val="accent1"/>
          </a:lnRef>
          <a:fillRef idx="0">
            <a:schemeClr val="accent1"/>
          </a:fillRef>
          <a:effectRef idx="0">
            <a:schemeClr val="accent1"/>
          </a:effectRef>
          <a:fontRef idx="minor">
            <a:schemeClr val="tx1"/>
          </a:fontRef>
        </p:style>
      </p:cxnSp>
      <p:cxnSp>
        <p:nvCxnSpPr>
          <p:cNvPr id="49" name="0499 Connector"/>
          <p:cNvCxnSpPr/>
          <p:nvPr/>
        </p:nvCxnSpPr>
        <p:spPr>
          <a:xfrm>
            <a:off x="7982712" y="5724144"/>
            <a:ext cx="384048" cy="0"/>
          </a:xfrm>
          <a:prstGeom prst="line">
            <a:avLst/>
          </a:prstGeom>
          <a:ln w="19050">
            <a:solidFill>
              <a:srgbClr val="B64B00"/>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pic>
        <p:nvPicPr>
          <p:cNvPr id="53" name="圖片 52">
            <a:extLst>
              <a:ext uri="{FF2B5EF4-FFF2-40B4-BE49-F238E27FC236}">
                <a16:creationId xmlns:a16="http://schemas.microsoft.com/office/drawing/2014/main" id="{CFD4F107-3AED-431E-8F8C-2C3EA3C90DDF}"/>
              </a:ext>
            </a:extLst>
          </p:cNvPr>
          <p:cNvPicPr>
            <a:picLocks noChangeAspect="1"/>
          </p:cNvPicPr>
          <p:nvPr/>
        </p:nvPicPr>
        <p:blipFill>
          <a:blip r:embed="rId3"/>
          <a:stretch>
            <a:fillRect/>
          </a:stretch>
        </p:blipFill>
        <p:spPr>
          <a:xfrm>
            <a:off x="10619964" y="2994169"/>
            <a:ext cx="1134184" cy="11341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500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501 Text: CONTINUITY AND ACCESS"/>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CONTINUITY AND ACCESS</a:t>
            </a:r>
          </a:p>
        </p:txBody>
      </p:sp>
      <p:sp>
        <p:nvSpPr>
          <p:cNvPr id="4" name="0502 Text: A dropped connection should not erase the record"/>
          <p:cNvSpPr txBox="1">
            <a:spLocks/>
          </p:cNvSpPr>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A dropped connection should not erase the record.</a:t>
            </a:r>
          </a:p>
        </p:txBody>
      </p:sp>
      <p:sp>
        <p:nvSpPr>
          <p:cNvPr id="5" name="0503 Text: Store locally. Reconcile when connected. Keep au"/>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Store locally. Reconcile when connected. Keep audio control on the device.</a:t>
            </a:r>
          </a:p>
        </p:txBody>
      </p:sp>
      <p:cxnSp>
        <p:nvCxnSpPr>
          <p:cNvPr id="6" name="0504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505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506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507 Panel"/>
          <p:cNvSpPr/>
          <p:nvPr/>
        </p:nvSpPr>
        <p:spPr>
          <a:xfrm>
            <a:off x="457200" y="2066543"/>
            <a:ext cx="2679192" cy="1728216"/>
          </a:xfrm>
          <a:prstGeom prst="roundRect">
            <a:avLst>
              <a:gd name="adj" fmla="val 68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508 event icon"/>
          <p:cNvSpPr/>
          <p:nvPr/>
        </p:nvSpPr>
        <p:spPr>
          <a:xfrm>
            <a:off x="666597" y="2317638"/>
            <a:ext cx="285292" cy="256763"/>
          </a:xfrm>
          <a:prstGeom prst="roundRect">
            <a:avLst>
              <a:gd name="adj" fmla="val 10683"/>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 name="0509 Connector"/>
          <p:cNvCxnSpPr/>
          <p:nvPr/>
        </p:nvCxnSpPr>
        <p:spPr>
          <a:xfrm>
            <a:off x="734354" y="2267712"/>
            <a:ext cx="0" cy="10341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2" name="0510 Connector"/>
          <p:cNvCxnSpPr/>
          <p:nvPr/>
        </p:nvCxnSpPr>
        <p:spPr>
          <a:xfrm>
            <a:off x="884133" y="2267712"/>
            <a:ext cx="0" cy="10341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3" name="0511 Connector"/>
          <p:cNvCxnSpPr/>
          <p:nvPr/>
        </p:nvCxnSpPr>
        <p:spPr>
          <a:xfrm>
            <a:off x="666597" y="2403226"/>
            <a:ext cx="285293"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4" name="0512 Connector"/>
          <p:cNvCxnSpPr/>
          <p:nvPr/>
        </p:nvCxnSpPr>
        <p:spPr>
          <a:xfrm>
            <a:off x="720090" y="2474549"/>
            <a:ext cx="167609"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5" name="0513 Connector"/>
          <p:cNvCxnSpPr/>
          <p:nvPr/>
        </p:nvCxnSpPr>
        <p:spPr>
          <a:xfrm>
            <a:off x="720090" y="2531607"/>
            <a:ext cx="106984"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16" name="0514 Text: Local action"/>
          <p:cNvSpPr txBox="1"/>
          <p:nvPr/>
        </p:nvSpPr>
        <p:spPr>
          <a:xfrm>
            <a:off x="1170432" y="2340864"/>
            <a:ext cx="1810512"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E2D3D"/>
                </a:solidFill>
                <a:effectLst/>
                <a:uLnTx/>
                <a:uFillTx/>
                <a:latin typeface="Arial"/>
                <a:ea typeface="+mn-ea"/>
                <a:cs typeface="+mn-cs"/>
              </a:rPr>
              <a:t>Local action</a:t>
            </a:r>
          </a:p>
        </p:txBody>
      </p:sp>
      <p:sp>
        <p:nvSpPr>
          <p:cNvPr id="17" name="0515 Text: An event is recorded"/>
          <p:cNvSpPr txBox="1"/>
          <p:nvPr/>
        </p:nvSpPr>
        <p:spPr>
          <a:xfrm>
            <a:off x="640080" y="3081528"/>
            <a:ext cx="22860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80" b="0" i="0" u="none" strike="noStrike" kern="1200" cap="none" spc="0" normalizeH="0" baseline="0" noProof="0">
                <a:ln>
                  <a:noFill/>
                </a:ln>
                <a:solidFill>
                  <a:srgbClr val="657187"/>
                </a:solidFill>
                <a:effectLst/>
                <a:uLnTx/>
                <a:uFillTx/>
                <a:latin typeface="Arial"/>
                <a:ea typeface="+mn-ea"/>
                <a:cs typeface="+mn-cs"/>
              </a:rPr>
              <a:t>An event is recorded</a:t>
            </a:r>
          </a:p>
        </p:txBody>
      </p:sp>
      <p:cxnSp>
        <p:nvCxnSpPr>
          <p:cNvPr id="18" name="0516 Connector"/>
          <p:cNvCxnSpPr/>
          <p:nvPr/>
        </p:nvCxnSpPr>
        <p:spPr>
          <a:xfrm>
            <a:off x="3163824" y="2907792"/>
            <a:ext cx="128016" cy="0"/>
          </a:xfrm>
          <a:prstGeom prst="line">
            <a:avLst/>
          </a:prstGeom>
          <a:ln w="2032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0517 Panel"/>
          <p:cNvSpPr/>
          <p:nvPr/>
        </p:nvSpPr>
        <p:spPr>
          <a:xfrm>
            <a:off x="3328416" y="2066543"/>
            <a:ext cx="2679192" cy="1728216"/>
          </a:xfrm>
          <a:prstGeom prst="roundRect">
            <a:avLst>
              <a:gd name="adj" fmla="val 68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0518 Database icon"/>
          <p:cNvSpPr/>
          <p:nvPr/>
        </p:nvSpPr>
        <p:spPr>
          <a:xfrm>
            <a:off x="3544945" y="2289108"/>
            <a:ext cx="271028" cy="310255"/>
          </a:xfrm>
          <a:prstGeom prst="can">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0519 Text: IndexedDB"/>
          <p:cNvSpPr txBox="1"/>
          <p:nvPr/>
        </p:nvSpPr>
        <p:spPr>
          <a:xfrm>
            <a:off x="4041648" y="2340864"/>
            <a:ext cx="1810512"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E2D3D"/>
                </a:solidFill>
                <a:effectLst/>
                <a:uLnTx/>
                <a:uFillTx/>
                <a:latin typeface="Arial"/>
                <a:ea typeface="+mn-ea"/>
                <a:cs typeface="+mn-cs"/>
              </a:rPr>
              <a:t>IndexedDB</a:t>
            </a:r>
          </a:p>
        </p:txBody>
      </p:sp>
      <p:sp>
        <p:nvSpPr>
          <p:cNvPr id="22" name="0520 Text: Keep the outbox"/>
          <p:cNvSpPr txBox="1"/>
          <p:nvPr/>
        </p:nvSpPr>
        <p:spPr>
          <a:xfrm>
            <a:off x="3511296" y="3081528"/>
            <a:ext cx="22860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80" b="0" i="0" u="none" strike="noStrike" kern="1200" cap="none" spc="0" normalizeH="0" baseline="0" noProof="0">
                <a:ln>
                  <a:noFill/>
                </a:ln>
                <a:solidFill>
                  <a:srgbClr val="657187"/>
                </a:solidFill>
                <a:effectLst/>
                <a:uLnTx/>
                <a:uFillTx/>
                <a:latin typeface="Arial"/>
                <a:ea typeface="+mn-ea"/>
                <a:cs typeface="+mn-cs"/>
              </a:rPr>
              <a:t>Keep the outbox</a:t>
            </a:r>
          </a:p>
        </p:txBody>
      </p:sp>
      <p:cxnSp>
        <p:nvCxnSpPr>
          <p:cNvPr id="23" name="0521 Connector"/>
          <p:cNvCxnSpPr/>
          <p:nvPr/>
        </p:nvCxnSpPr>
        <p:spPr>
          <a:xfrm>
            <a:off x="6035040" y="2907792"/>
            <a:ext cx="128016" cy="0"/>
          </a:xfrm>
          <a:prstGeom prst="line">
            <a:avLst/>
          </a:prstGeom>
          <a:ln w="2032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4" name="0522 Panel"/>
          <p:cNvSpPr/>
          <p:nvPr/>
        </p:nvSpPr>
        <p:spPr>
          <a:xfrm>
            <a:off x="6199632" y="2066543"/>
            <a:ext cx="2679192" cy="1728216"/>
          </a:xfrm>
          <a:prstGeom prst="roundRect">
            <a:avLst>
              <a:gd name="adj" fmla="val 68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5" name="0523 Connector"/>
          <p:cNvCxnSpPr/>
          <p:nvPr/>
        </p:nvCxnSpPr>
        <p:spPr>
          <a:xfrm flipV="1">
            <a:off x="6426860" y="2314072"/>
            <a:ext cx="78455" cy="8202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6" name="0524 Connector"/>
          <p:cNvCxnSpPr/>
          <p:nvPr/>
        </p:nvCxnSpPr>
        <p:spPr>
          <a:xfrm>
            <a:off x="6505315" y="2314072"/>
            <a:ext cx="117684"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7" name="0525 Connector"/>
          <p:cNvCxnSpPr/>
          <p:nvPr/>
        </p:nvCxnSpPr>
        <p:spPr>
          <a:xfrm>
            <a:off x="6622999" y="2314072"/>
            <a:ext cx="60624" cy="7132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8" name="0526 Connector"/>
          <p:cNvCxnSpPr/>
          <p:nvPr/>
        </p:nvCxnSpPr>
        <p:spPr>
          <a:xfrm flipV="1">
            <a:off x="6426860" y="2303373"/>
            <a:ext cx="0" cy="9272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9" name="0527 Connector"/>
          <p:cNvCxnSpPr/>
          <p:nvPr/>
        </p:nvCxnSpPr>
        <p:spPr>
          <a:xfrm>
            <a:off x="6426860" y="2396093"/>
            <a:ext cx="89154"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0" name="0528 Connector"/>
          <p:cNvCxnSpPr/>
          <p:nvPr/>
        </p:nvCxnSpPr>
        <p:spPr>
          <a:xfrm flipH="1">
            <a:off x="6601602" y="2495946"/>
            <a:ext cx="74889" cy="8558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1" name="0529 Connector"/>
          <p:cNvCxnSpPr/>
          <p:nvPr/>
        </p:nvCxnSpPr>
        <p:spPr>
          <a:xfrm flipH="1">
            <a:off x="6480352" y="2581534"/>
            <a:ext cx="12125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2" name="0530 Connector"/>
          <p:cNvCxnSpPr/>
          <p:nvPr/>
        </p:nvCxnSpPr>
        <p:spPr>
          <a:xfrm flipH="1" flipV="1">
            <a:off x="6419728" y="2506644"/>
            <a:ext cx="60624" cy="7489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3" name="0531 Connector"/>
          <p:cNvCxnSpPr/>
          <p:nvPr/>
        </p:nvCxnSpPr>
        <p:spPr>
          <a:xfrm>
            <a:off x="6676491" y="2495946"/>
            <a:ext cx="0" cy="9272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4" name="0532 Connector"/>
          <p:cNvCxnSpPr/>
          <p:nvPr/>
        </p:nvCxnSpPr>
        <p:spPr>
          <a:xfrm flipH="1">
            <a:off x="6587337" y="2495946"/>
            <a:ext cx="89154"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5" name="0533 Text: Ordered retry"/>
          <p:cNvSpPr txBox="1"/>
          <p:nvPr/>
        </p:nvSpPr>
        <p:spPr>
          <a:xfrm>
            <a:off x="6912864" y="2340864"/>
            <a:ext cx="1810512"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E2D3D"/>
                </a:solidFill>
                <a:effectLst/>
                <a:uLnTx/>
                <a:uFillTx/>
                <a:latin typeface="Arial"/>
                <a:ea typeface="+mn-ea"/>
                <a:cs typeface="+mn-cs"/>
              </a:rPr>
              <a:t>Ordered retry</a:t>
            </a:r>
          </a:p>
        </p:txBody>
      </p:sp>
      <p:sp>
        <p:nvSpPr>
          <p:cNvPr id="36" name="0534 Text: Send pending events"/>
          <p:cNvSpPr txBox="1"/>
          <p:nvPr/>
        </p:nvSpPr>
        <p:spPr>
          <a:xfrm>
            <a:off x="6382512" y="3081528"/>
            <a:ext cx="22860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80" b="0" i="0" u="none" strike="noStrike" kern="1200" cap="none" spc="0" normalizeH="0" baseline="0" noProof="0">
                <a:ln>
                  <a:noFill/>
                </a:ln>
                <a:solidFill>
                  <a:srgbClr val="657187"/>
                </a:solidFill>
                <a:effectLst/>
                <a:uLnTx/>
                <a:uFillTx/>
                <a:latin typeface="Arial"/>
                <a:ea typeface="+mn-ea"/>
                <a:cs typeface="+mn-cs"/>
              </a:rPr>
              <a:t>Send pending events</a:t>
            </a:r>
          </a:p>
        </p:txBody>
      </p:sp>
      <p:cxnSp>
        <p:nvCxnSpPr>
          <p:cNvPr id="37" name="0535 Connector"/>
          <p:cNvCxnSpPr/>
          <p:nvPr/>
        </p:nvCxnSpPr>
        <p:spPr>
          <a:xfrm>
            <a:off x="8906256" y="2907792"/>
            <a:ext cx="128016" cy="0"/>
          </a:xfrm>
          <a:prstGeom prst="line">
            <a:avLst/>
          </a:prstGeom>
          <a:ln w="2032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8" name="0536 Panel"/>
          <p:cNvSpPr/>
          <p:nvPr/>
        </p:nvSpPr>
        <p:spPr>
          <a:xfrm>
            <a:off x="9070848" y="2066543"/>
            <a:ext cx="2679192" cy="1728216"/>
          </a:xfrm>
          <a:prstGeom prst="roundRect">
            <a:avLst>
              <a:gd name="adj" fmla="val 6878"/>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9" name="0537 Connector"/>
          <p:cNvCxnSpPr/>
          <p:nvPr/>
        </p:nvCxnSpPr>
        <p:spPr>
          <a:xfrm>
            <a:off x="9287377" y="2438887"/>
            <a:ext cx="96287" cy="106985"/>
          </a:xfrm>
          <a:prstGeom prst="line">
            <a:avLst/>
          </a:prstGeom>
          <a:ln w="2667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0" name="0538 Connector"/>
          <p:cNvCxnSpPr/>
          <p:nvPr/>
        </p:nvCxnSpPr>
        <p:spPr>
          <a:xfrm flipV="1">
            <a:off x="9383664" y="2321204"/>
            <a:ext cx="185440" cy="224668"/>
          </a:xfrm>
          <a:prstGeom prst="line">
            <a:avLst/>
          </a:prstGeom>
          <a:ln w="2667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41" name="0539 Text: Server reply"/>
          <p:cNvSpPr txBox="1"/>
          <p:nvPr/>
        </p:nvSpPr>
        <p:spPr>
          <a:xfrm>
            <a:off x="9784080" y="2340864"/>
            <a:ext cx="1810512" cy="4846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E2D3D"/>
                </a:solidFill>
                <a:effectLst/>
                <a:uLnTx/>
                <a:uFillTx/>
                <a:latin typeface="Arial"/>
                <a:ea typeface="+mn-ea"/>
                <a:cs typeface="+mn-cs"/>
              </a:rPr>
              <a:t>Server reply</a:t>
            </a:r>
          </a:p>
        </p:txBody>
      </p:sp>
      <p:sp>
        <p:nvSpPr>
          <p:cNvPr id="42" name="0540 Text: Accept, deduplicate,&#10;or flag a conflict"/>
          <p:cNvSpPr txBox="1"/>
          <p:nvPr/>
        </p:nvSpPr>
        <p:spPr>
          <a:xfrm>
            <a:off x="9253728" y="3081528"/>
            <a:ext cx="22860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80" b="0" i="0" u="none" strike="noStrike" kern="1200" cap="none" spc="0" normalizeH="0" baseline="0" noProof="0">
                <a:ln>
                  <a:noFill/>
                </a:ln>
                <a:solidFill>
                  <a:srgbClr val="657187"/>
                </a:solidFill>
                <a:effectLst/>
                <a:uLnTx/>
                <a:uFillTx/>
                <a:latin typeface="Arial"/>
                <a:ea typeface="+mn-ea"/>
                <a:cs typeface="+mn-cs"/>
              </a:rPr>
              <a:t>Accept, deduplicate,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80" b="0" i="0" u="none" strike="noStrike" kern="1200" cap="none" spc="0" normalizeH="0" baseline="0" noProof="0">
                <a:ln>
                  <a:noFill/>
                </a:ln>
                <a:solidFill>
                  <a:srgbClr val="657187"/>
                </a:solidFill>
                <a:effectLst/>
                <a:uLnTx/>
                <a:uFillTx/>
                <a:latin typeface="Arial"/>
                <a:ea typeface="+mn-ea"/>
                <a:cs typeface="+mn-cs"/>
              </a:rPr>
              <a:t>or flag a conflict</a:t>
            </a:r>
          </a:p>
        </p:txBody>
      </p:sp>
      <p:sp>
        <p:nvSpPr>
          <p:cNvPr id="43" name="0541 Panel"/>
          <p:cNvSpPr/>
          <p:nvPr/>
        </p:nvSpPr>
        <p:spPr>
          <a:xfrm>
            <a:off x="457200" y="4197096"/>
            <a:ext cx="3621024" cy="1655064"/>
          </a:xfrm>
          <a:prstGeom prst="roundRect">
            <a:avLst>
              <a:gd name="adj" fmla="val 7182"/>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0542 mic icon"/>
          <p:cNvSpPr/>
          <p:nvPr/>
        </p:nvSpPr>
        <p:spPr>
          <a:xfrm>
            <a:off x="782177" y="4413625"/>
            <a:ext cx="103692" cy="211226"/>
          </a:xfrm>
          <a:prstGeom prst="roundRect">
            <a:avLst>
              <a:gd name="adj" fmla="val 25000"/>
            </a:avLst>
          </a:prstGeom>
          <a:noFill/>
          <a:ln w="20320">
            <a:solidFill>
              <a:srgbClr val="B42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45" name="0543 Connector"/>
          <p:cNvCxnSpPr/>
          <p:nvPr/>
        </p:nvCxnSpPr>
        <p:spPr>
          <a:xfrm>
            <a:off x="713049" y="4532680"/>
            <a:ext cx="0" cy="84491"/>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46" name="0544 Connector"/>
          <p:cNvCxnSpPr/>
          <p:nvPr/>
        </p:nvCxnSpPr>
        <p:spPr>
          <a:xfrm>
            <a:off x="713049" y="4617171"/>
            <a:ext cx="57607" cy="72969"/>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47" name="0545 Connector"/>
          <p:cNvCxnSpPr/>
          <p:nvPr/>
        </p:nvCxnSpPr>
        <p:spPr>
          <a:xfrm>
            <a:off x="770656" y="4690140"/>
            <a:ext cx="130576"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48" name="0546 Connector"/>
          <p:cNvCxnSpPr/>
          <p:nvPr/>
        </p:nvCxnSpPr>
        <p:spPr>
          <a:xfrm flipV="1">
            <a:off x="901232" y="4617171"/>
            <a:ext cx="57607" cy="72969"/>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49" name="0547 Connector"/>
          <p:cNvCxnSpPr/>
          <p:nvPr/>
        </p:nvCxnSpPr>
        <p:spPr>
          <a:xfrm flipV="1">
            <a:off x="958839" y="4532680"/>
            <a:ext cx="0" cy="84491"/>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50" name="0548 Connector"/>
          <p:cNvCxnSpPr/>
          <p:nvPr/>
        </p:nvCxnSpPr>
        <p:spPr>
          <a:xfrm>
            <a:off x="835944" y="4690140"/>
            <a:ext cx="0" cy="8065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cxnSp>
        <p:nvCxnSpPr>
          <p:cNvPr id="51" name="0549 Connector"/>
          <p:cNvCxnSpPr/>
          <p:nvPr/>
        </p:nvCxnSpPr>
        <p:spPr>
          <a:xfrm>
            <a:off x="759134" y="4774631"/>
            <a:ext cx="153620" cy="0"/>
          </a:xfrm>
          <a:prstGeom prst="line">
            <a:avLst/>
          </a:prstGeom>
          <a:ln w="21590">
            <a:solidFill>
              <a:srgbClr val="B42318"/>
            </a:solidFill>
          </a:ln>
          <a:effectLst/>
        </p:spPr>
        <p:style>
          <a:lnRef idx="2">
            <a:schemeClr val="accent1"/>
          </a:lnRef>
          <a:fillRef idx="0">
            <a:schemeClr val="accent1"/>
          </a:fillRef>
          <a:effectRef idx="0">
            <a:schemeClr val="accent1"/>
          </a:effectRef>
          <a:fontRef idx="minor">
            <a:schemeClr val="tx1"/>
          </a:fontRef>
        </p:style>
      </p:cxnSp>
      <p:sp>
        <p:nvSpPr>
          <p:cNvPr id="52" name="0550 Text: Mute immediately"/>
          <p:cNvSpPr txBox="1"/>
          <p:nvPr/>
        </p:nvSpPr>
        <p:spPr>
          <a:xfrm>
            <a:off x="1261872" y="4480560"/>
            <a:ext cx="2596896" cy="320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B42318"/>
                </a:solidFill>
                <a:effectLst/>
                <a:uLnTx/>
                <a:uFillTx/>
                <a:latin typeface="Arial"/>
                <a:ea typeface="+mn-ea"/>
                <a:cs typeface="+mn-cs"/>
              </a:rPr>
              <a:t>Mute immediately</a:t>
            </a:r>
          </a:p>
        </p:txBody>
      </p:sp>
      <p:sp>
        <p:nvSpPr>
          <p:cNvPr id="53" name="0551 Text: No server round trip&#10;to stop audio."/>
          <p:cNvSpPr txBox="1"/>
          <p:nvPr/>
        </p:nvSpPr>
        <p:spPr>
          <a:xfrm>
            <a:off x="658368" y="5157216"/>
            <a:ext cx="3200400" cy="5120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No server round trip</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to stop audio.</a:t>
            </a:r>
          </a:p>
        </p:txBody>
      </p:sp>
      <p:sp>
        <p:nvSpPr>
          <p:cNvPr id="54" name="0552 Panel"/>
          <p:cNvSpPr/>
          <p:nvPr/>
        </p:nvSpPr>
        <p:spPr>
          <a:xfrm>
            <a:off x="4288536" y="4197096"/>
            <a:ext cx="3621024" cy="1655064"/>
          </a:xfrm>
          <a:prstGeom prst="roundRect">
            <a:avLst>
              <a:gd name="adj" fmla="val 7182"/>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5" name="0553 Connector"/>
          <p:cNvCxnSpPr/>
          <p:nvPr/>
        </p:nvCxnSpPr>
        <p:spPr>
          <a:xfrm>
            <a:off x="4663440" y="4409785"/>
            <a:ext cx="145938" cy="5760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6" name="0554 Connector"/>
          <p:cNvCxnSpPr/>
          <p:nvPr/>
        </p:nvCxnSpPr>
        <p:spPr>
          <a:xfrm flipH="1">
            <a:off x="4790175" y="4467392"/>
            <a:ext cx="19203" cy="18050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7" name="0555 Connector"/>
          <p:cNvCxnSpPr/>
          <p:nvPr/>
        </p:nvCxnSpPr>
        <p:spPr>
          <a:xfrm flipH="1">
            <a:off x="4663440" y="4647895"/>
            <a:ext cx="126735" cy="12673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8" name="0556 Connector"/>
          <p:cNvCxnSpPr/>
          <p:nvPr/>
        </p:nvCxnSpPr>
        <p:spPr>
          <a:xfrm flipH="1" flipV="1">
            <a:off x="4536704" y="4647895"/>
            <a:ext cx="126736" cy="12673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9" name="0557 Connector"/>
          <p:cNvCxnSpPr/>
          <p:nvPr/>
        </p:nvCxnSpPr>
        <p:spPr>
          <a:xfrm flipH="1" flipV="1">
            <a:off x="4517501" y="4467392"/>
            <a:ext cx="19203" cy="18050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60" name="0558 Connector"/>
          <p:cNvCxnSpPr/>
          <p:nvPr/>
        </p:nvCxnSpPr>
        <p:spPr>
          <a:xfrm flipV="1">
            <a:off x="4517501" y="4409785"/>
            <a:ext cx="145939" cy="5760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61" name="0559 Connector"/>
          <p:cNvCxnSpPr/>
          <p:nvPr/>
        </p:nvCxnSpPr>
        <p:spPr>
          <a:xfrm>
            <a:off x="4582789" y="4586447"/>
            <a:ext cx="61448" cy="6528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62" name="0560 Connector"/>
          <p:cNvCxnSpPr/>
          <p:nvPr/>
        </p:nvCxnSpPr>
        <p:spPr>
          <a:xfrm flipV="1">
            <a:off x="4644237" y="4528840"/>
            <a:ext cx="111374" cy="12289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63" name="0561 Text: Share by role"/>
          <p:cNvSpPr txBox="1"/>
          <p:nvPr/>
        </p:nvSpPr>
        <p:spPr>
          <a:xfrm>
            <a:off x="5093208" y="4480560"/>
            <a:ext cx="2596896" cy="320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5EEF"/>
                </a:solidFill>
                <a:effectLst/>
                <a:uLnTx/>
                <a:uFillTx/>
                <a:latin typeface="Arial"/>
                <a:ea typeface="+mn-ea"/>
                <a:cs typeface="+mn-cs"/>
              </a:rPr>
              <a:t>Share by role</a:t>
            </a:r>
          </a:p>
        </p:txBody>
      </p:sp>
      <p:sp>
        <p:nvSpPr>
          <p:cNvPr id="64" name="0562 Text: Task-only runner access.&#10;One-time invitations."/>
          <p:cNvSpPr txBox="1"/>
          <p:nvPr/>
        </p:nvSpPr>
        <p:spPr>
          <a:xfrm>
            <a:off x="4489704" y="5157216"/>
            <a:ext cx="3200400" cy="5120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Task-only runner access.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One-time invitations.</a:t>
            </a:r>
          </a:p>
        </p:txBody>
      </p:sp>
      <p:sp>
        <p:nvSpPr>
          <p:cNvPr id="65" name="0563 Panel"/>
          <p:cNvSpPr/>
          <p:nvPr/>
        </p:nvSpPr>
        <p:spPr>
          <a:xfrm>
            <a:off x="8119872" y="4197096"/>
            <a:ext cx="3621024" cy="1655064"/>
          </a:xfrm>
          <a:prstGeom prst="roundRect">
            <a:avLst>
              <a:gd name="adj" fmla="val 7182"/>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0564 Circle"/>
          <p:cNvSpPr/>
          <p:nvPr/>
        </p:nvSpPr>
        <p:spPr>
          <a:xfrm>
            <a:off x="8321954" y="4417466"/>
            <a:ext cx="345643" cy="345643"/>
          </a:xfrm>
          <a:prstGeom prst="ellipse">
            <a:avLst/>
          </a:prstGeom>
          <a:noFill/>
          <a:ln w="20320">
            <a:solidFill>
              <a:srgbClr val="087F5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7" name="0565 Connector"/>
          <p:cNvCxnSpPr/>
          <p:nvPr/>
        </p:nvCxnSpPr>
        <p:spPr>
          <a:xfrm>
            <a:off x="8494776" y="4478914"/>
            <a:ext cx="0" cy="119054"/>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cxnSp>
        <p:nvCxnSpPr>
          <p:cNvPr id="68" name="0566 Connector"/>
          <p:cNvCxnSpPr/>
          <p:nvPr/>
        </p:nvCxnSpPr>
        <p:spPr>
          <a:xfrm>
            <a:off x="8494776" y="4597968"/>
            <a:ext cx="92171" cy="65289"/>
          </a:xfrm>
          <a:prstGeom prst="line">
            <a:avLst/>
          </a:prstGeom>
          <a:ln w="21590">
            <a:solidFill>
              <a:srgbClr val="087F5B"/>
            </a:solidFill>
          </a:ln>
          <a:effectLst/>
        </p:spPr>
        <p:style>
          <a:lnRef idx="2">
            <a:schemeClr val="accent1"/>
          </a:lnRef>
          <a:fillRef idx="0">
            <a:schemeClr val="accent1"/>
          </a:fillRef>
          <a:effectRef idx="0">
            <a:schemeClr val="accent1"/>
          </a:effectRef>
          <a:fontRef idx="minor">
            <a:schemeClr val="tx1"/>
          </a:fontRef>
        </p:style>
      </p:cxnSp>
      <p:sp>
        <p:nvSpPr>
          <p:cNvPr id="69" name="0567 Text: Expire and clean up"/>
          <p:cNvSpPr txBox="1"/>
          <p:nvPr/>
        </p:nvSpPr>
        <p:spPr>
          <a:xfrm>
            <a:off x="8924544" y="4480560"/>
            <a:ext cx="2596896" cy="320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087F5B"/>
                </a:solidFill>
                <a:effectLst/>
                <a:uLnTx/>
                <a:uFillTx/>
                <a:latin typeface="Arial"/>
                <a:ea typeface="+mn-ea"/>
                <a:cs typeface="+mn-cs"/>
              </a:rPr>
              <a:t>Expire and clean up</a:t>
            </a:r>
          </a:p>
        </p:txBody>
      </p:sp>
      <p:sp>
        <p:nvSpPr>
          <p:cNvPr id="70" name="0568 Text: Time-limited access.&#10;Scheduled data removal."/>
          <p:cNvSpPr txBox="1"/>
          <p:nvPr/>
        </p:nvSpPr>
        <p:spPr>
          <a:xfrm>
            <a:off x="8321040" y="5157216"/>
            <a:ext cx="3200400" cy="5120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Time-limited access.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Scheduled data removal.</a:t>
            </a:r>
          </a:p>
        </p:txBody>
      </p:sp>
      <p:sp>
        <p:nvSpPr>
          <p:cNvPr id="71" name="0569 Text: Retries are safe; unresolved conflicts stay visi"/>
          <p:cNvSpPr txBox="1"/>
          <p:nvPr/>
        </p:nvSpPr>
        <p:spPr>
          <a:xfrm>
            <a:off x="539496" y="6089904"/>
            <a:ext cx="10972800" cy="2286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20" b="1" i="0" u="none" strike="noStrike" kern="1200" cap="none" spc="0" normalizeH="0" baseline="0" noProof="0">
                <a:ln>
                  <a:noFill/>
                </a:ln>
                <a:solidFill>
                  <a:srgbClr val="155EEF"/>
                </a:solidFill>
                <a:effectLst/>
                <a:uLnTx/>
                <a:uFillTx/>
                <a:latin typeface="Arial"/>
                <a:ea typeface="+mn-ea"/>
                <a:cs typeface="+mn-cs"/>
              </a:rPr>
              <a:t>Retries are safe; unresolved conflicts stay visible.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4FA4394A-296F-5867-9F22-F234FAB50C1A}"/>
            </a:ext>
          </a:extLst>
        </p:cNvPr>
        <p:cNvGrpSpPr/>
        <p:nvPr/>
      </p:nvGrpSpPr>
      <p:grpSpPr>
        <a:xfrm>
          <a:off x="0" y="0"/>
          <a:ext cx="0" cy="0"/>
          <a:chOff x="0" y="0"/>
          <a:chExt cx="0" cy="0"/>
        </a:xfrm>
      </p:grpSpPr>
      <p:sp>
        <p:nvSpPr>
          <p:cNvPr id="2" name="0500 Section accent">
            <a:extLst>
              <a:ext uri="{FF2B5EF4-FFF2-40B4-BE49-F238E27FC236}">
                <a16:creationId xmlns:a16="http://schemas.microsoft.com/office/drawing/2014/main" id="{C7D7BD99-F988-D049-DB0B-83EC7BC1A57A}"/>
              </a:ext>
            </a:extLst>
          </p:cNvPr>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新細明體" panose="02020500000000000000" pitchFamily="18" charset="-120"/>
              <a:cs typeface="+mn-cs"/>
            </a:endParaRPr>
          </a:p>
        </p:txBody>
      </p:sp>
      <p:sp>
        <p:nvSpPr>
          <p:cNvPr id="3" name="0501 Text: CONTINUITY AND ACCESS">
            <a:extLst>
              <a:ext uri="{FF2B5EF4-FFF2-40B4-BE49-F238E27FC236}">
                <a16:creationId xmlns:a16="http://schemas.microsoft.com/office/drawing/2014/main" id="{C1C838B8-083D-509D-9505-F9AF35A780B8}"/>
              </a:ext>
            </a:extLst>
          </p:cNvPr>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CONTINUITY AND ACCESS</a:t>
            </a:r>
          </a:p>
        </p:txBody>
      </p:sp>
      <p:sp>
        <p:nvSpPr>
          <p:cNvPr id="4" name="0502 Text: A dropped connection should not erase the record">
            <a:extLst>
              <a:ext uri="{FF2B5EF4-FFF2-40B4-BE49-F238E27FC236}">
                <a16:creationId xmlns:a16="http://schemas.microsoft.com/office/drawing/2014/main" id="{F9BAEABE-97FB-351B-D601-392DCA275D95}"/>
              </a:ext>
            </a:extLst>
          </p:cNvPr>
          <p:cNvSpPr txBox="1">
            <a:spLocks/>
          </p:cNvSpPr>
          <p:nvPr/>
        </p:nvSpPr>
        <p:spPr>
          <a:xfrm>
            <a:off x="466164" y="2865658"/>
            <a:ext cx="11265408" cy="1134028"/>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7200" b="1" i="0" u="none" strike="noStrike" kern="1200" cap="none" spc="0" normalizeH="0" baseline="0" noProof="0">
                <a:ln>
                  <a:noFill/>
                </a:ln>
                <a:solidFill>
                  <a:srgbClr val="1E2D3D"/>
                </a:solidFill>
                <a:effectLst/>
                <a:uLnTx/>
                <a:uFillTx/>
                <a:latin typeface="Arial"/>
                <a:ea typeface="+mn-ea"/>
                <a:cs typeface="+mn-cs"/>
              </a:rPr>
              <a:t>Demo Time</a:t>
            </a:r>
            <a:endParaRPr lang="en-US" sz="7200">
              <a:ea typeface="Calibri"/>
              <a:cs typeface="Calibri"/>
            </a:endParaRPr>
          </a:p>
        </p:txBody>
      </p:sp>
      <p:sp>
        <p:nvSpPr>
          <p:cNvPr id="7" name="0505 Text: FIRST AID COPILOT">
            <a:extLst>
              <a:ext uri="{FF2B5EF4-FFF2-40B4-BE49-F238E27FC236}">
                <a16:creationId xmlns:a16="http://schemas.microsoft.com/office/drawing/2014/main" id="{888BE53B-5CAD-7AD9-E5CA-1EBC0A558D99}"/>
              </a:ext>
            </a:extLst>
          </p:cNvPr>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506 Text: The dispatcher leads. The Agent assists.">
            <a:extLst>
              <a:ext uri="{FF2B5EF4-FFF2-40B4-BE49-F238E27FC236}">
                <a16:creationId xmlns:a16="http://schemas.microsoft.com/office/drawing/2014/main" id="{081CD778-F8AE-A5F9-42AC-06243A57E7E0}"/>
              </a:ext>
            </a:extLst>
          </p:cNvPr>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Tree>
    <p:extLst>
      <p:ext uri="{BB962C8B-B14F-4D97-AF65-F5344CB8AC3E}">
        <p14:creationId xmlns:p14="http://schemas.microsoft.com/office/powerpoint/2010/main" val="2525587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570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571 Text: VALIDATION"/>
          <p:cNvSpPr txBox="1"/>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VALIDATION</a:t>
            </a:r>
          </a:p>
        </p:txBody>
      </p:sp>
      <p:sp>
        <p:nvSpPr>
          <p:cNvPr id="4" name="0572 Text: We tested what happens when plans change."/>
          <p:cNvSpPr txBox="1"/>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We tested what happens when plans change.</a:t>
            </a:r>
          </a:p>
        </p:txBody>
      </p:sp>
      <p:sp>
        <p:nvSpPr>
          <p:cNvPr id="5" name="0573 Text: Local checks focus on what happens after an inte"/>
          <p:cNvSpPr txBox="1"/>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Local checks focus on what happens after an interruption or a failed task.</a:t>
            </a:r>
          </a:p>
        </p:txBody>
      </p:sp>
      <p:cxnSp>
        <p:nvCxnSpPr>
          <p:cNvPr id="6" name="0574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575 Text: FIRST AID COPILOT"/>
          <p:cNvSpPr txBox="1"/>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576 Text: The dispatcher leads. The Agent assists."/>
          <p:cNvSpPr txBox="1"/>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19" name="0587 Panel"/>
          <p:cNvSpPr/>
          <p:nvPr/>
        </p:nvSpPr>
        <p:spPr>
          <a:xfrm>
            <a:off x="457200" y="2070100"/>
            <a:ext cx="5461000" cy="1816100"/>
          </a:xfrm>
          <a:prstGeom prst="roundRect">
            <a:avLst>
              <a:gd name="adj" fmla="val 6770"/>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0588 phone icon"/>
          <p:cNvSpPr/>
          <p:nvPr/>
        </p:nvSpPr>
        <p:spPr>
          <a:xfrm>
            <a:off x="703579" y="2263321"/>
            <a:ext cx="173736" cy="312724"/>
          </a:xfrm>
          <a:prstGeom prst="roundRect">
            <a:avLst>
              <a:gd name="adj" fmla="val 25000"/>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1" name="0589 Connector"/>
          <p:cNvCxnSpPr/>
          <p:nvPr/>
        </p:nvCxnSpPr>
        <p:spPr>
          <a:xfrm>
            <a:off x="755700" y="2305018"/>
            <a:ext cx="69495"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2" name="0590 Connector"/>
          <p:cNvCxnSpPr/>
          <p:nvPr/>
        </p:nvCxnSpPr>
        <p:spPr>
          <a:xfrm>
            <a:off x="766124" y="2534351"/>
            <a:ext cx="48647"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23" name="0591 Text: Call switching"/>
          <p:cNvSpPr txBox="1"/>
          <p:nvPr/>
        </p:nvSpPr>
        <p:spPr>
          <a:xfrm>
            <a:off x="1143000" y="2322576"/>
            <a:ext cx="4546600" cy="521207"/>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2D3D"/>
                </a:solidFill>
                <a:effectLst/>
                <a:uLnTx/>
                <a:uFillTx/>
                <a:latin typeface="Arial"/>
                <a:ea typeface="+mn-ea"/>
                <a:cs typeface="+mn-cs"/>
              </a:rPr>
              <a:t>Call switching</a:t>
            </a:r>
          </a:p>
        </p:txBody>
      </p:sp>
      <p:sp>
        <p:nvSpPr>
          <p:cNvPr id="24" name="0592 Text: Changing modes preserves&#10;the event record."/>
          <p:cNvSpPr txBox="1"/>
          <p:nvPr/>
        </p:nvSpPr>
        <p:spPr>
          <a:xfrm>
            <a:off x="660400" y="2980944"/>
            <a:ext cx="5029200"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Changing modes preserves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the event record.</a:t>
            </a:r>
          </a:p>
        </p:txBody>
      </p:sp>
      <p:sp>
        <p:nvSpPr>
          <p:cNvPr id="25" name="0593 Panel"/>
          <p:cNvSpPr/>
          <p:nvPr/>
        </p:nvSpPr>
        <p:spPr>
          <a:xfrm>
            <a:off x="6273800" y="2070100"/>
            <a:ext cx="5461000" cy="1816100"/>
          </a:xfrm>
          <a:prstGeom prst="roundRect">
            <a:avLst>
              <a:gd name="adj" fmla="val 6770"/>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0594 Circle"/>
          <p:cNvSpPr/>
          <p:nvPr/>
        </p:nvSpPr>
        <p:spPr>
          <a:xfrm>
            <a:off x="6438229" y="2496128"/>
            <a:ext cx="83393" cy="83393"/>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0595 Circle"/>
          <p:cNvSpPr/>
          <p:nvPr/>
        </p:nvSpPr>
        <p:spPr>
          <a:xfrm>
            <a:off x="6688409" y="2256373"/>
            <a:ext cx="83393" cy="83393"/>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8" name="0596 Connector"/>
          <p:cNvCxnSpPr/>
          <p:nvPr/>
        </p:nvCxnSpPr>
        <p:spPr>
          <a:xfrm>
            <a:off x="6521622" y="2537824"/>
            <a:ext cx="93818"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9" name="0597 Connector"/>
          <p:cNvCxnSpPr/>
          <p:nvPr/>
        </p:nvCxnSpPr>
        <p:spPr>
          <a:xfrm flipV="1">
            <a:off x="6615440" y="2485704"/>
            <a:ext cx="48646" cy="5212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0" name="0598 Connector"/>
          <p:cNvCxnSpPr/>
          <p:nvPr/>
        </p:nvCxnSpPr>
        <p:spPr>
          <a:xfrm flipV="1">
            <a:off x="6664085" y="2433584"/>
            <a:ext cx="0" cy="5212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1" name="0599 Connector"/>
          <p:cNvCxnSpPr/>
          <p:nvPr/>
        </p:nvCxnSpPr>
        <p:spPr>
          <a:xfrm flipH="1" flipV="1">
            <a:off x="6573742" y="2388411"/>
            <a:ext cx="90343" cy="4517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2" name="0600 Connector"/>
          <p:cNvCxnSpPr/>
          <p:nvPr/>
        </p:nvCxnSpPr>
        <p:spPr>
          <a:xfrm flipV="1">
            <a:off x="6573742" y="2332817"/>
            <a:ext cx="0" cy="5559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3" name="0601 Connector"/>
          <p:cNvCxnSpPr/>
          <p:nvPr/>
        </p:nvCxnSpPr>
        <p:spPr>
          <a:xfrm flipV="1">
            <a:off x="6573742" y="2298069"/>
            <a:ext cx="48646" cy="3474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4" name="0602 Connector"/>
          <p:cNvCxnSpPr/>
          <p:nvPr/>
        </p:nvCxnSpPr>
        <p:spPr>
          <a:xfrm>
            <a:off x="6622388" y="2298069"/>
            <a:ext cx="72969"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5" name="0603 Text: Inaccessible AED"/>
          <p:cNvSpPr txBox="1"/>
          <p:nvPr/>
        </p:nvSpPr>
        <p:spPr>
          <a:xfrm>
            <a:off x="6959600" y="2322576"/>
            <a:ext cx="4546600" cy="521207"/>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2D3D"/>
                </a:solidFill>
                <a:effectLst/>
                <a:uLnTx/>
                <a:uFillTx/>
                <a:latin typeface="Arial"/>
                <a:ea typeface="+mn-ea"/>
                <a:cs typeface="+mn-cs"/>
              </a:rPr>
              <a:t>Inaccessible AED</a:t>
            </a:r>
          </a:p>
        </p:txBody>
      </p:sp>
      <p:sp>
        <p:nvSpPr>
          <p:cNvPr id="36" name="0604 Text: A report changes&#10;the assigned destination."/>
          <p:cNvSpPr txBox="1"/>
          <p:nvPr/>
        </p:nvSpPr>
        <p:spPr>
          <a:xfrm>
            <a:off x="6477000" y="2980944"/>
            <a:ext cx="5029200"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A report changes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the assigned destination.</a:t>
            </a:r>
          </a:p>
        </p:txBody>
      </p:sp>
      <p:sp>
        <p:nvSpPr>
          <p:cNvPr id="37" name="0605 Panel"/>
          <p:cNvSpPr/>
          <p:nvPr/>
        </p:nvSpPr>
        <p:spPr>
          <a:xfrm>
            <a:off x="457200" y="4013200"/>
            <a:ext cx="5461000" cy="1816100"/>
          </a:xfrm>
          <a:prstGeom prst="roundRect">
            <a:avLst>
              <a:gd name="adj" fmla="val 6770"/>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 name="0606 Connector"/>
          <p:cNvCxnSpPr/>
          <p:nvPr/>
        </p:nvCxnSpPr>
        <p:spPr>
          <a:xfrm flipV="1">
            <a:off x="668831" y="4246330"/>
            <a:ext cx="76444" cy="7991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9" name="0607 Connector"/>
          <p:cNvCxnSpPr/>
          <p:nvPr/>
        </p:nvCxnSpPr>
        <p:spPr>
          <a:xfrm>
            <a:off x="745275" y="4246330"/>
            <a:ext cx="114666"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0" name="0608 Connector"/>
          <p:cNvCxnSpPr/>
          <p:nvPr/>
        </p:nvCxnSpPr>
        <p:spPr>
          <a:xfrm>
            <a:off x="859941" y="4246330"/>
            <a:ext cx="59070" cy="6949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1" name="0609 Connector"/>
          <p:cNvCxnSpPr/>
          <p:nvPr/>
        </p:nvCxnSpPr>
        <p:spPr>
          <a:xfrm flipV="1">
            <a:off x="668831" y="4235907"/>
            <a:ext cx="0" cy="9034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2" name="0610 Connector"/>
          <p:cNvCxnSpPr/>
          <p:nvPr/>
        </p:nvCxnSpPr>
        <p:spPr>
          <a:xfrm>
            <a:off x="668831" y="4326248"/>
            <a:ext cx="86868"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3" name="0611 Connector"/>
          <p:cNvCxnSpPr/>
          <p:nvPr/>
        </p:nvCxnSpPr>
        <p:spPr>
          <a:xfrm flipH="1">
            <a:off x="839093" y="4423541"/>
            <a:ext cx="72969" cy="8339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4" name="0612 Connector"/>
          <p:cNvCxnSpPr/>
          <p:nvPr/>
        </p:nvCxnSpPr>
        <p:spPr>
          <a:xfrm flipH="1">
            <a:off x="720953" y="4506934"/>
            <a:ext cx="118141"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5" name="0613 Connector"/>
          <p:cNvCxnSpPr/>
          <p:nvPr/>
        </p:nvCxnSpPr>
        <p:spPr>
          <a:xfrm flipH="1" flipV="1">
            <a:off x="661882" y="4433965"/>
            <a:ext cx="59070" cy="7296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6" name="0614 Connector"/>
          <p:cNvCxnSpPr/>
          <p:nvPr/>
        </p:nvCxnSpPr>
        <p:spPr>
          <a:xfrm>
            <a:off x="912063" y="4423541"/>
            <a:ext cx="0" cy="9034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7" name="0615 Connector"/>
          <p:cNvCxnSpPr/>
          <p:nvPr/>
        </p:nvCxnSpPr>
        <p:spPr>
          <a:xfrm flipH="1">
            <a:off x="825194" y="4423541"/>
            <a:ext cx="86868"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48" name="0616 Text: Offline recovery"/>
          <p:cNvSpPr txBox="1"/>
          <p:nvPr/>
        </p:nvSpPr>
        <p:spPr>
          <a:xfrm>
            <a:off x="1143000" y="4330700"/>
            <a:ext cx="4546600" cy="521207"/>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2D3D"/>
                </a:solidFill>
                <a:effectLst/>
                <a:uLnTx/>
                <a:uFillTx/>
                <a:latin typeface="Arial"/>
                <a:ea typeface="+mn-ea"/>
                <a:cs typeface="+mn-cs"/>
              </a:rPr>
              <a:t>Offline recovery</a:t>
            </a:r>
          </a:p>
        </p:txBody>
      </p:sp>
      <p:sp>
        <p:nvSpPr>
          <p:cNvPr id="49" name="0617 Text: Retries keep their identities&#10;and order."/>
          <p:cNvSpPr txBox="1"/>
          <p:nvPr/>
        </p:nvSpPr>
        <p:spPr>
          <a:xfrm>
            <a:off x="660400" y="4978400"/>
            <a:ext cx="5029200"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Retries keep their identities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and order.</a:t>
            </a:r>
          </a:p>
        </p:txBody>
      </p:sp>
      <p:sp>
        <p:nvSpPr>
          <p:cNvPr id="50" name="0618 Panel"/>
          <p:cNvSpPr/>
          <p:nvPr/>
        </p:nvSpPr>
        <p:spPr>
          <a:xfrm>
            <a:off x="6273800" y="4013200"/>
            <a:ext cx="5461000" cy="1816100"/>
          </a:xfrm>
          <a:prstGeom prst="roundRect">
            <a:avLst>
              <a:gd name="adj" fmla="val 6770"/>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0619 clipboard icon"/>
          <p:cNvSpPr/>
          <p:nvPr/>
        </p:nvSpPr>
        <p:spPr>
          <a:xfrm>
            <a:off x="6497299" y="4256754"/>
            <a:ext cx="222382" cy="277977"/>
          </a:xfrm>
          <a:prstGeom prst="roundRect">
            <a:avLst>
              <a:gd name="adj" fmla="val 24671"/>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0620 clipboard icon"/>
          <p:cNvSpPr/>
          <p:nvPr/>
        </p:nvSpPr>
        <p:spPr>
          <a:xfrm>
            <a:off x="6556368" y="4215057"/>
            <a:ext cx="107716" cy="72969"/>
          </a:xfrm>
          <a:prstGeom prst="roundRect">
            <a:avLst>
              <a:gd name="adj" fmla="val 25000"/>
            </a:avLst>
          </a:prstGeom>
          <a:solidFill>
            <a:srgbClr val="F5F2EB"/>
          </a:solid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 name="0621 Connector"/>
          <p:cNvCxnSpPr/>
          <p:nvPr/>
        </p:nvCxnSpPr>
        <p:spPr>
          <a:xfrm>
            <a:off x="6549419" y="4350572"/>
            <a:ext cx="11814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4" name="0622 Connector"/>
          <p:cNvCxnSpPr/>
          <p:nvPr/>
        </p:nvCxnSpPr>
        <p:spPr>
          <a:xfrm>
            <a:off x="6549419" y="4413116"/>
            <a:ext cx="11814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5" name="0623 Connector"/>
          <p:cNvCxnSpPr/>
          <p:nvPr/>
        </p:nvCxnSpPr>
        <p:spPr>
          <a:xfrm>
            <a:off x="6549419" y="4475661"/>
            <a:ext cx="79919"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56" name="0624 Text: Snapshot-first handoff"/>
          <p:cNvSpPr txBox="1"/>
          <p:nvPr/>
        </p:nvSpPr>
        <p:spPr>
          <a:xfrm>
            <a:off x="6959600" y="4330700"/>
            <a:ext cx="4546600" cy="521207"/>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2D3D"/>
                </a:solidFill>
                <a:effectLst/>
                <a:uLnTx/>
                <a:uFillTx/>
                <a:latin typeface="Arial"/>
                <a:ea typeface="+mn-ea"/>
                <a:cs typeface="+mn-cs"/>
              </a:rPr>
              <a:t>Snapshot-first handoff</a:t>
            </a:r>
          </a:p>
        </p:txBody>
      </p:sp>
      <p:sp>
        <p:nvSpPr>
          <p:cNvPr id="57" name="0625 Text: The summary and timeline&#10;use the same evidence."/>
          <p:cNvSpPr txBox="1"/>
          <p:nvPr/>
        </p:nvSpPr>
        <p:spPr>
          <a:xfrm>
            <a:off x="6477000" y="4978400"/>
            <a:ext cx="5029200"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The summary and timeline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520" b="0" i="0" u="none" strike="noStrike" kern="1200" cap="none" spc="0" normalizeH="0" baseline="0" noProof="0">
                <a:ln>
                  <a:noFill/>
                </a:ln>
                <a:solidFill>
                  <a:srgbClr val="657187"/>
                </a:solidFill>
                <a:effectLst/>
                <a:uLnTx/>
                <a:uFillTx/>
                <a:latin typeface="Arial"/>
                <a:ea typeface="+mn-ea"/>
                <a:cs typeface="+mn-cs"/>
              </a:rPr>
              <a:t>use the same evidence.</a:t>
            </a:r>
          </a:p>
        </p:txBody>
      </p:sp>
      <p:sp>
        <p:nvSpPr>
          <p:cNvPr id="58" name="0626 Text: Synthetic local checks. Live-service, browser, a"/>
          <p:cNvSpPr txBox="1"/>
          <p:nvPr/>
        </p:nvSpPr>
        <p:spPr>
          <a:xfrm>
            <a:off x="530352" y="6099048"/>
            <a:ext cx="11146536" cy="2286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60" b="0" i="0" u="none" strike="noStrike" kern="1200" cap="none" spc="0" normalizeH="0" baseline="0" noProof="0">
                <a:ln>
                  <a:noFill/>
                </a:ln>
                <a:solidFill>
                  <a:srgbClr val="657187"/>
                </a:solidFill>
                <a:effectLst/>
                <a:uLnTx/>
                <a:uFillTx/>
                <a:latin typeface="Arial"/>
                <a:ea typeface="+mn-ea"/>
                <a:cs typeface="+mn-cs"/>
              </a:rPr>
              <a:t>Synthetic local checks. Live-service, browser, and clinical validation are separate steps.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2B3B"/>
        </a:solidFill>
        <a:effectLst/>
      </p:bgPr>
    </p:bg>
    <p:spTree>
      <p:nvGrpSpPr>
        <p:cNvPr id="1" name=""/>
        <p:cNvGrpSpPr/>
        <p:nvPr/>
      </p:nvGrpSpPr>
      <p:grpSpPr>
        <a:xfrm>
          <a:off x="0" y="0"/>
          <a:ext cx="0" cy="0"/>
          <a:chOff x="0" y="0"/>
          <a:chExt cx="0" cy="0"/>
        </a:xfrm>
      </p:grpSpPr>
      <p:sp>
        <p:nvSpPr>
          <p:cNvPr id="2" name="0670 Section accent"/>
          <p:cNvSpPr/>
          <p:nvPr/>
        </p:nvSpPr>
        <p:spPr>
          <a:xfrm>
            <a:off x="457200" y="310896"/>
            <a:ext cx="36576" cy="164592"/>
          </a:xfrm>
          <a:prstGeom prst="rect">
            <a:avLst/>
          </a:prstGeom>
          <a:solidFill>
            <a:srgbClr val="93B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671 Text: FIRST AID COPILOT"/>
          <p:cNvSpPr txBox="1"/>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BCCAD7"/>
                </a:solidFill>
                <a:effectLst/>
                <a:uLnTx/>
                <a:uFillTx/>
                <a:latin typeface="Arial"/>
                <a:ea typeface="+mn-ea"/>
                <a:cs typeface="+mn-cs"/>
              </a:rPr>
              <a:t>FIRST AID COPILOT</a:t>
            </a:r>
          </a:p>
        </p:txBody>
      </p:sp>
      <p:cxnSp>
        <p:nvCxnSpPr>
          <p:cNvPr id="4" name="0672 Connector"/>
          <p:cNvCxnSpPr/>
          <p:nvPr/>
        </p:nvCxnSpPr>
        <p:spPr>
          <a:xfrm>
            <a:off x="457200" y="6446520"/>
            <a:ext cx="11283696" cy="0"/>
          </a:xfrm>
          <a:prstGeom prst="line">
            <a:avLst/>
          </a:prstGeom>
          <a:ln w="8255">
            <a:solidFill>
              <a:srgbClr val="425567"/>
            </a:solidFill>
          </a:ln>
          <a:effectLst/>
        </p:spPr>
        <p:style>
          <a:lnRef idx="2">
            <a:schemeClr val="accent1"/>
          </a:lnRef>
          <a:fillRef idx="0">
            <a:schemeClr val="accent1"/>
          </a:fillRef>
          <a:effectRef idx="0">
            <a:schemeClr val="accent1"/>
          </a:effectRef>
          <a:fontRef idx="minor">
            <a:schemeClr val="tx1"/>
          </a:fontRef>
        </p:style>
      </p:cxnSp>
      <p:sp>
        <p:nvSpPr>
          <p:cNvPr id="5" name="0673 Text: FIRST AID COPILOT"/>
          <p:cNvSpPr txBox="1"/>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BCCAD7"/>
                </a:solidFill>
                <a:effectLst/>
                <a:uLnTx/>
                <a:uFillTx/>
                <a:latin typeface="Arial"/>
                <a:ea typeface="+mn-ea"/>
                <a:cs typeface="+mn-cs"/>
              </a:rPr>
              <a:t>FIRST AID COPILOT</a:t>
            </a:r>
          </a:p>
        </p:txBody>
      </p:sp>
      <p:sp>
        <p:nvSpPr>
          <p:cNvPr id="6" name="0674 Text: The dispatcher leads. The Agent assists."/>
          <p:cNvSpPr txBox="1"/>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BCCAD7"/>
                </a:solidFill>
                <a:effectLst/>
                <a:uLnTx/>
                <a:uFillTx/>
                <a:latin typeface="Arial"/>
                <a:ea typeface="+mn-ea"/>
                <a:cs typeface="+mn-cs"/>
              </a:rPr>
              <a:t>The dispatcher leads. The Agent assists.</a:t>
            </a:r>
          </a:p>
        </p:txBody>
      </p:sp>
      <p:sp>
        <p:nvSpPr>
          <p:cNvPr id="7" name="0675 Text: Keep everyone&#10;on the same page."/>
          <p:cNvSpPr txBox="1"/>
          <p:nvPr/>
        </p:nvSpPr>
        <p:spPr>
          <a:xfrm>
            <a:off x="594360" y="1069848"/>
            <a:ext cx="9692640" cy="1463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4500" b="1" i="0" u="none" strike="noStrike" kern="1200" cap="none" spc="0" normalizeH="0" baseline="0" noProof="0">
                <a:ln>
                  <a:noFill/>
                </a:ln>
                <a:solidFill>
                  <a:srgbClr val="FFFFFF"/>
                </a:solidFill>
                <a:effectLst/>
                <a:uLnTx/>
                <a:uFillTx/>
                <a:latin typeface="Arial"/>
                <a:ea typeface="+mn-ea"/>
                <a:cs typeface="+mn-cs"/>
              </a:rPr>
              <a:t>Keep everyone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4500" b="1" i="0" u="none" strike="noStrike" kern="1200" cap="none" spc="0" normalizeH="0" baseline="0" noProof="0">
                <a:ln>
                  <a:noFill/>
                </a:ln>
                <a:solidFill>
                  <a:srgbClr val="FFFFFF"/>
                </a:solidFill>
                <a:effectLst/>
                <a:uLnTx/>
                <a:uFillTx/>
                <a:latin typeface="Arial"/>
                <a:ea typeface="+mn-ea"/>
                <a:cs typeface="+mn-cs"/>
              </a:rPr>
              <a:t>on the same page.</a:t>
            </a:r>
          </a:p>
        </p:txBody>
      </p:sp>
      <p:sp>
        <p:nvSpPr>
          <p:cNvPr id="8" name="0676 phone icon"/>
          <p:cNvSpPr/>
          <p:nvPr/>
        </p:nvSpPr>
        <p:spPr>
          <a:xfrm>
            <a:off x="729234" y="3260384"/>
            <a:ext cx="178308" cy="320954"/>
          </a:xfrm>
          <a:prstGeom prst="roundRect">
            <a:avLst>
              <a:gd name="adj" fmla="val 25000"/>
            </a:avLst>
          </a:prstGeom>
          <a:noFill/>
          <a:ln w="20320">
            <a:solidFill>
              <a:srgbClr val="C5D8F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 name="0677 Connector"/>
          <p:cNvCxnSpPr/>
          <p:nvPr/>
        </p:nvCxnSpPr>
        <p:spPr>
          <a:xfrm>
            <a:off x="782726" y="3303178"/>
            <a:ext cx="71323" cy="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10" name="0678 Connector"/>
          <p:cNvCxnSpPr/>
          <p:nvPr/>
        </p:nvCxnSpPr>
        <p:spPr>
          <a:xfrm>
            <a:off x="793424" y="3538545"/>
            <a:ext cx="49927" cy="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sp>
        <p:nvSpPr>
          <p:cNvPr id="11" name="0679 Text: Information for the call."/>
          <p:cNvSpPr txBox="1"/>
          <p:nvPr/>
        </p:nvSpPr>
        <p:spPr>
          <a:xfrm>
            <a:off x="1271016" y="3264408"/>
            <a:ext cx="950976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300" b="0" i="0" u="none" strike="noStrike" kern="1200" cap="none" spc="0" normalizeH="0" baseline="0" noProof="0">
                <a:ln>
                  <a:noFill/>
                </a:ln>
                <a:solidFill>
                  <a:srgbClr val="FFFFFF"/>
                </a:solidFill>
                <a:effectLst/>
                <a:uLnTx/>
                <a:uFillTx/>
                <a:latin typeface="Arial"/>
                <a:ea typeface="+mn-ea"/>
                <a:cs typeface="+mn-cs"/>
              </a:rPr>
              <a:t>Information for the call.</a:t>
            </a:r>
          </a:p>
        </p:txBody>
      </p:sp>
      <p:sp>
        <p:nvSpPr>
          <p:cNvPr id="12" name="0680 Circle"/>
          <p:cNvSpPr/>
          <p:nvPr/>
        </p:nvSpPr>
        <p:spPr>
          <a:xfrm>
            <a:off x="647212" y="4166829"/>
            <a:ext cx="85587" cy="85587"/>
          </a:xfrm>
          <a:prstGeom prst="ellipse">
            <a:avLst/>
          </a:prstGeom>
          <a:noFill/>
          <a:ln w="20320">
            <a:solidFill>
              <a:srgbClr val="C5D8F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0681 Circle"/>
          <p:cNvSpPr/>
          <p:nvPr/>
        </p:nvSpPr>
        <p:spPr>
          <a:xfrm>
            <a:off x="903975" y="3920764"/>
            <a:ext cx="85587" cy="85587"/>
          </a:xfrm>
          <a:prstGeom prst="ellipse">
            <a:avLst/>
          </a:prstGeom>
          <a:noFill/>
          <a:ln w="20320">
            <a:solidFill>
              <a:srgbClr val="C5D8F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 name="0682 Connector"/>
          <p:cNvCxnSpPr/>
          <p:nvPr/>
        </p:nvCxnSpPr>
        <p:spPr>
          <a:xfrm>
            <a:off x="732800" y="4209623"/>
            <a:ext cx="96286" cy="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15" name="0683 Connector"/>
          <p:cNvCxnSpPr/>
          <p:nvPr/>
        </p:nvCxnSpPr>
        <p:spPr>
          <a:xfrm flipV="1">
            <a:off x="829086" y="4156130"/>
            <a:ext cx="49926" cy="53493"/>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16" name="0684 Connector"/>
          <p:cNvCxnSpPr/>
          <p:nvPr/>
        </p:nvCxnSpPr>
        <p:spPr>
          <a:xfrm flipV="1">
            <a:off x="879012" y="4102638"/>
            <a:ext cx="0" cy="53492"/>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17" name="0685 Connector"/>
          <p:cNvCxnSpPr/>
          <p:nvPr/>
        </p:nvCxnSpPr>
        <p:spPr>
          <a:xfrm flipH="1" flipV="1">
            <a:off x="786292" y="4056278"/>
            <a:ext cx="92720" cy="4636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18" name="0686 Connector"/>
          <p:cNvCxnSpPr/>
          <p:nvPr/>
        </p:nvCxnSpPr>
        <p:spPr>
          <a:xfrm flipV="1">
            <a:off x="786292" y="3999219"/>
            <a:ext cx="0" cy="57059"/>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19" name="0687 Connector"/>
          <p:cNvCxnSpPr/>
          <p:nvPr/>
        </p:nvCxnSpPr>
        <p:spPr>
          <a:xfrm flipV="1">
            <a:off x="786292" y="3963558"/>
            <a:ext cx="49926" cy="35661"/>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20" name="0688 Connector"/>
          <p:cNvCxnSpPr/>
          <p:nvPr/>
        </p:nvCxnSpPr>
        <p:spPr>
          <a:xfrm>
            <a:off x="836218" y="3963558"/>
            <a:ext cx="74890" cy="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sp>
        <p:nvSpPr>
          <p:cNvPr id="21" name="0689 Text: Follow-through for the AED task."/>
          <p:cNvSpPr txBox="1"/>
          <p:nvPr/>
        </p:nvSpPr>
        <p:spPr>
          <a:xfrm>
            <a:off x="1271016" y="3931919"/>
            <a:ext cx="950976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300" b="0" i="0" u="none" strike="noStrike" kern="1200" cap="none" spc="0" normalizeH="0" baseline="0" noProof="0">
                <a:ln>
                  <a:noFill/>
                </a:ln>
                <a:solidFill>
                  <a:srgbClr val="FFFFFF"/>
                </a:solidFill>
                <a:effectLst/>
                <a:uLnTx/>
                <a:uFillTx/>
                <a:latin typeface="Arial"/>
                <a:ea typeface="+mn-ea"/>
                <a:cs typeface="+mn-cs"/>
              </a:rPr>
              <a:t>Follow-through for the AED task.</a:t>
            </a:r>
          </a:p>
        </p:txBody>
      </p:sp>
      <p:sp>
        <p:nvSpPr>
          <p:cNvPr id="22" name="0690 clipboard icon"/>
          <p:cNvSpPr/>
          <p:nvPr/>
        </p:nvSpPr>
        <p:spPr>
          <a:xfrm>
            <a:off x="707837" y="4638202"/>
            <a:ext cx="228234" cy="285292"/>
          </a:xfrm>
          <a:prstGeom prst="roundRect">
            <a:avLst>
              <a:gd name="adj" fmla="val 24038"/>
            </a:avLst>
          </a:prstGeom>
          <a:noFill/>
          <a:ln w="20320">
            <a:solidFill>
              <a:srgbClr val="C5D8F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0691 clipboard icon"/>
          <p:cNvSpPr/>
          <p:nvPr/>
        </p:nvSpPr>
        <p:spPr>
          <a:xfrm>
            <a:off x="768461" y="4595408"/>
            <a:ext cx="110550" cy="74889"/>
          </a:xfrm>
          <a:prstGeom prst="roundRect">
            <a:avLst>
              <a:gd name="adj" fmla="val 25000"/>
            </a:avLst>
          </a:prstGeom>
          <a:solidFill>
            <a:srgbClr val="F5F2EB"/>
          </a:solidFill>
          <a:ln w="20320">
            <a:solidFill>
              <a:srgbClr val="C5D8F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4" name="0692 Connector"/>
          <p:cNvCxnSpPr/>
          <p:nvPr/>
        </p:nvCxnSpPr>
        <p:spPr>
          <a:xfrm>
            <a:off x="761329" y="4734488"/>
            <a:ext cx="121249" cy="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25" name="0693 Connector"/>
          <p:cNvCxnSpPr/>
          <p:nvPr/>
        </p:nvCxnSpPr>
        <p:spPr>
          <a:xfrm>
            <a:off x="761329" y="4798679"/>
            <a:ext cx="121249" cy="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cxnSp>
        <p:nvCxnSpPr>
          <p:cNvPr id="26" name="0694 Connector"/>
          <p:cNvCxnSpPr/>
          <p:nvPr/>
        </p:nvCxnSpPr>
        <p:spPr>
          <a:xfrm>
            <a:off x="761329" y="4862870"/>
            <a:ext cx="82022" cy="0"/>
          </a:xfrm>
          <a:prstGeom prst="line">
            <a:avLst/>
          </a:prstGeom>
          <a:ln w="21590">
            <a:solidFill>
              <a:srgbClr val="C5D8F4"/>
            </a:solidFill>
          </a:ln>
          <a:effectLst/>
        </p:spPr>
        <p:style>
          <a:lnRef idx="2">
            <a:schemeClr val="accent1"/>
          </a:lnRef>
          <a:fillRef idx="0">
            <a:schemeClr val="accent1"/>
          </a:fillRef>
          <a:effectRef idx="0">
            <a:schemeClr val="accent1"/>
          </a:effectRef>
          <a:fontRef idx="minor">
            <a:schemeClr val="tx1"/>
          </a:fontRef>
        </p:style>
      </p:cxnSp>
      <p:sp>
        <p:nvSpPr>
          <p:cNvPr id="27" name="0695 Text: A record for the handoff."/>
          <p:cNvSpPr txBox="1"/>
          <p:nvPr/>
        </p:nvSpPr>
        <p:spPr>
          <a:xfrm>
            <a:off x="1271016" y="4599431"/>
            <a:ext cx="950976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300" b="0" i="0" u="none" strike="noStrike" kern="1200" cap="none" spc="0" normalizeH="0" baseline="0" noProof="0">
                <a:ln>
                  <a:noFill/>
                </a:ln>
                <a:solidFill>
                  <a:srgbClr val="FFFFFF"/>
                </a:solidFill>
                <a:effectLst/>
                <a:uLnTx/>
                <a:uFillTx/>
                <a:latin typeface="Arial"/>
                <a:ea typeface="+mn-ea"/>
                <a:cs typeface="+mn-cs"/>
              </a:rPr>
              <a:t>A record for the handoff.</a:t>
            </a:r>
          </a:p>
        </p:txBody>
      </p:sp>
      <p:cxnSp>
        <p:nvCxnSpPr>
          <p:cNvPr id="28" name="0696 Connector"/>
          <p:cNvCxnSpPr/>
          <p:nvPr/>
        </p:nvCxnSpPr>
        <p:spPr>
          <a:xfrm>
            <a:off x="612648" y="5513832"/>
            <a:ext cx="10917936" cy="0"/>
          </a:xfrm>
          <a:prstGeom prst="line">
            <a:avLst/>
          </a:prstGeom>
          <a:ln w="12700">
            <a:solidFill>
              <a:srgbClr val="425567"/>
            </a:solidFill>
          </a:ln>
          <a:effectLst/>
        </p:spPr>
        <p:style>
          <a:lnRef idx="2">
            <a:schemeClr val="accent1"/>
          </a:lnRef>
          <a:fillRef idx="0">
            <a:schemeClr val="accent1"/>
          </a:fillRef>
          <a:effectRef idx="0">
            <a:schemeClr val="accent1"/>
          </a:effectRef>
          <a:fontRef idx="minor">
            <a:schemeClr val="tx1"/>
          </a:fontRef>
        </p:style>
      </p:cxnSp>
      <p:sp>
        <p:nvSpPr>
          <p:cNvPr id="29" name="0697 Text: The dispatcher leads. The Agent assists."/>
          <p:cNvSpPr txBox="1"/>
          <p:nvPr/>
        </p:nvSpPr>
        <p:spPr>
          <a:xfrm>
            <a:off x="621792" y="5751576"/>
            <a:ext cx="10789920" cy="3931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a:ea typeface="+mn-ea"/>
                <a:cs typeface="+mn-cs"/>
              </a:rPr>
              <a:t>The dispatcher leads. The Agent assists.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627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628 Text: WHAT COMES NEXT"/>
          <p:cNvSpPr txBox="1">
            <a:spLocks/>
          </p:cNvSpPr>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WHAT COMES NEXT</a:t>
            </a:r>
          </a:p>
        </p:txBody>
      </p:sp>
      <p:sp>
        <p:nvSpPr>
          <p:cNvPr id="4" name="0629 Text: Next, test the workflow with the people who will"/>
          <p:cNvSpPr txBox="1">
            <a:spLocks/>
          </p:cNvSpPr>
          <p:nvPr/>
        </p:nvSpPr>
        <p:spPr>
          <a:xfrm>
            <a:off x="457200" y="758952"/>
            <a:ext cx="11265408" cy="476925"/>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Test the workflow with the people who will use it.</a:t>
            </a:r>
          </a:p>
        </p:txBody>
      </p:sp>
      <p:sp>
        <p:nvSpPr>
          <p:cNvPr id="5" name="0630 Text: Measure the quality of coordination before claim"/>
          <p:cNvSpPr txBox="1">
            <a:spLocks/>
          </p:cNvSpPr>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Measure the quality of coordination before claiming an impact.</a:t>
            </a:r>
          </a:p>
        </p:txBody>
      </p:sp>
      <p:cxnSp>
        <p:nvCxnSpPr>
          <p:cNvPr id="6" name="0631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632 Text: FIRST AID COPILOT"/>
          <p:cNvSpPr txBox="1">
            <a:spLocks/>
          </p:cNvSpPr>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633 Text: The dispatcher leads. The Agent assists."/>
          <p:cNvSpPr txBox="1">
            <a:spLocks/>
          </p:cNvSpPr>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634 Panel"/>
          <p:cNvSpPr/>
          <p:nvPr/>
        </p:nvSpPr>
        <p:spPr>
          <a:xfrm>
            <a:off x="457200" y="2066543"/>
            <a:ext cx="3621024" cy="2730500"/>
          </a:xfrm>
          <a:prstGeom prst="roundRect">
            <a:avLst>
              <a:gd name="adj" fmla="val 5303"/>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635 clipboard icon"/>
          <p:cNvSpPr/>
          <p:nvPr/>
        </p:nvSpPr>
        <p:spPr>
          <a:xfrm>
            <a:off x="732617" y="2347081"/>
            <a:ext cx="280903" cy="351129"/>
          </a:xfrm>
          <a:prstGeom prst="roundRect">
            <a:avLst>
              <a:gd name="adj" fmla="val 19531"/>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0636 clipboard icon"/>
          <p:cNvSpPr/>
          <p:nvPr/>
        </p:nvSpPr>
        <p:spPr>
          <a:xfrm>
            <a:off x="807232" y="2294412"/>
            <a:ext cx="136062" cy="92171"/>
          </a:xfrm>
          <a:prstGeom prst="roundRect">
            <a:avLst>
              <a:gd name="adj" fmla="val 25000"/>
            </a:avLst>
          </a:prstGeom>
          <a:solidFill>
            <a:srgbClr val="F5F2EB"/>
          </a:solid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 name="0637 Connector"/>
          <p:cNvCxnSpPr/>
          <p:nvPr/>
        </p:nvCxnSpPr>
        <p:spPr>
          <a:xfrm>
            <a:off x="798454" y="2465588"/>
            <a:ext cx="14923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3" name="0638 Connector"/>
          <p:cNvCxnSpPr/>
          <p:nvPr/>
        </p:nvCxnSpPr>
        <p:spPr>
          <a:xfrm>
            <a:off x="798454" y="2544592"/>
            <a:ext cx="14923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4" name="0639 Connector"/>
          <p:cNvCxnSpPr/>
          <p:nvPr/>
        </p:nvCxnSpPr>
        <p:spPr>
          <a:xfrm>
            <a:off x="798454" y="2623596"/>
            <a:ext cx="100949"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15" name="0640 Text: Information retained"/>
          <p:cNvSpPr txBox="1"/>
          <p:nvPr/>
        </p:nvSpPr>
        <p:spPr>
          <a:xfrm>
            <a:off x="658368" y="2962656"/>
            <a:ext cx="3218688" cy="53035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100" b="1" i="0" u="none" strike="noStrike" kern="1200" cap="none" spc="0" normalizeH="0" baseline="0" noProof="0">
                <a:ln>
                  <a:noFill/>
                </a:ln>
                <a:solidFill>
                  <a:srgbClr val="1E2D3D"/>
                </a:solidFill>
                <a:effectLst/>
                <a:uLnTx/>
                <a:uFillTx/>
                <a:latin typeface="Arial"/>
                <a:ea typeface="+mn-ea"/>
                <a:cs typeface="+mn-cs"/>
              </a:rPr>
              <a:t>Information retained</a:t>
            </a:r>
          </a:p>
        </p:txBody>
      </p:sp>
      <p:sp>
        <p:nvSpPr>
          <p:cNvPr id="16" name="0641 Text: Which required details&#10;were captured correctly?"/>
          <p:cNvSpPr txBox="1"/>
          <p:nvPr/>
        </p:nvSpPr>
        <p:spPr>
          <a:xfrm>
            <a:off x="667512" y="3675887"/>
            <a:ext cx="3163824"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30" b="0" i="0" u="none" strike="noStrike" kern="1200" cap="none" spc="0" normalizeH="0" baseline="0" noProof="0">
                <a:ln>
                  <a:noFill/>
                </a:ln>
                <a:solidFill>
                  <a:srgbClr val="657187"/>
                </a:solidFill>
                <a:effectLst/>
                <a:uLnTx/>
                <a:uFillTx/>
                <a:latin typeface="Arial"/>
                <a:ea typeface="+mn-ea"/>
                <a:cs typeface="+mn-cs"/>
              </a:rPr>
              <a:t>Which required details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30" b="0" i="0" u="none" strike="noStrike" kern="1200" cap="none" spc="0" normalizeH="0" baseline="0" noProof="0">
                <a:ln>
                  <a:noFill/>
                </a:ln>
                <a:solidFill>
                  <a:srgbClr val="657187"/>
                </a:solidFill>
                <a:effectLst/>
                <a:uLnTx/>
                <a:uFillTx/>
                <a:latin typeface="Arial"/>
                <a:ea typeface="+mn-ea"/>
                <a:cs typeface="+mn-cs"/>
              </a:rPr>
              <a:t>were captured correctly?</a:t>
            </a:r>
          </a:p>
        </p:txBody>
      </p:sp>
      <p:sp>
        <p:nvSpPr>
          <p:cNvPr id="17" name="0642 Panel"/>
          <p:cNvSpPr/>
          <p:nvPr/>
        </p:nvSpPr>
        <p:spPr>
          <a:xfrm>
            <a:off x="4288536" y="2066543"/>
            <a:ext cx="3621024" cy="2730500"/>
          </a:xfrm>
          <a:prstGeom prst="roundRect">
            <a:avLst>
              <a:gd name="adj" fmla="val 5303"/>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8" name="0643 Connector"/>
          <p:cNvCxnSpPr/>
          <p:nvPr/>
        </p:nvCxnSpPr>
        <p:spPr>
          <a:xfrm flipV="1">
            <a:off x="4546396" y="2333914"/>
            <a:ext cx="96561" cy="10095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9" name="0644 Connector"/>
          <p:cNvCxnSpPr/>
          <p:nvPr/>
        </p:nvCxnSpPr>
        <p:spPr>
          <a:xfrm>
            <a:off x="4642957" y="2333914"/>
            <a:ext cx="144841"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0" name="0645 Connector"/>
          <p:cNvCxnSpPr/>
          <p:nvPr/>
        </p:nvCxnSpPr>
        <p:spPr>
          <a:xfrm>
            <a:off x="4787798" y="2333914"/>
            <a:ext cx="74615" cy="8778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1" name="0646 Connector"/>
          <p:cNvCxnSpPr/>
          <p:nvPr/>
        </p:nvCxnSpPr>
        <p:spPr>
          <a:xfrm flipV="1">
            <a:off x="4546396" y="2320747"/>
            <a:ext cx="0" cy="11411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2" name="0647 Connector"/>
          <p:cNvCxnSpPr/>
          <p:nvPr/>
        </p:nvCxnSpPr>
        <p:spPr>
          <a:xfrm>
            <a:off x="4546396" y="2434864"/>
            <a:ext cx="109728"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3" name="0648 Connector"/>
          <p:cNvCxnSpPr/>
          <p:nvPr/>
        </p:nvCxnSpPr>
        <p:spPr>
          <a:xfrm flipH="1">
            <a:off x="4761463" y="2557759"/>
            <a:ext cx="92172" cy="10533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4" name="0649 Connector"/>
          <p:cNvCxnSpPr/>
          <p:nvPr/>
        </p:nvCxnSpPr>
        <p:spPr>
          <a:xfrm flipH="1">
            <a:off x="4612233" y="2663098"/>
            <a:ext cx="14923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5" name="0650 Connector"/>
          <p:cNvCxnSpPr/>
          <p:nvPr/>
        </p:nvCxnSpPr>
        <p:spPr>
          <a:xfrm flipH="1" flipV="1">
            <a:off x="4537618" y="2570927"/>
            <a:ext cx="74615" cy="9217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6" name="0651 Connector"/>
          <p:cNvCxnSpPr/>
          <p:nvPr/>
        </p:nvCxnSpPr>
        <p:spPr>
          <a:xfrm>
            <a:off x="4853635" y="2557759"/>
            <a:ext cx="0" cy="11411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7" name="0652 Connector"/>
          <p:cNvCxnSpPr/>
          <p:nvPr/>
        </p:nvCxnSpPr>
        <p:spPr>
          <a:xfrm flipH="1">
            <a:off x="4743907" y="2557759"/>
            <a:ext cx="109728"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28" name="0653 Text: Task follow-through"/>
          <p:cNvSpPr txBox="1"/>
          <p:nvPr/>
        </p:nvSpPr>
        <p:spPr>
          <a:xfrm>
            <a:off x="4489704" y="2962656"/>
            <a:ext cx="3218688" cy="53035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100" b="1" i="0" u="none" strike="noStrike" kern="1200" cap="none" spc="0" normalizeH="0" baseline="0" noProof="0">
                <a:ln>
                  <a:noFill/>
                </a:ln>
                <a:solidFill>
                  <a:srgbClr val="1E2D3D"/>
                </a:solidFill>
                <a:effectLst/>
                <a:uLnTx/>
                <a:uFillTx/>
                <a:latin typeface="Arial"/>
                <a:ea typeface="+mn-ea"/>
                <a:cs typeface="+mn-cs"/>
              </a:rPr>
              <a:t>Task follow-through</a:t>
            </a:r>
          </a:p>
        </p:txBody>
      </p:sp>
      <p:sp>
        <p:nvSpPr>
          <p:cNvPr id="29" name="0654 Text: Does a reassigned task&#10;reach a reported outcome?"/>
          <p:cNvSpPr txBox="1"/>
          <p:nvPr/>
        </p:nvSpPr>
        <p:spPr>
          <a:xfrm>
            <a:off x="4498848" y="3675887"/>
            <a:ext cx="3163824"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30" b="0" i="0" u="none" strike="noStrike" kern="1200" cap="none" spc="0" normalizeH="0" baseline="0" noProof="0">
                <a:ln>
                  <a:noFill/>
                </a:ln>
                <a:solidFill>
                  <a:srgbClr val="657187"/>
                </a:solidFill>
                <a:effectLst/>
                <a:uLnTx/>
                <a:uFillTx/>
                <a:latin typeface="Arial"/>
                <a:ea typeface="+mn-ea"/>
                <a:cs typeface="+mn-cs"/>
              </a:rPr>
              <a:t>Does a reassigned task</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30" b="0" i="0" u="none" strike="noStrike" kern="1200" cap="none" spc="0" normalizeH="0" baseline="0" noProof="0">
                <a:ln>
                  <a:noFill/>
                </a:ln>
                <a:solidFill>
                  <a:srgbClr val="657187"/>
                </a:solidFill>
                <a:effectLst/>
                <a:uLnTx/>
                <a:uFillTx/>
                <a:latin typeface="Arial"/>
                <a:ea typeface="+mn-ea"/>
                <a:cs typeface="+mn-cs"/>
              </a:rPr>
              <a:t>reach a reported outcome?</a:t>
            </a:r>
          </a:p>
        </p:txBody>
      </p:sp>
      <p:sp>
        <p:nvSpPr>
          <p:cNvPr id="30" name="0655 Panel"/>
          <p:cNvSpPr/>
          <p:nvPr/>
        </p:nvSpPr>
        <p:spPr>
          <a:xfrm>
            <a:off x="8119872" y="2066543"/>
            <a:ext cx="3621024" cy="2730500"/>
          </a:xfrm>
          <a:prstGeom prst="roundRect">
            <a:avLst>
              <a:gd name="adj" fmla="val 5303"/>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0656 Circle"/>
          <p:cNvSpPr/>
          <p:nvPr/>
        </p:nvSpPr>
        <p:spPr>
          <a:xfrm>
            <a:off x="8333841" y="2298801"/>
            <a:ext cx="395020" cy="395020"/>
          </a:xfrm>
          <a:prstGeom prst="ellipse">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2" name="0657 Connector"/>
          <p:cNvCxnSpPr/>
          <p:nvPr/>
        </p:nvCxnSpPr>
        <p:spPr>
          <a:xfrm>
            <a:off x="8531352" y="2369027"/>
            <a:ext cx="0" cy="13606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3" name="0658 Connector"/>
          <p:cNvCxnSpPr/>
          <p:nvPr/>
        </p:nvCxnSpPr>
        <p:spPr>
          <a:xfrm>
            <a:off x="8531352" y="2505090"/>
            <a:ext cx="105338" cy="7461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4" name="0659 Text: Handoff clarity"/>
          <p:cNvSpPr txBox="1"/>
          <p:nvPr/>
        </p:nvSpPr>
        <p:spPr>
          <a:xfrm>
            <a:off x="8321040" y="2962656"/>
            <a:ext cx="3218688" cy="53035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2100" b="1" i="0" u="none" strike="noStrike" kern="1200" cap="none" spc="0" normalizeH="0" baseline="0" noProof="0">
                <a:ln>
                  <a:noFill/>
                </a:ln>
                <a:solidFill>
                  <a:srgbClr val="1E2D3D"/>
                </a:solidFill>
                <a:effectLst/>
                <a:uLnTx/>
                <a:uFillTx/>
                <a:latin typeface="Arial"/>
                <a:ea typeface="+mn-ea"/>
                <a:cs typeface="+mn-cs"/>
              </a:rPr>
              <a:t>Handoff clarity</a:t>
            </a:r>
          </a:p>
        </p:txBody>
      </p:sp>
      <p:sp>
        <p:nvSpPr>
          <p:cNvPr id="35" name="0660 Text: How quickly can the next&#10;person understand the s"/>
          <p:cNvSpPr txBox="1"/>
          <p:nvPr/>
        </p:nvSpPr>
        <p:spPr>
          <a:xfrm>
            <a:off x="8330184" y="3675887"/>
            <a:ext cx="3163824" cy="594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30" b="0" i="0" u="none" strike="noStrike" kern="1200" cap="none" spc="0" normalizeH="0" baseline="0" noProof="0">
                <a:ln>
                  <a:noFill/>
                </a:ln>
                <a:solidFill>
                  <a:srgbClr val="657187"/>
                </a:solidFill>
                <a:effectLst/>
                <a:uLnTx/>
                <a:uFillTx/>
                <a:latin typeface="Arial"/>
                <a:ea typeface="+mn-ea"/>
                <a:cs typeface="+mn-cs"/>
              </a:rPr>
              <a:t>How quickly can the next</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30" b="0" i="0" u="none" strike="noStrike" kern="1200" cap="none" spc="0" normalizeH="0" baseline="0" noProof="0">
                <a:ln>
                  <a:noFill/>
                </a:ln>
                <a:solidFill>
                  <a:srgbClr val="657187"/>
                </a:solidFill>
                <a:effectLst/>
                <a:uLnTx/>
                <a:uFillTx/>
                <a:latin typeface="Arial"/>
                <a:ea typeface="+mn-ea"/>
                <a:cs typeface="+mn-cs"/>
              </a:rPr>
              <a:t>person understand the scene?</a:t>
            </a:r>
          </a:p>
        </p:txBody>
      </p:sp>
      <p:sp>
        <p:nvSpPr>
          <p:cNvPr id="36" name="0661 Panel"/>
          <p:cNvSpPr/>
          <p:nvPr/>
        </p:nvSpPr>
        <p:spPr>
          <a:xfrm>
            <a:off x="457200" y="5308600"/>
            <a:ext cx="3619500" cy="660400"/>
          </a:xfrm>
          <a:prstGeom prst="roundRect">
            <a:avLst>
              <a:gd name="adj" fmla="val 16666"/>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0662 Text: Professional review"/>
          <p:cNvSpPr txBox="1"/>
          <p:nvPr/>
        </p:nvSpPr>
        <p:spPr>
          <a:xfrm>
            <a:off x="584200" y="5511800"/>
            <a:ext cx="3365500" cy="25603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55EEF"/>
                </a:solidFill>
                <a:effectLst/>
                <a:uLnTx/>
                <a:uFillTx/>
                <a:latin typeface="Arial"/>
                <a:ea typeface="+mn-ea"/>
                <a:cs typeface="+mn-cs"/>
              </a:rPr>
              <a:t>Professional review</a:t>
            </a:r>
          </a:p>
        </p:txBody>
      </p:sp>
      <p:cxnSp>
        <p:nvCxnSpPr>
          <p:cNvPr id="38" name="0663 Connector"/>
          <p:cNvCxnSpPr/>
          <p:nvPr/>
        </p:nvCxnSpPr>
        <p:spPr>
          <a:xfrm>
            <a:off x="4152900" y="5638800"/>
            <a:ext cx="279400" cy="0"/>
          </a:xfrm>
          <a:prstGeom prst="line">
            <a:avLst/>
          </a:prstGeom>
          <a:ln w="2032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0664 Panel"/>
          <p:cNvSpPr/>
          <p:nvPr/>
        </p:nvSpPr>
        <p:spPr>
          <a:xfrm>
            <a:off x="4292600" y="5308600"/>
            <a:ext cx="3619500" cy="660400"/>
          </a:xfrm>
          <a:prstGeom prst="roundRect">
            <a:avLst>
              <a:gd name="adj" fmla="val 16666"/>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0665 Text: Matched scenarios"/>
          <p:cNvSpPr txBox="1"/>
          <p:nvPr/>
        </p:nvSpPr>
        <p:spPr>
          <a:xfrm>
            <a:off x="4419600" y="5511800"/>
            <a:ext cx="3365500" cy="25603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55EEF"/>
                </a:solidFill>
                <a:effectLst/>
                <a:uLnTx/>
                <a:uFillTx/>
                <a:latin typeface="Arial"/>
                <a:ea typeface="+mn-ea"/>
                <a:cs typeface="+mn-cs"/>
              </a:rPr>
              <a:t>Matched scenarios</a:t>
            </a:r>
          </a:p>
        </p:txBody>
      </p:sp>
      <p:cxnSp>
        <p:nvCxnSpPr>
          <p:cNvPr id="41" name="0666 Connector"/>
          <p:cNvCxnSpPr/>
          <p:nvPr/>
        </p:nvCxnSpPr>
        <p:spPr>
          <a:xfrm>
            <a:off x="7975600" y="5638800"/>
            <a:ext cx="279400" cy="0"/>
          </a:xfrm>
          <a:prstGeom prst="line">
            <a:avLst/>
          </a:prstGeom>
          <a:ln w="2032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2" name="0667 Panel"/>
          <p:cNvSpPr/>
          <p:nvPr/>
        </p:nvSpPr>
        <p:spPr>
          <a:xfrm>
            <a:off x="8115300" y="5308600"/>
            <a:ext cx="3619500" cy="660400"/>
          </a:xfrm>
          <a:prstGeom prst="roundRect">
            <a:avLst>
              <a:gd name="adj" fmla="val 16666"/>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0668 Text: Small-scale drills"/>
          <p:cNvSpPr txBox="1"/>
          <p:nvPr/>
        </p:nvSpPr>
        <p:spPr>
          <a:xfrm>
            <a:off x="8242300" y="5511800"/>
            <a:ext cx="3365500" cy="25603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700" b="1" i="0" u="none" strike="noStrike" kern="1200" cap="none" spc="0" normalizeH="0" baseline="0" noProof="0">
                <a:ln>
                  <a:noFill/>
                </a:ln>
                <a:solidFill>
                  <a:srgbClr val="155EEF"/>
                </a:solidFill>
                <a:effectLst/>
                <a:uLnTx/>
                <a:uFillTx/>
                <a:latin typeface="Arial"/>
                <a:ea typeface="+mn-ea"/>
                <a:cs typeface="+mn-cs"/>
              </a:rPr>
              <a:t>Small-scale drills</a:t>
            </a:r>
          </a:p>
        </p:txBody>
      </p:sp>
    </p:spTree>
    <p:extLst>
      <p:ext uri="{BB962C8B-B14F-4D97-AF65-F5344CB8AC3E}">
        <p14:creationId xmlns:p14="http://schemas.microsoft.com/office/powerpoint/2010/main" val="3814756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698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699 Text: APPENDIX / TEAM"/>
          <p:cNvSpPr txBox="1"/>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APPENDIX / TEAM</a:t>
            </a:r>
          </a:p>
        </p:txBody>
      </p:sp>
      <p:sp>
        <p:nvSpPr>
          <p:cNvPr id="4" name="0700 Text: Five workstreams. One shared product."/>
          <p:cNvSpPr txBox="1"/>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Five workstreams. One shared product.</a:t>
            </a:r>
          </a:p>
        </p:txBody>
      </p:sp>
      <p:sp>
        <p:nvSpPr>
          <p:cNvPr id="5" name="0701 Text: The work is split by interfaces, with shared con"/>
          <p:cNvSpPr txBox="1"/>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The work is split by interfaces, with shared contracts between teams.</a:t>
            </a:r>
          </a:p>
        </p:txBody>
      </p:sp>
      <p:cxnSp>
        <p:nvCxnSpPr>
          <p:cNvPr id="6" name="0702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703 Text: FIRST AID COPILOT"/>
          <p:cNvSpPr txBox="1"/>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704 Text: The dispatcher leads. The Agent assists."/>
          <p:cNvSpPr txBox="1"/>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705 Panel"/>
          <p:cNvSpPr/>
          <p:nvPr/>
        </p:nvSpPr>
        <p:spPr>
          <a:xfrm>
            <a:off x="457200" y="2075688"/>
            <a:ext cx="3621024" cy="1709928"/>
          </a:xfrm>
          <a:prstGeom prst="roundRect">
            <a:avLst>
              <a:gd name="adj" fmla="val 748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 name="0706 Connector"/>
          <p:cNvCxnSpPr/>
          <p:nvPr/>
        </p:nvCxnSpPr>
        <p:spPr>
          <a:xfrm>
            <a:off x="809244" y="2278410"/>
            <a:ext cx="49926" cy="11411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1" name="0707 Connector"/>
          <p:cNvCxnSpPr/>
          <p:nvPr/>
        </p:nvCxnSpPr>
        <p:spPr>
          <a:xfrm>
            <a:off x="859170" y="2392527"/>
            <a:ext cx="121249" cy="5349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2" name="0708 Connector"/>
          <p:cNvCxnSpPr/>
          <p:nvPr/>
        </p:nvCxnSpPr>
        <p:spPr>
          <a:xfrm flipH="1">
            <a:off x="859170" y="2446020"/>
            <a:ext cx="121249" cy="4992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3" name="0709 Connector"/>
          <p:cNvCxnSpPr/>
          <p:nvPr/>
        </p:nvCxnSpPr>
        <p:spPr>
          <a:xfrm flipH="1">
            <a:off x="809244" y="2495946"/>
            <a:ext cx="49926" cy="11768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4" name="0710 Connector"/>
          <p:cNvCxnSpPr/>
          <p:nvPr/>
        </p:nvCxnSpPr>
        <p:spPr>
          <a:xfrm flipH="1" flipV="1">
            <a:off x="759317" y="2495946"/>
            <a:ext cx="49927" cy="11768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5" name="0711 Connector"/>
          <p:cNvCxnSpPr/>
          <p:nvPr/>
        </p:nvCxnSpPr>
        <p:spPr>
          <a:xfrm flipH="1" flipV="1">
            <a:off x="638068" y="2446020"/>
            <a:ext cx="121249" cy="49926"/>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6" name="0712 Connector"/>
          <p:cNvCxnSpPr/>
          <p:nvPr/>
        </p:nvCxnSpPr>
        <p:spPr>
          <a:xfrm flipV="1">
            <a:off x="638068" y="2392527"/>
            <a:ext cx="121249" cy="5349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17" name="0713 Connector"/>
          <p:cNvCxnSpPr/>
          <p:nvPr/>
        </p:nvCxnSpPr>
        <p:spPr>
          <a:xfrm flipV="1">
            <a:off x="759317" y="2278410"/>
            <a:ext cx="49927" cy="11411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18" name="0714 Text: Agent &amp; API"/>
          <p:cNvSpPr txBox="1"/>
          <p:nvPr/>
        </p:nvSpPr>
        <p:spPr>
          <a:xfrm>
            <a:off x="1161288" y="2331720"/>
            <a:ext cx="2688336"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Agent &amp; API</a:t>
            </a:r>
          </a:p>
        </p:txBody>
      </p:sp>
      <p:sp>
        <p:nvSpPr>
          <p:cNvPr id="19" name="0715 Text: Flask, Live, ADK / Gen AI SDK,&#10;Gemini connection"/>
          <p:cNvSpPr txBox="1"/>
          <p:nvPr/>
        </p:nvSpPr>
        <p:spPr>
          <a:xfrm>
            <a:off x="658368" y="2990088"/>
            <a:ext cx="3209544" cy="6217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Flask, Live, ADK / Gen AI SDK,</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Gemini connection, tool adapters</a:t>
            </a:r>
          </a:p>
        </p:txBody>
      </p:sp>
      <p:sp>
        <p:nvSpPr>
          <p:cNvPr id="20" name="0716 Panel"/>
          <p:cNvSpPr/>
          <p:nvPr/>
        </p:nvSpPr>
        <p:spPr>
          <a:xfrm>
            <a:off x="4288536" y="2075688"/>
            <a:ext cx="3621024" cy="1709928"/>
          </a:xfrm>
          <a:prstGeom prst="roundRect">
            <a:avLst>
              <a:gd name="adj" fmla="val 748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0717 phone icon"/>
          <p:cNvSpPr/>
          <p:nvPr/>
        </p:nvSpPr>
        <p:spPr>
          <a:xfrm>
            <a:off x="4551426" y="2281976"/>
            <a:ext cx="178308" cy="320954"/>
          </a:xfrm>
          <a:prstGeom prst="roundRect">
            <a:avLst>
              <a:gd name="adj" fmla="val 25000"/>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2" name="0718 Connector"/>
          <p:cNvCxnSpPr/>
          <p:nvPr/>
        </p:nvCxnSpPr>
        <p:spPr>
          <a:xfrm>
            <a:off x="4604918" y="2324770"/>
            <a:ext cx="71323"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3" name="0719 Connector"/>
          <p:cNvCxnSpPr/>
          <p:nvPr/>
        </p:nvCxnSpPr>
        <p:spPr>
          <a:xfrm>
            <a:off x="4615616" y="2560137"/>
            <a:ext cx="49927"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24" name="0720 Text: Rescuer Experience"/>
          <p:cNvSpPr txBox="1"/>
          <p:nvPr/>
        </p:nvSpPr>
        <p:spPr>
          <a:xfrm>
            <a:off x="4992624" y="2331720"/>
            <a:ext cx="2688336"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Rescuer Experience</a:t>
            </a:r>
          </a:p>
        </p:txBody>
      </p:sp>
      <p:sp>
        <p:nvSpPr>
          <p:cNvPr id="25" name="0721 Text: Dial-first flow, call guide,&#10;quick actions, shar"/>
          <p:cNvSpPr txBox="1"/>
          <p:nvPr/>
        </p:nvSpPr>
        <p:spPr>
          <a:xfrm>
            <a:off x="4489704" y="2990088"/>
            <a:ext cx="3209544" cy="6217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Dial-first flow, call guide,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quick actions, shared UI</a:t>
            </a:r>
          </a:p>
        </p:txBody>
      </p:sp>
      <p:sp>
        <p:nvSpPr>
          <p:cNvPr id="26" name="0722 Panel"/>
          <p:cNvSpPr/>
          <p:nvPr/>
        </p:nvSpPr>
        <p:spPr>
          <a:xfrm>
            <a:off x="8119872" y="2075688"/>
            <a:ext cx="3621024" cy="1709928"/>
          </a:xfrm>
          <a:prstGeom prst="roundRect">
            <a:avLst>
              <a:gd name="adj" fmla="val 748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7" name="0723 Connector"/>
          <p:cNvCxnSpPr/>
          <p:nvPr/>
        </p:nvCxnSpPr>
        <p:spPr>
          <a:xfrm flipH="1">
            <a:off x="8318571" y="2335469"/>
            <a:ext cx="96286" cy="10698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8" name="0724 Connector"/>
          <p:cNvCxnSpPr/>
          <p:nvPr/>
        </p:nvCxnSpPr>
        <p:spPr>
          <a:xfrm>
            <a:off x="8318571" y="2442453"/>
            <a:ext cx="96286" cy="11411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9" name="0725 Connector"/>
          <p:cNvCxnSpPr/>
          <p:nvPr/>
        </p:nvCxnSpPr>
        <p:spPr>
          <a:xfrm>
            <a:off x="8528974" y="2335469"/>
            <a:ext cx="96286" cy="10698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0" name="0726 Connector"/>
          <p:cNvCxnSpPr/>
          <p:nvPr/>
        </p:nvCxnSpPr>
        <p:spPr>
          <a:xfrm flipH="1">
            <a:off x="8528974" y="2442453"/>
            <a:ext cx="96286" cy="11411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1" name="0727 Connector"/>
          <p:cNvCxnSpPr/>
          <p:nvPr/>
        </p:nvCxnSpPr>
        <p:spPr>
          <a:xfrm flipH="1">
            <a:off x="8439820" y="2314072"/>
            <a:ext cx="64191" cy="26389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2" name="0728 Text: Browser Runtime"/>
          <p:cNvSpPr txBox="1"/>
          <p:nvPr/>
        </p:nvSpPr>
        <p:spPr>
          <a:xfrm>
            <a:off x="8823960" y="2331720"/>
            <a:ext cx="2688336"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Browser Runtime</a:t>
            </a:r>
          </a:p>
        </p:txBody>
      </p:sp>
      <p:sp>
        <p:nvSpPr>
          <p:cNvPr id="33" name="0729 Text: Media, audio gate, sync,&#10;IndexedDB, TypeScript r"/>
          <p:cNvSpPr txBox="1"/>
          <p:nvPr/>
        </p:nvSpPr>
        <p:spPr>
          <a:xfrm>
            <a:off x="8321040" y="2990088"/>
            <a:ext cx="3209544" cy="6217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Media, audio gate, sync,</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IndexedDB, TypeScript rules</a:t>
            </a:r>
          </a:p>
        </p:txBody>
      </p:sp>
      <p:sp>
        <p:nvSpPr>
          <p:cNvPr id="34" name="0730 Panel"/>
          <p:cNvSpPr/>
          <p:nvPr/>
        </p:nvSpPr>
        <p:spPr>
          <a:xfrm>
            <a:off x="457200" y="4078224"/>
            <a:ext cx="5522976" cy="1709928"/>
          </a:xfrm>
          <a:prstGeom prst="roundRect">
            <a:avLst>
              <a:gd name="adj" fmla="val 748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0731 clipboard icon"/>
          <p:cNvSpPr/>
          <p:nvPr/>
        </p:nvSpPr>
        <p:spPr>
          <a:xfrm>
            <a:off x="698693" y="4327306"/>
            <a:ext cx="228234" cy="285292"/>
          </a:xfrm>
          <a:prstGeom prst="roundRect">
            <a:avLst>
              <a:gd name="adj" fmla="val 24038"/>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0732 clipboard icon"/>
          <p:cNvSpPr/>
          <p:nvPr/>
        </p:nvSpPr>
        <p:spPr>
          <a:xfrm>
            <a:off x="759317" y="4284512"/>
            <a:ext cx="110550" cy="74889"/>
          </a:xfrm>
          <a:prstGeom prst="roundRect">
            <a:avLst>
              <a:gd name="adj" fmla="val 25000"/>
            </a:avLst>
          </a:prstGeom>
          <a:solidFill>
            <a:srgbClr val="F5F2EB"/>
          </a:solid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7" name="0733 Connector"/>
          <p:cNvCxnSpPr/>
          <p:nvPr/>
        </p:nvCxnSpPr>
        <p:spPr>
          <a:xfrm>
            <a:off x="752185" y="4423592"/>
            <a:ext cx="121249"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8" name="0734 Connector"/>
          <p:cNvCxnSpPr/>
          <p:nvPr/>
        </p:nvCxnSpPr>
        <p:spPr>
          <a:xfrm>
            <a:off x="752185" y="4487783"/>
            <a:ext cx="121249"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9" name="0735 Connector"/>
          <p:cNvCxnSpPr/>
          <p:nvPr/>
        </p:nvCxnSpPr>
        <p:spPr>
          <a:xfrm>
            <a:off x="752185" y="4551974"/>
            <a:ext cx="82022"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40" name="0736 Text: Helpers &amp; Handoff"/>
          <p:cNvSpPr txBox="1"/>
          <p:nvPr/>
        </p:nvSpPr>
        <p:spPr>
          <a:xfrm>
            <a:off x="1161288" y="4334256"/>
            <a:ext cx="4590288"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Helpers &amp; Handoff</a:t>
            </a:r>
          </a:p>
        </p:txBody>
      </p:sp>
      <p:sp>
        <p:nvSpPr>
          <p:cNvPr id="41" name="0737 Text: QR entry, location reports, maps,&#10;greeter view, "/>
          <p:cNvSpPr txBox="1"/>
          <p:nvPr/>
        </p:nvSpPr>
        <p:spPr>
          <a:xfrm>
            <a:off x="658368" y="4992624"/>
            <a:ext cx="5111496" cy="6217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QR entry, location reports, maps,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greeter view, EMS handoff</a:t>
            </a:r>
          </a:p>
        </p:txBody>
      </p:sp>
      <p:sp>
        <p:nvSpPr>
          <p:cNvPr id="42" name="0738 Panel"/>
          <p:cNvSpPr/>
          <p:nvPr/>
        </p:nvSpPr>
        <p:spPr>
          <a:xfrm>
            <a:off x="6217920" y="4078224"/>
            <a:ext cx="5522976" cy="1709928"/>
          </a:xfrm>
          <a:prstGeom prst="roundRect">
            <a:avLst>
              <a:gd name="adj" fmla="val 7486"/>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0739 Database icon"/>
          <p:cNvSpPr/>
          <p:nvPr/>
        </p:nvSpPr>
        <p:spPr>
          <a:xfrm>
            <a:off x="6434449" y="4291644"/>
            <a:ext cx="271028" cy="310255"/>
          </a:xfrm>
          <a:prstGeom prst="can">
            <a:avLst/>
          </a:prstGeom>
          <a:noFill/>
          <a:ln w="20320">
            <a:solidFill>
              <a:srgbClr val="155E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0740 Text: Rules &amp; Data"/>
          <p:cNvSpPr txBox="1"/>
          <p:nvPr/>
        </p:nvSpPr>
        <p:spPr>
          <a:xfrm>
            <a:off x="6922008" y="4334256"/>
            <a:ext cx="4590288"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Rules &amp; Data</a:t>
            </a:r>
          </a:p>
        </p:txBody>
      </p:sp>
      <p:sp>
        <p:nvSpPr>
          <p:cNvPr id="45" name="0741 Text: Python rules, AED ingestion and reassignment,&#10;sn"/>
          <p:cNvSpPr txBox="1"/>
          <p:nvPr/>
        </p:nvSpPr>
        <p:spPr>
          <a:xfrm>
            <a:off x="6419088" y="4992624"/>
            <a:ext cx="5111496" cy="62179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Python rules, AED ingestion and reassignment,</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50" b="0" i="0" u="none" strike="noStrike" kern="1200" cap="none" spc="0" normalizeH="0" baseline="0" noProof="0">
                <a:ln>
                  <a:noFill/>
                </a:ln>
                <a:solidFill>
                  <a:srgbClr val="657187"/>
                </a:solidFill>
                <a:effectLst/>
                <a:uLnTx/>
                <a:uFillTx/>
                <a:latin typeface="Arial"/>
                <a:ea typeface="+mn-ea"/>
                <a:cs typeface="+mn-cs"/>
              </a:rPr>
              <a:t>snapshots, persistence, access, retention</a:t>
            </a:r>
          </a:p>
        </p:txBody>
      </p:sp>
      <p:sp>
        <p:nvSpPr>
          <p:cNvPr id="46" name="0742 Panel"/>
          <p:cNvSpPr/>
          <p:nvPr/>
        </p:nvSpPr>
        <p:spPr>
          <a:xfrm>
            <a:off x="457200" y="5998464"/>
            <a:ext cx="11283696" cy="301752"/>
          </a:xfrm>
          <a:prstGeom prst="roundRect">
            <a:avLst>
              <a:gd name="adj" fmla="val 18181"/>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0743 Text: Shared API contracts  ·  Shared rule fixtures  ·"/>
          <p:cNvSpPr txBox="1"/>
          <p:nvPr/>
        </p:nvSpPr>
        <p:spPr>
          <a:xfrm>
            <a:off x="621792" y="6044184"/>
            <a:ext cx="10963656" cy="210312"/>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8000"/>
              </a:lnSpc>
              <a:spcBef>
                <a:spcPts val="0"/>
              </a:spcBef>
              <a:spcAft>
                <a:spcPts val="0"/>
              </a:spcAft>
              <a:buClrTx/>
              <a:buSzTx/>
              <a:buFontTx/>
              <a:buNone/>
              <a:tabLst/>
              <a:defRPr/>
            </a:pPr>
            <a:r>
              <a:rPr kumimoji="0" lang="en-US" sz="1430" b="1" i="0" u="none" strike="noStrike" kern="1200" cap="none" spc="0" normalizeH="0" baseline="0" noProof="0">
                <a:ln>
                  <a:noFill/>
                </a:ln>
                <a:solidFill>
                  <a:srgbClr val="155EEF"/>
                </a:solidFill>
                <a:effectLst/>
                <a:uLnTx/>
                <a:uFillTx/>
                <a:latin typeface="Arial"/>
                <a:ea typeface="+mn-ea"/>
                <a:cs typeface="+mn-cs"/>
              </a:rPr>
              <a:t>Shared API contracts  ·  Shared rule fixtures  ·  One React application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744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745 Text: APPENDIX / AED DATA AND NAVIGATION"/>
          <p:cNvSpPr txBox="1"/>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APPENDIX / AED DATA AND NAVIGATION</a:t>
            </a:r>
          </a:p>
        </p:txBody>
      </p:sp>
      <p:sp>
        <p:nvSpPr>
          <p:cNvPr id="4" name="0746 Text: An AED pin is useful only if people can reach it"/>
          <p:cNvSpPr txBox="1"/>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An AED pin is useful only if people can reach it.</a:t>
            </a:r>
          </a:p>
        </p:txBody>
      </p:sp>
      <p:sp>
        <p:nvSpPr>
          <p:cNvPr id="5" name="0747 Text: Use opening hours and access notes, and show unc"/>
          <p:cNvSpPr txBox="1"/>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Use opening hours and access notes, and show uncertainty instead of hiding it.</a:t>
            </a:r>
          </a:p>
        </p:txBody>
      </p:sp>
      <p:cxnSp>
        <p:nvCxnSpPr>
          <p:cNvPr id="6" name="0748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749 Text: FIRST AID COPILOT"/>
          <p:cNvSpPr txBox="1"/>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750 Text: The dispatcher leads. The Agent assists."/>
          <p:cNvSpPr txBox="1"/>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751 Panel"/>
          <p:cNvSpPr/>
          <p:nvPr/>
        </p:nvSpPr>
        <p:spPr>
          <a:xfrm>
            <a:off x="457200" y="2057400"/>
            <a:ext cx="3374136" cy="3776472"/>
          </a:xfrm>
          <a:prstGeom prst="roundRect">
            <a:avLst>
              <a:gd name="adj" fmla="val 4065"/>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752 Text: AED20260919"/>
          <p:cNvSpPr txBox="1"/>
          <p:nvPr/>
        </p:nvSpPr>
        <p:spPr>
          <a:xfrm>
            <a:off x="713232" y="2322576"/>
            <a:ext cx="2880360" cy="35661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900" b="1" i="0" u="none" strike="noStrike" kern="1200" cap="none" spc="0" normalizeH="0" baseline="0" noProof="0">
                <a:ln>
                  <a:noFill/>
                </a:ln>
                <a:solidFill>
                  <a:srgbClr val="C5D8F4"/>
                </a:solidFill>
                <a:effectLst/>
                <a:uLnTx/>
                <a:uFillTx/>
                <a:latin typeface="Arial"/>
                <a:ea typeface="+mn-ea"/>
                <a:cs typeface="+mn-cs"/>
              </a:rPr>
              <a:t>AED20260919</a:t>
            </a:r>
          </a:p>
        </p:txBody>
      </p:sp>
      <p:sp>
        <p:nvSpPr>
          <p:cNvPr id="11" name="0753 Text: 15,891"/>
          <p:cNvSpPr txBox="1"/>
          <p:nvPr/>
        </p:nvSpPr>
        <p:spPr>
          <a:xfrm>
            <a:off x="704088" y="2916936"/>
            <a:ext cx="2862072" cy="8686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4700" b="1" i="0" u="none" strike="noStrike" kern="1200" cap="none" spc="0" normalizeH="0" baseline="0" noProof="0">
                <a:ln>
                  <a:noFill/>
                </a:ln>
                <a:solidFill>
                  <a:srgbClr val="FFFFFF"/>
                </a:solidFill>
                <a:effectLst/>
                <a:uLnTx/>
                <a:uFillTx/>
                <a:latin typeface="Arial"/>
                <a:ea typeface="+mn-ea"/>
                <a:cs typeface="+mn-cs"/>
              </a:rPr>
              <a:t>15,891</a:t>
            </a:r>
          </a:p>
        </p:txBody>
      </p:sp>
      <p:sp>
        <p:nvSpPr>
          <p:cNvPr id="12" name="0754 Text: records retained&#10;from 15,896 source rows"/>
          <p:cNvSpPr txBox="1"/>
          <p:nvPr/>
        </p:nvSpPr>
        <p:spPr>
          <a:xfrm>
            <a:off x="731520" y="3886200"/>
            <a:ext cx="2788920" cy="4480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a:ea typeface="+mn-ea"/>
                <a:cs typeface="+mn-cs"/>
              </a:rPr>
              <a:t>records retained</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a:ea typeface="+mn-ea"/>
                <a:cs typeface="+mn-cs"/>
              </a:rPr>
              <a:t>from 15,896 source rows</a:t>
            </a:r>
          </a:p>
        </p:txBody>
      </p:sp>
      <p:cxnSp>
        <p:nvCxnSpPr>
          <p:cNvPr id="13" name="0755 Connector"/>
          <p:cNvCxnSpPr/>
          <p:nvPr/>
        </p:nvCxnSpPr>
        <p:spPr>
          <a:xfrm>
            <a:off x="722376" y="4581144"/>
            <a:ext cx="2834640" cy="0"/>
          </a:xfrm>
          <a:prstGeom prst="line">
            <a:avLst/>
          </a:prstGeom>
          <a:ln w="12700">
            <a:solidFill>
              <a:srgbClr val="526578"/>
            </a:solidFill>
          </a:ln>
          <a:effectLst/>
        </p:spPr>
        <p:style>
          <a:lnRef idx="2">
            <a:schemeClr val="accent1"/>
          </a:lnRef>
          <a:fillRef idx="0">
            <a:schemeClr val="accent1"/>
          </a:fillRef>
          <a:effectRef idx="0">
            <a:schemeClr val="accent1"/>
          </a:effectRef>
          <a:fontRef idx="minor">
            <a:schemeClr val="tx1"/>
          </a:fontRef>
        </p:style>
      </p:cxnSp>
      <p:sp>
        <p:nvSpPr>
          <p:cNvPr id="14" name="0756 Text: 5 rows rejected"/>
          <p:cNvSpPr txBox="1"/>
          <p:nvPr/>
        </p:nvSpPr>
        <p:spPr>
          <a:xfrm>
            <a:off x="731520" y="4800600"/>
            <a:ext cx="2834640" cy="3108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50" b="1" i="0" u="none" strike="noStrike" kern="1200" cap="none" spc="0" normalizeH="0" baseline="0" noProof="0">
                <a:ln>
                  <a:noFill/>
                </a:ln>
                <a:solidFill>
                  <a:srgbClr val="FFFFFF"/>
                </a:solidFill>
                <a:effectLst/>
                <a:uLnTx/>
                <a:uFillTx/>
                <a:latin typeface="Arial"/>
                <a:ea typeface="+mn-ea"/>
                <a:cs typeface="+mn-cs"/>
              </a:rPr>
              <a:t>5 rows rejected</a:t>
            </a:r>
          </a:p>
        </p:txBody>
      </p:sp>
      <p:sp>
        <p:nvSpPr>
          <p:cNvPr id="15" name="0757 Text: 3,312 opening-hours warnings"/>
          <p:cNvSpPr txBox="1"/>
          <p:nvPr/>
        </p:nvSpPr>
        <p:spPr>
          <a:xfrm>
            <a:off x="731520" y="5294376"/>
            <a:ext cx="2825496"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0" normalizeH="0" baseline="0" noProof="0">
                <a:ln>
                  <a:noFill/>
                </a:ln>
                <a:solidFill>
                  <a:srgbClr val="C5D8F4"/>
                </a:solidFill>
                <a:effectLst/>
                <a:uLnTx/>
                <a:uFillTx/>
                <a:latin typeface="Arial"/>
                <a:ea typeface="+mn-ea"/>
                <a:cs typeface="+mn-cs"/>
              </a:rPr>
              <a:t>3,312 opening-hours warnings</a:t>
            </a:r>
          </a:p>
        </p:txBody>
      </p:sp>
      <p:sp>
        <p:nvSpPr>
          <p:cNvPr id="16" name="0758 Panel"/>
          <p:cNvSpPr/>
          <p:nvPr/>
        </p:nvSpPr>
        <p:spPr>
          <a:xfrm>
            <a:off x="4178808" y="2057400"/>
            <a:ext cx="2395728" cy="1655064"/>
          </a:xfrm>
          <a:prstGeom prst="roundRect">
            <a:avLst>
              <a:gd name="adj" fmla="val 6629"/>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0759 Text: Validate"/>
          <p:cNvSpPr txBox="1"/>
          <p:nvPr/>
        </p:nvSpPr>
        <p:spPr>
          <a:xfrm>
            <a:off x="4334256" y="2276856"/>
            <a:ext cx="2084831"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60" b="1" i="0" u="none" strike="noStrike" kern="1200" cap="none" spc="0" normalizeH="0" baseline="0" noProof="0">
                <a:ln>
                  <a:noFill/>
                </a:ln>
                <a:solidFill>
                  <a:srgbClr val="155EEF"/>
                </a:solidFill>
                <a:effectLst/>
                <a:uLnTx/>
                <a:uFillTx/>
                <a:latin typeface="Arial"/>
                <a:ea typeface="+mn-ea"/>
                <a:cs typeface="+mn-cs"/>
              </a:rPr>
              <a:t>Validate</a:t>
            </a:r>
          </a:p>
        </p:txBody>
      </p:sp>
      <p:sp>
        <p:nvSpPr>
          <p:cNvPr id="18" name="0760 Text: Coordinates, fields,&#10;and duplicate IDs"/>
          <p:cNvSpPr txBox="1"/>
          <p:nvPr/>
        </p:nvSpPr>
        <p:spPr>
          <a:xfrm>
            <a:off x="4343400" y="2916936"/>
            <a:ext cx="2057400" cy="5394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90" b="0" i="0" u="none" strike="noStrike" kern="1200" cap="none" spc="0" normalizeH="0" baseline="0" noProof="0">
                <a:ln>
                  <a:noFill/>
                </a:ln>
                <a:solidFill>
                  <a:srgbClr val="657187"/>
                </a:solidFill>
                <a:effectLst/>
                <a:uLnTx/>
                <a:uFillTx/>
                <a:latin typeface="Arial"/>
                <a:ea typeface="+mn-ea"/>
                <a:cs typeface="+mn-cs"/>
              </a:rPr>
              <a:t>Coordinates, fields,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90" b="0" i="0" u="none" strike="noStrike" kern="1200" cap="none" spc="0" normalizeH="0" baseline="0" noProof="0">
                <a:ln>
                  <a:noFill/>
                </a:ln>
                <a:solidFill>
                  <a:srgbClr val="657187"/>
                </a:solidFill>
                <a:effectLst/>
                <a:uLnTx/>
                <a:uFillTx/>
                <a:latin typeface="Arial"/>
                <a:ea typeface="+mn-ea"/>
                <a:cs typeface="+mn-cs"/>
              </a:rPr>
              <a:t>and duplicate IDs</a:t>
            </a:r>
          </a:p>
        </p:txBody>
      </p:sp>
      <p:cxnSp>
        <p:nvCxnSpPr>
          <p:cNvPr id="19" name="0761 Connector"/>
          <p:cNvCxnSpPr/>
          <p:nvPr/>
        </p:nvCxnSpPr>
        <p:spPr>
          <a:xfrm>
            <a:off x="6601968" y="2871216"/>
            <a:ext cx="91440" cy="0"/>
          </a:xfrm>
          <a:prstGeom prst="line">
            <a:avLst/>
          </a:prstGeom>
          <a:ln w="2032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 name="0762 Panel"/>
          <p:cNvSpPr/>
          <p:nvPr/>
        </p:nvSpPr>
        <p:spPr>
          <a:xfrm>
            <a:off x="6720840" y="2057400"/>
            <a:ext cx="2395728" cy="1655064"/>
          </a:xfrm>
          <a:prstGeom prst="roundRect">
            <a:avLst>
              <a:gd name="adj" fmla="val 6629"/>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0763 Text: Version"/>
          <p:cNvSpPr txBox="1"/>
          <p:nvPr/>
        </p:nvSpPr>
        <p:spPr>
          <a:xfrm>
            <a:off x="6876288" y="2276856"/>
            <a:ext cx="2084831"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60" b="1" i="0" u="none" strike="noStrike" kern="1200" cap="none" spc="0" normalizeH="0" baseline="0" noProof="0">
                <a:ln>
                  <a:noFill/>
                </a:ln>
                <a:solidFill>
                  <a:srgbClr val="155EEF"/>
                </a:solidFill>
                <a:effectLst/>
                <a:uLnTx/>
                <a:uFillTx/>
                <a:latin typeface="Arial"/>
                <a:ea typeface="+mn-ea"/>
                <a:cs typeface="+mn-cs"/>
              </a:rPr>
              <a:t>Version</a:t>
            </a:r>
          </a:p>
        </p:txBody>
      </p:sp>
      <p:sp>
        <p:nvSpPr>
          <p:cNvPr id="22" name="0764 Text: Keep source and&#10;import metadata"/>
          <p:cNvSpPr txBox="1"/>
          <p:nvPr/>
        </p:nvSpPr>
        <p:spPr>
          <a:xfrm>
            <a:off x="6885431" y="2916936"/>
            <a:ext cx="2057400" cy="5394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90" b="0" i="0" u="none" strike="noStrike" kern="1200" cap="none" spc="0" normalizeH="0" baseline="0" noProof="0">
                <a:ln>
                  <a:noFill/>
                </a:ln>
                <a:solidFill>
                  <a:srgbClr val="657187"/>
                </a:solidFill>
                <a:effectLst/>
                <a:uLnTx/>
                <a:uFillTx/>
                <a:latin typeface="Arial"/>
                <a:ea typeface="+mn-ea"/>
                <a:cs typeface="+mn-cs"/>
              </a:rPr>
              <a:t>Keep source and</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90" b="0" i="0" u="none" strike="noStrike" kern="1200" cap="none" spc="0" normalizeH="0" baseline="0" noProof="0">
                <a:ln>
                  <a:noFill/>
                </a:ln>
                <a:solidFill>
                  <a:srgbClr val="657187"/>
                </a:solidFill>
                <a:effectLst/>
                <a:uLnTx/>
                <a:uFillTx/>
                <a:latin typeface="Arial"/>
                <a:ea typeface="+mn-ea"/>
                <a:cs typeface="+mn-cs"/>
              </a:rPr>
              <a:t>import metadata</a:t>
            </a:r>
          </a:p>
        </p:txBody>
      </p:sp>
      <p:cxnSp>
        <p:nvCxnSpPr>
          <p:cNvPr id="23" name="0765 Connector"/>
          <p:cNvCxnSpPr/>
          <p:nvPr/>
        </p:nvCxnSpPr>
        <p:spPr>
          <a:xfrm>
            <a:off x="9144000" y="2871216"/>
            <a:ext cx="91440" cy="0"/>
          </a:xfrm>
          <a:prstGeom prst="line">
            <a:avLst/>
          </a:prstGeom>
          <a:ln w="2032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4" name="0766 Panel"/>
          <p:cNvSpPr/>
          <p:nvPr/>
        </p:nvSpPr>
        <p:spPr>
          <a:xfrm>
            <a:off x="9262872" y="2057400"/>
            <a:ext cx="2395728" cy="1655064"/>
          </a:xfrm>
          <a:prstGeom prst="roundRect">
            <a:avLst>
              <a:gd name="adj" fmla="val 6629"/>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0767 Text: Search &amp; assign"/>
          <p:cNvSpPr txBox="1"/>
          <p:nvPr/>
        </p:nvSpPr>
        <p:spPr>
          <a:xfrm>
            <a:off x="9418319" y="2276856"/>
            <a:ext cx="2084831"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60" b="1" i="0" u="none" strike="noStrike" kern="1200" cap="none" spc="0" normalizeH="0" baseline="0" noProof="0">
                <a:ln>
                  <a:noFill/>
                </a:ln>
                <a:solidFill>
                  <a:srgbClr val="155EEF"/>
                </a:solidFill>
                <a:effectLst/>
                <a:uLnTx/>
                <a:uFillTx/>
                <a:latin typeface="Arial"/>
                <a:ea typeface="+mn-ea"/>
                <a:cs typeface="+mn-cs"/>
              </a:rPr>
              <a:t>Search &amp; assign</a:t>
            </a:r>
          </a:p>
        </p:txBody>
      </p:sp>
      <p:sp>
        <p:nvSpPr>
          <p:cNvPr id="26" name="0768 Text: Use the active&#10;AED catalog"/>
          <p:cNvSpPr txBox="1"/>
          <p:nvPr/>
        </p:nvSpPr>
        <p:spPr>
          <a:xfrm>
            <a:off x="9427463" y="2916936"/>
            <a:ext cx="2057400" cy="53949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90" b="0" i="0" u="none" strike="noStrike" kern="1200" cap="none" spc="0" normalizeH="0" baseline="0" noProof="0">
                <a:ln>
                  <a:noFill/>
                </a:ln>
                <a:solidFill>
                  <a:srgbClr val="657187"/>
                </a:solidFill>
                <a:effectLst/>
                <a:uLnTx/>
                <a:uFillTx/>
                <a:latin typeface="Arial"/>
                <a:ea typeface="+mn-ea"/>
                <a:cs typeface="+mn-cs"/>
              </a:rPr>
              <a:t>Use the active</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390" b="0" i="0" u="none" strike="noStrike" kern="1200" cap="none" spc="0" normalizeH="0" baseline="0" noProof="0">
                <a:ln>
                  <a:noFill/>
                </a:ln>
                <a:solidFill>
                  <a:srgbClr val="657187"/>
                </a:solidFill>
                <a:effectLst/>
                <a:uLnTx/>
                <a:uFillTx/>
                <a:latin typeface="Arial"/>
                <a:ea typeface="+mn-ea"/>
                <a:cs typeface="+mn-cs"/>
              </a:rPr>
              <a:t>AED catalog</a:t>
            </a:r>
          </a:p>
        </p:txBody>
      </p:sp>
      <p:sp>
        <p:nvSpPr>
          <p:cNvPr id="27" name="0769 Panel"/>
          <p:cNvSpPr/>
          <p:nvPr/>
        </p:nvSpPr>
        <p:spPr>
          <a:xfrm>
            <a:off x="4178808" y="4014215"/>
            <a:ext cx="7552944" cy="1810512"/>
          </a:xfrm>
          <a:prstGeom prst="roundRect">
            <a:avLst>
              <a:gd name="adj" fmla="val 6060"/>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0770 Text: Hours"/>
          <p:cNvSpPr txBox="1"/>
          <p:nvPr/>
        </p:nvSpPr>
        <p:spPr>
          <a:xfrm>
            <a:off x="4416552" y="4261104"/>
            <a:ext cx="1115568" cy="26517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60" b="1" i="0" u="none" strike="noStrike" kern="1200" cap="none" spc="0" normalizeH="0" baseline="0" noProof="0">
                <a:ln>
                  <a:noFill/>
                </a:ln>
                <a:solidFill>
                  <a:srgbClr val="087F5B"/>
                </a:solidFill>
                <a:effectLst/>
                <a:uLnTx/>
                <a:uFillTx/>
                <a:latin typeface="Arial"/>
                <a:ea typeface="+mn-ea"/>
                <a:cs typeface="+mn-cs"/>
              </a:rPr>
              <a:t>Hours</a:t>
            </a:r>
          </a:p>
        </p:txBody>
      </p:sp>
      <p:sp>
        <p:nvSpPr>
          <p:cNvPr id="29" name="0771 Text: Unknown stays unknown."/>
          <p:cNvSpPr txBox="1"/>
          <p:nvPr/>
        </p:nvSpPr>
        <p:spPr>
          <a:xfrm>
            <a:off x="5577840" y="4261104"/>
            <a:ext cx="5815584"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40" b="0" i="0" u="none" strike="noStrike" kern="1200" cap="none" spc="0" normalizeH="0" baseline="0" noProof="0">
                <a:ln>
                  <a:noFill/>
                </a:ln>
                <a:solidFill>
                  <a:srgbClr val="1E2D3D"/>
                </a:solidFill>
                <a:effectLst/>
                <a:uLnTx/>
                <a:uFillTx/>
                <a:latin typeface="Arial"/>
                <a:ea typeface="+mn-ea"/>
                <a:cs typeface="+mn-cs"/>
              </a:rPr>
              <a:t>Unknown stays unknown.</a:t>
            </a:r>
          </a:p>
        </p:txBody>
      </p:sp>
      <p:sp>
        <p:nvSpPr>
          <p:cNvPr id="30" name="0772 Text: Access"/>
          <p:cNvSpPr txBox="1"/>
          <p:nvPr/>
        </p:nvSpPr>
        <p:spPr>
          <a:xfrm>
            <a:off x="4416552" y="4709160"/>
            <a:ext cx="1115568" cy="26517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60" b="1" i="0" u="none" strike="noStrike" kern="1200" cap="none" spc="0" normalizeH="0" baseline="0" noProof="0">
                <a:ln>
                  <a:noFill/>
                </a:ln>
                <a:solidFill>
                  <a:srgbClr val="087F5B"/>
                </a:solidFill>
                <a:effectLst/>
                <a:uLnTx/>
                <a:uFillTx/>
                <a:latin typeface="Arial"/>
                <a:ea typeface="+mn-ea"/>
                <a:cs typeface="+mn-cs"/>
              </a:rPr>
              <a:t>Access</a:t>
            </a:r>
          </a:p>
        </p:txBody>
      </p:sp>
      <p:sp>
        <p:nvSpPr>
          <p:cNvPr id="31" name="0773 Text: Keep placement notes and restrictions."/>
          <p:cNvSpPr txBox="1"/>
          <p:nvPr/>
        </p:nvSpPr>
        <p:spPr>
          <a:xfrm>
            <a:off x="5577840" y="4709160"/>
            <a:ext cx="5815584"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40" b="0" i="0" u="none" strike="noStrike" kern="1200" cap="none" spc="0" normalizeH="0" baseline="0" noProof="0">
                <a:ln>
                  <a:noFill/>
                </a:ln>
                <a:solidFill>
                  <a:srgbClr val="1E2D3D"/>
                </a:solidFill>
                <a:effectLst/>
                <a:uLnTx/>
                <a:uFillTx/>
                <a:latin typeface="Arial"/>
                <a:ea typeface="+mn-ea"/>
                <a:cs typeface="+mn-cs"/>
              </a:rPr>
              <a:t>Keep placement notes and restrictions.</a:t>
            </a:r>
          </a:p>
        </p:txBody>
      </p:sp>
      <p:sp>
        <p:nvSpPr>
          <p:cNvPr id="32" name="0774 Text: Freshness"/>
          <p:cNvSpPr txBox="1"/>
          <p:nvPr/>
        </p:nvSpPr>
        <p:spPr>
          <a:xfrm>
            <a:off x="4416552" y="5157216"/>
            <a:ext cx="1115568" cy="26517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60" b="1" i="0" u="none" strike="noStrike" kern="1200" cap="none" spc="0" normalizeH="0" baseline="0" noProof="0">
                <a:ln>
                  <a:noFill/>
                </a:ln>
                <a:solidFill>
                  <a:srgbClr val="087F5B"/>
                </a:solidFill>
                <a:effectLst/>
                <a:uLnTx/>
                <a:uFillTx/>
                <a:latin typeface="Arial"/>
                <a:ea typeface="+mn-ea"/>
                <a:cs typeface="+mn-cs"/>
              </a:rPr>
              <a:t>Freshness</a:t>
            </a:r>
          </a:p>
        </p:txBody>
      </p:sp>
      <p:sp>
        <p:nvSpPr>
          <p:cNvPr id="33" name="0775 Text: Retain source and update information."/>
          <p:cNvSpPr txBox="1"/>
          <p:nvPr/>
        </p:nvSpPr>
        <p:spPr>
          <a:xfrm>
            <a:off x="5577840" y="5157216"/>
            <a:ext cx="5815584"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40" b="0" i="0" u="none" strike="noStrike" kern="1200" cap="none" spc="0" normalizeH="0" baseline="0" noProof="0">
                <a:ln>
                  <a:noFill/>
                </a:ln>
                <a:solidFill>
                  <a:srgbClr val="1E2D3D"/>
                </a:solidFill>
                <a:effectLst/>
                <a:uLnTx/>
                <a:uFillTx/>
                <a:latin typeface="Arial"/>
                <a:ea typeface="+mn-ea"/>
                <a:cs typeface="+mn-cs"/>
              </a:rPr>
              <a:t>Retain source and update information.</a:t>
            </a:r>
          </a:p>
        </p:txBody>
      </p:sp>
      <p:sp>
        <p:nvSpPr>
          <p:cNvPr id="34" name="0776 Text: Maps supports display and navigation. Routes-bas"/>
          <p:cNvSpPr txBox="1"/>
          <p:nvPr/>
        </p:nvSpPr>
        <p:spPr>
          <a:xfrm>
            <a:off x="548640" y="6089904"/>
            <a:ext cx="11073384" cy="2286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0" normalizeH="0" baseline="0" noProof="0">
                <a:ln>
                  <a:noFill/>
                </a:ln>
                <a:solidFill>
                  <a:srgbClr val="155EEF"/>
                </a:solidFill>
                <a:effectLst/>
                <a:uLnTx/>
                <a:uFillTx/>
                <a:latin typeface="Arial"/>
                <a:ea typeface="+mn-ea"/>
                <a:cs typeface="+mn-cs"/>
              </a:rPr>
              <a:t>Maps supports display and navigation. Routes-based walking-time estimates are next.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0777 Section accent"/>
          <p:cNvSpPr/>
          <p:nvPr/>
        </p:nvSpPr>
        <p:spPr>
          <a:xfrm>
            <a:off x="457200" y="310896"/>
            <a:ext cx="36576" cy="164592"/>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0778 Text: APPENDIX / DATA INTEGRITY"/>
          <p:cNvSpPr txBox="1"/>
          <p:nvPr/>
        </p:nvSpPr>
        <p:spPr>
          <a:xfrm>
            <a:off x="603504" y="310896"/>
            <a:ext cx="11064240" cy="1828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850" b="1" i="0" u="none" strike="noStrike" kern="1200" cap="none" spc="0" normalizeH="0" baseline="0" noProof="0">
                <a:ln>
                  <a:noFill/>
                </a:ln>
                <a:solidFill>
                  <a:srgbClr val="657187"/>
                </a:solidFill>
                <a:effectLst/>
                <a:uLnTx/>
                <a:uFillTx/>
                <a:latin typeface="Arial"/>
                <a:ea typeface="+mn-ea"/>
                <a:cs typeface="+mn-cs"/>
              </a:rPr>
              <a:t>APPENDIX / DATA INTEGRITY</a:t>
            </a:r>
          </a:p>
        </p:txBody>
      </p:sp>
      <p:sp>
        <p:nvSpPr>
          <p:cNvPr id="4" name="0779 Text: One event log keeps the team in sync."/>
          <p:cNvSpPr txBox="1"/>
          <p:nvPr/>
        </p:nvSpPr>
        <p:spPr>
          <a:xfrm>
            <a:off x="457200" y="758952"/>
            <a:ext cx="11265408" cy="80467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3100" b="1" i="0" u="none" strike="noStrike" kern="1200" cap="none" spc="0" normalizeH="0" baseline="0" noProof="0">
                <a:ln>
                  <a:noFill/>
                </a:ln>
                <a:solidFill>
                  <a:srgbClr val="1E2D3D"/>
                </a:solidFill>
                <a:effectLst/>
                <a:uLnTx/>
                <a:uFillTx/>
                <a:latin typeface="Arial"/>
                <a:ea typeface="+mn-ea"/>
                <a:cs typeface="+mn-cs"/>
              </a:rPr>
              <a:t>One event log keeps the team in sync.</a:t>
            </a:r>
          </a:p>
        </p:txBody>
      </p:sp>
      <p:sp>
        <p:nvSpPr>
          <p:cNvPr id="5" name="0780 Text: Record once, project consistently, and make conf"/>
          <p:cNvSpPr txBox="1"/>
          <p:nvPr/>
        </p:nvSpPr>
        <p:spPr>
          <a:xfrm>
            <a:off x="457200" y="1490472"/>
            <a:ext cx="11247120" cy="43891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500" b="0" i="0" u="none" strike="noStrike" kern="1200" cap="none" spc="0" normalizeH="0" baseline="0" noProof="0">
                <a:ln>
                  <a:noFill/>
                </a:ln>
                <a:solidFill>
                  <a:srgbClr val="657187"/>
                </a:solidFill>
                <a:effectLst/>
                <a:uLnTx/>
                <a:uFillTx/>
                <a:latin typeface="Arial"/>
                <a:ea typeface="+mn-ea"/>
                <a:cs typeface="+mn-cs"/>
              </a:rPr>
              <a:t>Record once, project consistently, and make conflicts explicit.</a:t>
            </a:r>
          </a:p>
        </p:txBody>
      </p:sp>
      <p:cxnSp>
        <p:nvCxnSpPr>
          <p:cNvPr id="6" name="0781 Connector"/>
          <p:cNvCxnSpPr/>
          <p:nvPr/>
        </p:nvCxnSpPr>
        <p:spPr>
          <a:xfrm>
            <a:off x="457200" y="6446520"/>
            <a:ext cx="11283696" cy="0"/>
          </a:xfrm>
          <a:prstGeom prst="line">
            <a:avLst/>
          </a:prstGeom>
          <a:ln w="8255">
            <a:solidFill>
              <a:srgbClr val="D5DCE5"/>
            </a:solidFill>
          </a:ln>
          <a:effectLst/>
        </p:spPr>
        <p:style>
          <a:lnRef idx="2">
            <a:schemeClr val="accent1"/>
          </a:lnRef>
          <a:fillRef idx="0">
            <a:schemeClr val="accent1"/>
          </a:fillRef>
          <a:effectRef idx="0">
            <a:schemeClr val="accent1"/>
          </a:effectRef>
          <a:fontRef idx="minor">
            <a:schemeClr val="tx1"/>
          </a:fontRef>
        </p:style>
      </p:cxnSp>
      <p:sp>
        <p:nvSpPr>
          <p:cNvPr id="7" name="0782 Text: FIRST AID COPILOT"/>
          <p:cNvSpPr txBox="1"/>
          <p:nvPr/>
        </p:nvSpPr>
        <p:spPr>
          <a:xfrm>
            <a:off x="457200" y="6556248"/>
            <a:ext cx="7315200" cy="1371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FIRST AID COPILOT</a:t>
            </a:r>
          </a:p>
        </p:txBody>
      </p:sp>
      <p:sp>
        <p:nvSpPr>
          <p:cNvPr id="8" name="0783 Text: The dispatcher leads. The Agent assists."/>
          <p:cNvSpPr txBox="1"/>
          <p:nvPr/>
        </p:nvSpPr>
        <p:spPr>
          <a:xfrm>
            <a:off x="8046720" y="6556248"/>
            <a:ext cx="3685032" cy="13716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8000"/>
              </a:lnSpc>
              <a:spcBef>
                <a:spcPts val="0"/>
              </a:spcBef>
              <a:spcAft>
                <a:spcPts val="0"/>
              </a:spcAft>
              <a:buClrTx/>
              <a:buSzTx/>
              <a:buFontTx/>
              <a:buNone/>
              <a:tabLst/>
              <a:defRPr/>
            </a:pPr>
            <a:r>
              <a:rPr kumimoji="0" lang="en-US" sz="730" b="0" i="0" u="none" strike="noStrike" kern="1200" cap="none" spc="0" normalizeH="0" baseline="0" noProof="0">
                <a:ln>
                  <a:noFill/>
                </a:ln>
                <a:solidFill>
                  <a:srgbClr val="657187"/>
                </a:solidFill>
                <a:effectLst/>
                <a:uLnTx/>
                <a:uFillTx/>
                <a:latin typeface="Arial"/>
                <a:ea typeface="+mn-ea"/>
                <a:cs typeface="+mn-cs"/>
              </a:rPr>
              <a:t>The dispatcher leads. The Agent assists.</a:t>
            </a:r>
          </a:p>
        </p:txBody>
      </p:sp>
      <p:sp>
        <p:nvSpPr>
          <p:cNvPr id="9" name="0784 Panel"/>
          <p:cNvSpPr/>
          <p:nvPr/>
        </p:nvSpPr>
        <p:spPr>
          <a:xfrm>
            <a:off x="457200" y="2093976"/>
            <a:ext cx="2679192" cy="1463040"/>
          </a:xfrm>
          <a:prstGeom prst="roundRect">
            <a:avLst>
              <a:gd name="adj" fmla="val 8125"/>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0785 Text: Reported event"/>
          <p:cNvSpPr txBox="1"/>
          <p:nvPr/>
        </p:nvSpPr>
        <p:spPr>
          <a:xfrm>
            <a:off x="640080" y="2404872"/>
            <a:ext cx="2313432" cy="40233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Reported event</a:t>
            </a:r>
          </a:p>
        </p:txBody>
      </p:sp>
      <p:sp>
        <p:nvSpPr>
          <p:cNvPr id="11" name="0786 Text: Who · what · when"/>
          <p:cNvSpPr txBox="1"/>
          <p:nvPr/>
        </p:nvSpPr>
        <p:spPr>
          <a:xfrm>
            <a:off x="640080" y="2990088"/>
            <a:ext cx="2313432"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657187"/>
                </a:solidFill>
                <a:effectLst/>
                <a:uLnTx/>
                <a:uFillTx/>
                <a:latin typeface="Arial"/>
                <a:ea typeface="+mn-ea"/>
                <a:cs typeface="+mn-cs"/>
              </a:rPr>
              <a:t>Who · what · when</a:t>
            </a:r>
          </a:p>
        </p:txBody>
      </p:sp>
      <p:cxnSp>
        <p:nvCxnSpPr>
          <p:cNvPr id="12" name="0787 Connector"/>
          <p:cNvCxnSpPr/>
          <p:nvPr/>
        </p:nvCxnSpPr>
        <p:spPr>
          <a:xfrm>
            <a:off x="3163824" y="2816352"/>
            <a:ext cx="128016" cy="0"/>
          </a:xfrm>
          <a:prstGeom prst="line">
            <a:avLst/>
          </a:prstGeom>
          <a:ln w="2159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3" name="0788 Panel"/>
          <p:cNvSpPr/>
          <p:nvPr/>
        </p:nvSpPr>
        <p:spPr>
          <a:xfrm>
            <a:off x="3328416" y="2093976"/>
            <a:ext cx="2679192" cy="1463040"/>
          </a:xfrm>
          <a:prstGeom prst="roundRect">
            <a:avLst>
              <a:gd name="adj" fmla="val 8125"/>
            </a:avLst>
          </a:prstGeom>
          <a:solidFill>
            <a:srgbClr val="172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0789 Text: Atomic write"/>
          <p:cNvSpPr txBox="1"/>
          <p:nvPr/>
        </p:nvSpPr>
        <p:spPr>
          <a:xfrm>
            <a:off x="3511296" y="2404872"/>
            <a:ext cx="2313432" cy="40233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FFFFFF"/>
                </a:solidFill>
                <a:effectLst/>
                <a:uLnTx/>
                <a:uFillTx/>
                <a:latin typeface="Arial"/>
                <a:ea typeface="+mn-ea"/>
                <a:cs typeface="+mn-cs"/>
              </a:rPr>
              <a:t>Atomic write</a:t>
            </a:r>
          </a:p>
        </p:txBody>
      </p:sp>
      <p:sp>
        <p:nvSpPr>
          <p:cNvPr id="15" name="0790 Text: Event + snapshot"/>
          <p:cNvSpPr txBox="1"/>
          <p:nvPr/>
        </p:nvSpPr>
        <p:spPr>
          <a:xfrm>
            <a:off x="3511296" y="2990088"/>
            <a:ext cx="2313432"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D5E2EE"/>
                </a:solidFill>
                <a:effectLst/>
                <a:uLnTx/>
                <a:uFillTx/>
                <a:latin typeface="Arial"/>
                <a:ea typeface="+mn-ea"/>
                <a:cs typeface="+mn-cs"/>
              </a:rPr>
              <a:t>Event + snapshot</a:t>
            </a:r>
          </a:p>
        </p:txBody>
      </p:sp>
      <p:cxnSp>
        <p:nvCxnSpPr>
          <p:cNvPr id="16" name="0791 Connector"/>
          <p:cNvCxnSpPr/>
          <p:nvPr/>
        </p:nvCxnSpPr>
        <p:spPr>
          <a:xfrm>
            <a:off x="6035040" y="2816352"/>
            <a:ext cx="128016" cy="0"/>
          </a:xfrm>
          <a:prstGeom prst="line">
            <a:avLst/>
          </a:prstGeom>
          <a:ln w="2159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0792 Panel"/>
          <p:cNvSpPr/>
          <p:nvPr/>
        </p:nvSpPr>
        <p:spPr>
          <a:xfrm>
            <a:off x="6199632" y="2093976"/>
            <a:ext cx="2679192" cy="1463040"/>
          </a:xfrm>
          <a:prstGeom prst="roundRect">
            <a:avLst>
              <a:gd name="adj" fmla="val 8125"/>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0793 Text: Shared snapshot"/>
          <p:cNvSpPr txBox="1"/>
          <p:nvPr/>
        </p:nvSpPr>
        <p:spPr>
          <a:xfrm>
            <a:off x="6382512" y="2404872"/>
            <a:ext cx="2313432" cy="40233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Shared snapshot</a:t>
            </a:r>
          </a:p>
        </p:txBody>
      </p:sp>
      <p:sp>
        <p:nvSpPr>
          <p:cNvPr id="19" name="0794 Text: One version of the facts"/>
          <p:cNvSpPr txBox="1"/>
          <p:nvPr/>
        </p:nvSpPr>
        <p:spPr>
          <a:xfrm>
            <a:off x="6382512" y="2990088"/>
            <a:ext cx="2313432"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657187"/>
                </a:solidFill>
                <a:effectLst/>
                <a:uLnTx/>
                <a:uFillTx/>
                <a:latin typeface="Arial"/>
                <a:ea typeface="+mn-ea"/>
                <a:cs typeface="+mn-cs"/>
              </a:rPr>
              <a:t>One version of the facts</a:t>
            </a:r>
          </a:p>
        </p:txBody>
      </p:sp>
      <p:cxnSp>
        <p:nvCxnSpPr>
          <p:cNvPr id="20" name="0795 Connector"/>
          <p:cNvCxnSpPr/>
          <p:nvPr/>
        </p:nvCxnSpPr>
        <p:spPr>
          <a:xfrm>
            <a:off x="8906256" y="2816352"/>
            <a:ext cx="128016" cy="0"/>
          </a:xfrm>
          <a:prstGeom prst="line">
            <a:avLst/>
          </a:prstGeom>
          <a:ln w="21590">
            <a:solidFill>
              <a:srgbClr val="155EE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0796 Panel"/>
          <p:cNvSpPr/>
          <p:nvPr/>
        </p:nvSpPr>
        <p:spPr>
          <a:xfrm>
            <a:off x="9070848" y="2093976"/>
            <a:ext cx="2679192" cy="1463040"/>
          </a:xfrm>
          <a:prstGeom prst="roundRect">
            <a:avLst>
              <a:gd name="adj" fmla="val 8125"/>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0797 Text: Handoff view"/>
          <p:cNvSpPr txBox="1"/>
          <p:nvPr/>
        </p:nvSpPr>
        <p:spPr>
          <a:xfrm>
            <a:off x="9253728" y="2404872"/>
            <a:ext cx="2313432" cy="40233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50" b="1" i="0" u="none" strike="noStrike" kern="1200" cap="none" spc="0" normalizeH="0" baseline="0" noProof="0">
                <a:ln>
                  <a:noFill/>
                </a:ln>
                <a:solidFill>
                  <a:srgbClr val="1E2D3D"/>
                </a:solidFill>
                <a:effectLst/>
                <a:uLnTx/>
                <a:uFillTx/>
                <a:latin typeface="Arial"/>
                <a:ea typeface="+mn-ea"/>
                <a:cs typeface="+mn-cs"/>
              </a:rPr>
              <a:t>Handoff view</a:t>
            </a:r>
          </a:p>
        </p:txBody>
      </p:sp>
      <p:sp>
        <p:nvSpPr>
          <p:cNvPr id="23" name="0798 Text: MIST + timeline"/>
          <p:cNvSpPr txBox="1"/>
          <p:nvPr/>
        </p:nvSpPr>
        <p:spPr>
          <a:xfrm>
            <a:off x="9253728" y="2990088"/>
            <a:ext cx="2313432" cy="28346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340" b="0" i="0" u="none" strike="noStrike" kern="1200" cap="none" spc="0" normalizeH="0" baseline="0" noProof="0">
                <a:ln>
                  <a:noFill/>
                </a:ln>
                <a:solidFill>
                  <a:srgbClr val="657187"/>
                </a:solidFill>
                <a:effectLst/>
                <a:uLnTx/>
                <a:uFillTx/>
                <a:latin typeface="Arial"/>
                <a:ea typeface="+mn-ea"/>
                <a:cs typeface="+mn-cs"/>
              </a:rPr>
              <a:t>MIST + timeline</a:t>
            </a:r>
          </a:p>
        </p:txBody>
      </p:sp>
      <p:sp>
        <p:nvSpPr>
          <p:cNvPr id="24" name="0799 Panel"/>
          <p:cNvSpPr/>
          <p:nvPr/>
        </p:nvSpPr>
        <p:spPr>
          <a:xfrm>
            <a:off x="457200" y="4041648"/>
            <a:ext cx="3621024" cy="1664208"/>
          </a:xfrm>
          <a:prstGeom prst="roundRect">
            <a:avLst>
              <a:gd name="adj" fmla="val 7142"/>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5" name="0800 Connector"/>
          <p:cNvCxnSpPr/>
          <p:nvPr/>
        </p:nvCxnSpPr>
        <p:spPr>
          <a:xfrm flipV="1">
            <a:off x="694944" y="4290364"/>
            <a:ext cx="80467" cy="84125"/>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6" name="0801 Connector"/>
          <p:cNvCxnSpPr/>
          <p:nvPr/>
        </p:nvCxnSpPr>
        <p:spPr>
          <a:xfrm>
            <a:off x="775411" y="4290364"/>
            <a:ext cx="120701"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7" name="0802 Connector"/>
          <p:cNvCxnSpPr/>
          <p:nvPr/>
        </p:nvCxnSpPr>
        <p:spPr>
          <a:xfrm>
            <a:off x="896112" y="4290364"/>
            <a:ext cx="62179" cy="7315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8" name="0803 Connector"/>
          <p:cNvCxnSpPr/>
          <p:nvPr/>
        </p:nvCxnSpPr>
        <p:spPr>
          <a:xfrm flipV="1">
            <a:off x="694944" y="4279392"/>
            <a:ext cx="0" cy="9509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29" name="0804 Connector"/>
          <p:cNvCxnSpPr/>
          <p:nvPr/>
        </p:nvCxnSpPr>
        <p:spPr>
          <a:xfrm>
            <a:off x="694944" y="4374489"/>
            <a:ext cx="9144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0" name="0805 Connector"/>
          <p:cNvCxnSpPr/>
          <p:nvPr/>
        </p:nvCxnSpPr>
        <p:spPr>
          <a:xfrm flipH="1">
            <a:off x="874166" y="4476902"/>
            <a:ext cx="76810" cy="87782"/>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1" name="0806 Connector"/>
          <p:cNvCxnSpPr/>
          <p:nvPr/>
        </p:nvCxnSpPr>
        <p:spPr>
          <a:xfrm flipH="1">
            <a:off x="749808" y="4564684"/>
            <a:ext cx="124358"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2" name="0807 Connector"/>
          <p:cNvCxnSpPr/>
          <p:nvPr/>
        </p:nvCxnSpPr>
        <p:spPr>
          <a:xfrm flipH="1" flipV="1">
            <a:off x="687628" y="4487875"/>
            <a:ext cx="62180" cy="7680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3" name="0808 Connector"/>
          <p:cNvCxnSpPr/>
          <p:nvPr/>
        </p:nvCxnSpPr>
        <p:spPr>
          <a:xfrm>
            <a:off x="950976" y="4476902"/>
            <a:ext cx="0" cy="9509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4" name="0809 Connector"/>
          <p:cNvCxnSpPr/>
          <p:nvPr/>
        </p:nvCxnSpPr>
        <p:spPr>
          <a:xfrm flipH="1">
            <a:off x="859536" y="4476902"/>
            <a:ext cx="91440" cy="0"/>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35" name="0810 Text: Safe retries"/>
          <p:cNvSpPr txBox="1"/>
          <p:nvPr/>
        </p:nvSpPr>
        <p:spPr>
          <a:xfrm>
            <a:off x="1261872" y="4315968"/>
            <a:ext cx="2560320" cy="320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60" b="1" i="0" u="none" strike="noStrike" kern="1200" cap="none" spc="0" normalizeH="0" baseline="0" noProof="0">
                <a:ln>
                  <a:noFill/>
                </a:ln>
                <a:solidFill>
                  <a:srgbClr val="155EEF"/>
                </a:solidFill>
                <a:effectLst/>
                <a:uLnTx/>
                <a:uFillTx/>
                <a:latin typeface="Arial"/>
                <a:ea typeface="+mn-ea"/>
                <a:cs typeface="+mn-cs"/>
              </a:rPr>
              <a:t>Safe retries</a:t>
            </a:r>
          </a:p>
        </p:txBody>
      </p:sp>
      <p:sp>
        <p:nvSpPr>
          <p:cNvPr id="36" name="0811 Text: Stable event IDs.&#10;Stale revisions return conflic"/>
          <p:cNvSpPr txBox="1"/>
          <p:nvPr/>
        </p:nvSpPr>
        <p:spPr>
          <a:xfrm>
            <a:off x="658368" y="4928616"/>
            <a:ext cx="3218688" cy="58521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40" b="0" i="0" u="none" strike="noStrike" kern="1200" cap="none" spc="0" normalizeH="0" baseline="0" noProof="0">
                <a:ln>
                  <a:noFill/>
                </a:ln>
                <a:solidFill>
                  <a:srgbClr val="657187"/>
                </a:solidFill>
                <a:effectLst/>
                <a:uLnTx/>
                <a:uFillTx/>
                <a:latin typeface="Arial"/>
                <a:ea typeface="+mn-ea"/>
                <a:cs typeface="+mn-cs"/>
              </a:rPr>
              <a:t>Stable event IDs.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40" b="0" i="0" u="none" strike="noStrike" kern="1200" cap="none" spc="0" normalizeH="0" baseline="0" noProof="0">
                <a:ln>
                  <a:noFill/>
                </a:ln>
                <a:solidFill>
                  <a:srgbClr val="657187"/>
                </a:solidFill>
                <a:effectLst/>
                <a:uLnTx/>
                <a:uFillTx/>
                <a:latin typeface="Arial"/>
                <a:ea typeface="+mn-ea"/>
                <a:cs typeface="+mn-cs"/>
              </a:rPr>
              <a:t>Stale revisions return conflicts.</a:t>
            </a:r>
          </a:p>
        </p:txBody>
      </p:sp>
      <p:sp>
        <p:nvSpPr>
          <p:cNvPr id="37" name="0812 Panel"/>
          <p:cNvSpPr/>
          <p:nvPr/>
        </p:nvSpPr>
        <p:spPr>
          <a:xfrm>
            <a:off x="4288536" y="4041648"/>
            <a:ext cx="3621024" cy="1664208"/>
          </a:xfrm>
          <a:prstGeom prst="roundRect">
            <a:avLst>
              <a:gd name="adj" fmla="val 7142"/>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 name="0813 Connector"/>
          <p:cNvCxnSpPr/>
          <p:nvPr/>
        </p:nvCxnSpPr>
        <p:spPr>
          <a:xfrm flipH="1">
            <a:off x="4497019" y="4312310"/>
            <a:ext cx="98755" cy="10972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39" name="0814 Connector"/>
          <p:cNvCxnSpPr/>
          <p:nvPr/>
        </p:nvCxnSpPr>
        <p:spPr>
          <a:xfrm>
            <a:off x="4497019" y="4422038"/>
            <a:ext cx="98755" cy="11704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0" name="0815 Connector"/>
          <p:cNvCxnSpPr/>
          <p:nvPr/>
        </p:nvCxnSpPr>
        <p:spPr>
          <a:xfrm>
            <a:off x="4712817" y="4312310"/>
            <a:ext cx="98755" cy="109728"/>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1" name="0816 Connector"/>
          <p:cNvCxnSpPr/>
          <p:nvPr/>
        </p:nvCxnSpPr>
        <p:spPr>
          <a:xfrm flipH="1">
            <a:off x="4712817" y="4422038"/>
            <a:ext cx="98755" cy="11704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2" name="0817 Connector"/>
          <p:cNvCxnSpPr/>
          <p:nvPr/>
        </p:nvCxnSpPr>
        <p:spPr>
          <a:xfrm flipH="1">
            <a:off x="4621377" y="4290364"/>
            <a:ext cx="65837" cy="27066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43" name="0818 Text: Versioned rules"/>
          <p:cNvSpPr txBox="1"/>
          <p:nvPr/>
        </p:nvSpPr>
        <p:spPr>
          <a:xfrm>
            <a:off x="5093208" y="4315968"/>
            <a:ext cx="2560320" cy="320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60" b="1" i="0" u="none" strike="noStrike" kern="1200" cap="none" spc="0" normalizeH="0" baseline="0" noProof="0">
                <a:ln>
                  <a:noFill/>
                </a:ln>
                <a:solidFill>
                  <a:srgbClr val="155EEF"/>
                </a:solidFill>
                <a:effectLst/>
                <a:uLnTx/>
                <a:uFillTx/>
                <a:latin typeface="Arial"/>
                <a:ea typeface="+mn-ea"/>
                <a:cs typeface="+mn-cs"/>
              </a:rPr>
              <a:t>Versioned rules</a:t>
            </a:r>
          </a:p>
        </p:txBody>
      </p:sp>
      <p:sp>
        <p:nvSpPr>
          <p:cNvPr id="44" name="0819 Text: Python and TypeScript fixtures.&#10;Unknown is not f"/>
          <p:cNvSpPr txBox="1"/>
          <p:nvPr/>
        </p:nvSpPr>
        <p:spPr>
          <a:xfrm>
            <a:off x="4489704" y="4928616"/>
            <a:ext cx="3218688" cy="58521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40" b="0" i="0" u="none" strike="noStrike" kern="1200" cap="none" spc="0" normalizeH="0" baseline="0" noProof="0">
                <a:ln>
                  <a:noFill/>
                </a:ln>
                <a:solidFill>
                  <a:srgbClr val="657187"/>
                </a:solidFill>
                <a:effectLst/>
                <a:uLnTx/>
                <a:uFillTx/>
                <a:latin typeface="Arial"/>
                <a:ea typeface="+mn-ea"/>
                <a:cs typeface="+mn-cs"/>
              </a:rPr>
              <a:t>Python and TypeScript fixtures.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40" b="0" i="0" u="none" strike="noStrike" kern="1200" cap="none" spc="0" normalizeH="0" baseline="0" noProof="0">
                <a:ln>
                  <a:noFill/>
                </a:ln>
                <a:solidFill>
                  <a:srgbClr val="657187"/>
                </a:solidFill>
                <a:effectLst/>
                <a:uLnTx/>
                <a:uFillTx/>
                <a:latin typeface="Arial"/>
                <a:ea typeface="+mn-ea"/>
                <a:cs typeface="+mn-cs"/>
              </a:rPr>
              <a:t>Unknown is not false.</a:t>
            </a:r>
          </a:p>
        </p:txBody>
      </p:sp>
      <p:sp>
        <p:nvSpPr>
          <p:cNvPr id="45" name="0820 Panel"/>
          <p:cNvSpPr/>
          <p:nvPr/>
        </p:nvSpPr>
        <p:spPr>
          <a:xfrm>
            <a:off x="8119872" y="4041648"/>
            <a:ext cx="3621024" cy="1664208"/>
          </a:xfrm>
          <a:prstGeom prst="roundRect">
            <a:avLst>
              <a:gd name="adj" fmla="val 7142"/>
            </a:avLst>
          </a:prstGeom>
          <a:solidFill>
            <a:srgbClr val="FFFFFF"/>
          </a:solidFill>
          <a:ln w="12700">
            <a:solidFill>
              <a:srgbClr val="D5DC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46" name="0821 Connector"/>
          <p:cNvCxnSpPr/>
          <p:nvPr/>
        </p:nvCxnSpPr>
        <p:spPr>
          <a:xfrm>
            <a:off x="8485632" y="4253788"/>
            <a:ext cx="138988" cy="5486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7" name="0822 Connector"/>
          <p:cNvCxnSpPr/>
          <p:nvPr/>
        </p:nvCxnSpPr>
        <p:spPr>
          <a:xfrm flipH="1">
            <a:off x="8606332" y="4308652"/>
            <a:ext cx="18288" cy="17190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8" name="0823 Connector"/>
          <p:cNvCxnSpPr/>
          <p:nvPr/>
        </p:nvCxnSpPr>
        <p:spPr>
          <a:xfrm flipH="1">
            <a:off x="8485632" y="4480559"/>
            <a:ext cx="120700" cy="12070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49" name="0824 Connector"/>
          <p:cNvCxnSpPr/>
          <p:nvPr/>
        </p:nvCxnSpPr>
        <p:spPr>
          <a:xfrm flipH="1" flipV="1">
            <a:off x="8364931" y="4480559"/>
            <a:ext cx="120701" cy="120701"/>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0" name="0825 Connector"/>
          <p:cNvCxnSpPr/>
          <p:nvPr/>
        </p:nvCxnSpPr>
        <p:spPr>
          <a:xfrm flipH="1" flipV="1">
            <a:off x="8346643" y="4308652"/>
            <a:ext cx="18288" cy="171907"/>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1" name="0826 Connector"/>
          <p:cNvCxnSpPr/>
          <p:nvPr/>
        </p:nvCxnSpPr>
        <p:spPr>
          <a:xfrm flipV="1">
            <a:off x="8346643" y="4253788"/>
            <a:ext cx="138989" cy="54864"/>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2" name="0827 Connector"/>
          <p:cNvCxnSpPr/>
          <p:nvPr/>
        </p:nvCxnSpPr>
        <p:spPr>
          <a:xfrm>
            <a:off x="8408822" y="4422038"/>
            <a:ext cx="58522" cy="62179"/>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cxnSp>
        <p:nvCxnSpPr>
          <p:cNvPr id="53" name="0828 Connector"/>
          <p:cNvCxnSpPr/>
          <p:nvPr/>
        </p:nvCxnSpPr>
        <p:spPr>
          <a:xfrm flipV="1">
            <a:off x="8467344" y="4367174"/>
            <a:ext cx="106070" cy="117043"/>
          </a:xfrm>
          <a:prstGeom prst="line">
            <a:avLst/>
          </a:prstGeom>
          <a:ln w="21590">
            <a:solidFill>
              <a:srgbClr val="155EEF"/>
            </a:solidFill>
          </a:ln>
          <a:effectLst/>
        </p:spPr>
        <p:style>
          <a:lnRef idx="2">
            <a:schemeClr val="accent1"/>
          </a:lnRef>
          <a:fillRef idx="0">
            <a:schemeClr val="accent1"/>
          </a:fillRef>
          <a:effectRef idx="0">
            <a:schemeClr val="accent1"/>
          </a:effectRef>
          <a:fontRef idx="minor">
            <a:schemeClr val="tx1"/>
          </a:fontRef>
        </p:style>
      </p:cxnSp>
      <p:sp>
        <p:nvSpPr>
          <p:cNvPr id="54" name="0829 Text: Controlled access"/>
          <p:cNvSpPr txBox="1"/>
          <p:nvPr/>
        </p:nvSpPr>
        <p:spPr>
          <a:xfrm>
            <a:off x="8924544" y="4315968"/>
            <a:ext cx="2560320" cy="3200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860" b="1" i="0" u="none" strike="noStrike" kern="1200" cap="none" spc="0" normalizeH="0" baseline="0" noProof="0">
                <a:ln>
                  <a:noFill/>
                </a:ln>
                <a:solidFill>
                  <a:srgbClr val="155EEF"/>
                </a:solidFill>
                <a:effectLst/>
                <a:uLnTx/>
                <a:uFillTx/>
                <a:latin typeface="Arial"/>
                <a:ea typeface="+mn-ea"/>
                <a:cs typeface="+mn-cs"/>
              </a:rPr>
              <a:t>Controlled access</a:t>
            </a:r>
          </a:p>
        </p:txBody>
      </p:sp>
      <p:sp>
        <p:nvSpPr>
          <p:cNvPr id="55" name="0830 Text: Role-scoped reads and writes.&#10;Expiry, revocation"/>
          <p:cNvSpPr txBox="1"/>
          <p:nvPr/>
        </p:nvSpPr>
        <p:spPr>
          <a:xfrm>
            <a:off x="8321040" y="4928616"/>
            <a:ext cx="3218688" cy="58521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40" b="0" i="0" u="none" strike="noStrike" kern="1200" cap="none" spc="0" normalizeH="0" baseline="0" noProof="0">
                <a:ln>
                  <a:noFill/>
                </a:ln>
                <a:solidFill>
                  <a:srgbClr val="657187"/>
                </a:solidFill>
                <a:effectLst/>
                <a:uLnTx/>
                <a:uFillTx/>
                <a:latin typeface="Arial"/>
                <a:ea typeface="+mn-ea"/>
                <a:cs typeface="+mn-cs"/>
              </a:rPr>
              <a:t>Role-scoped reads and writes.</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lang="en-US" sz="1440" b="0" i="0" u="none" strike="noStrike" kern="1200" cap="none" spc="0" normalizeH="0" baseline="0" noProof="0">
                <a:ln>
                  <a:noFill/>
                </a:ln>
                <a:solidFill>
                  <a:srgbClr val="657187"/>
                </a:solidFill>
                <a:effectLst/>
                <a:uLnTx/>
                <a:uFillTx/>
                <a:latin typeface="Arial"/>
                <a:ea typeface="+mn-ea"/>
                <a:cs typeface="+mn-cs"/>
              </a:rPr>
              <a:t>Expiry, revocation, and cleanup.</a:t>
            </a:r>
          </a:p>
        </p:txBody>
      </p:sp>
      <p:sp>
        <p:nvSpPr>
          <p:cNvPr id="56" name="0831 Text: Corrections keep the original record. A failed t"/>
          <p:cNvSpPr txBox="1"/>
          <p:nvPr/>
        </p:nvSpPr>
        <p:spPr>
          <a:xfrm>
            <a:off x="594360" y="6035040"/>
            <a:ext cx="10954512" cy="32918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10" b="0" i="0" u="none" strike="noStrike" kern="1200" cap="none" spc="0" normalizeH="0" baseline="0" noProof="0">
                <a:ln>
                  <a:noFill/>
                </a:ln>
                <a:solidFill>
                  <a:srgbClr val="657187"/>
                </a:solidFill>
                <a:effectLst/>
                <a:uLnTx/>
                <a:uFillTx/>
                <a:latin typeface="Arial"/>
                <a:ea typeface="+mn-ea"/>
                <a:cs typeface="+mn-cs"/>
              </a:rPr>
              <a:t>Corrections keep the original record. A failed transaction commits neither event nor snapshot.</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B674949-82D5-F943-BFD4-8FD71FB72925}">
  <we:reference id="WA200010215" version="2.0.0.0" store="Omex" storeType="OMEX"/>
  <we:alternateReferences>
    <we:reference id="WA200010215" version="2.0.0.0" store="WA200010215" storeType="OMEX"/>
  </we:alternateReferences>
  <we:properties>
    <we:property name="bps.codex_control.document_id" value="&quot;00bfb339-7f45-4a26-a2ae-ffae65b52625&quot;"/>
  </we:properties>
  <we:bindings/>
  <we:snapshot xmlns:r="http://schemas.openxmlformats.org/officeDocument/2006/relationships"/>
</we:webextension>
</file>

<file path=ppt/webextensions/webextension2.xml><?xml version="1.0" encoding="utf-8"?>
<we:webextension xmlns:we="http://schemas.microsoft.com/office/webextensions/webextension/2010/11" id="{1F9B0ADB-3A9E-4B1B-818F-4CDF19A40026}">
  <we:reference id="WA200010001" version="1.0.0.1" store="Omex" storeType="OMEX"/>
  <we:alternateReferences>
    <we:reference id="WA200010001" version="1.0.0.1" store="WA200010001" storeType="OMEX"/>
  </we:alternateReferences>
  <we:properties>
    <we:property name="claude.fileId" value="&quot;ce0c19d5-b4e0-488d-aa1f-028793c4bbe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件" ma:contentTypeID="0x01010066C67B84E32DB04DBCA83EAE46E32309" ma:contentTypeVersion="5" ma:contentTypeDescription="建立新的文件。" ma:contentTypeScope="" ma:versionID="d5d99332ece60eaa5efa1130a168ceb6">
  <xsd:schema xmlns:xsd="http://www.w3.org/2001/XMLSchema" xmlns:xs="http://www.w3.org/2001/XMLSchema" xmlns:p="http://schemas.microsoft.com/office/2006/metadata/properties" xmlns:ns3="e15b2dfd-0d3c-4e0a-8c64-f9edb2177601" targetNamespace="http://schemas.microsoft.com/office/2006/metadata/properties" ma:root="true" ma:fieldsID="d98606c97097308c59f20cdf3fc24b2b" ns3:_="">
    <xsd:import namespace="e15b2dfd-0d3c-4e0a-8c64-f9edb217760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b2dfd-0d3c-4e0a-8c64-f9edb217760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15b2dfd-0d3c-4e0a-8c64-f9edb2177601" xsi:nil="true"/>
  </documentManagement>
</p:properties>
</file>

<file path=customXml/itemProps1.xml><?xml version="1.0" encoding="utf-8"?>
<ds:datastoreItem xmlns:ds="http://schemas.openxmlformats.org/officeDocument/2006/customXml" ds:itemID="{8AF3B7E4-84A8-4520-BF4D-E5686DFB2E4A}">
  <ds:schemaRefs>
    <ds:schemaRef ds:uri="http://schemas.microsoft.com/sharepoint/v3/contenttype/forms"/>
  </ds:schemaRefs>
</ds:datastoreItem>
</file>

<file path=customXml/itemProps2.xml><?xml version="1.0" encoding="utf-8"?>
<ds:datastoreItem xmlns:ds="http://schemas.openxmlformats.org/officeDocument/2006/customXml" ds:itemID="{084F9D8E-7D69-4BA8-8D16-20C320D6AD51}">
  <ds:schemaRefs>
    <ds:schemaRef ds:uri="e15b2dfd-0d3c-4e0a-8c64-f9edb21776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F6843A2-F1BB-40A4-852E-8699B8E222BB}">
  <ds:schemaRefs>
    <ds:schemaRef ds:uri="http://schemas.microsoft.com/office/2006/documentManagement/types"/>
    <ds:schemaRef ds:uri="http://purl.org/dc/terms/"/>
    <ds:schemaRef ds:uri="http://schemas.microsoft.com/office/infopath/2007/PartnerControls"/>
    <ds:schemaRef ds:uri="http://purl.org/dc/dcmitype/"/>
    <ds:schemaRef ds:uri="http://schemas.microsoft.com/office/2006/metadata/properties"/>
    <ds:schemaRef ds:uri="http://purl.org/dc/elements/1.1/"/>
    <ds:schemaRef ds:uri="http://schemas.openxmlformats.org/package/2006/metadata/core-properties"/>
    <ds:schemaRef ds:uri="e15b2dfd-0d3c-4e0a-8c64-f9edb217760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4022</Words>
  <Application>Microsoft Macintosh PowerPoint</Application>
  <PresentationFormat>寬螢幕</PresentationFormat>
  <Paragraphs>480</Paragraphs>
  <Slides>16</Slides>
  <Notes>16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新細明體</vt:lpstr>
      <vt:lpstr>游ゴシック</vt:lpstr>
      <vt:lpstr>Arial</vt:lpstr>
      <vt:lpstr>Calibri</vt:lpstr>
      <vt:lpstr>Consolas</vt:lpstr>
      <vt:lpstr>1_Office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梅竹黑客松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Aid Copilot — English Slides with Bilingual Speaker Notes</dc:title>
  <dc:subject>Google AI Agents hackathon pitch</dc:subject>
  <dc:creator>First Aid Copilot Team</dc:creator>
  <cp:lastModifiedBy>黃學霖 HUANG,HSUEH-LIN</cp:lastModifiedBy>
  <cp:revision>1</cp:revision>
  <dcterms:created xsi:type="dcterms:W3CDTF">2026-09-19T12:02:55Z</dcterms:created>
  <dcterms:modified xsi:type="dcterms:W3CDTF">2026-09-20T06:17:47Z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0x01010066C67B84E32DB04DBCA83EAE46E32309</vt:lpwstr>
  </property>
</Properties>
</file>